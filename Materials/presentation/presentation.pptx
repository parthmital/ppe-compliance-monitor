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D21"/>
                </a:solidFill>
                <a:latin typeface="+mn-lt"/>
              </a:defRPr>
            </a:pPr>
            <a:r>
              <a:rPr sz="1300" b="0" i="0" u="none" strike="noStrike">
                <a:solidFill>
                  <a:srgbClr val="1B1D21"/>
                </a:solidFill>
                <a:latin typeface="+mn-lt"/>
              </a:rPr>
              <a:t>Annotated boxes per class, all splits</a:t>
            </a:r>
          </a:p>
        </c:rich>
      </c:tx>
      <c:layout/>
      <c:overlay val="0"/>
    </c:title>
    <c:autoTitleDeleted val="0"/>
    <c:plotArea>
      <c:layout/>
      <c:barChart>
        <c:barDir val="bar"/>
        <c:grouping val="clustered"/>
        <c:varyColors val="0"/>
        <c:ser>
          <c:idx val="0"/>
          <c:order val="0"/>
          <c:tx>
            <c:strRef>
              <c:f>Sheet1!$B$1</c:f>
              <c:strCache>
                <c:ptCount val="1"/>
                <c:pt idx="0">
                  <c:v>Boxes</c:v>
                </c:pt>
              </c:strCache>
            </c:strRef>
          </c:tx>
          <c:spPr>
            <a:solidFill>
              <a:srgbClr val="5B6573"/>
            </a:solidFill>
            <a:effectLst/>
          </c:spPr>
          <c:invertIfNegative val="0"/>
          <c:dLbls>
            <c:numFmt formatCode="#,##0" sourceLinked="0"/>
            <c:txPr>
              <a:bodyPr/>
              <a:lstStyle/>
              <a:p>
                <a:pPr>
                  <a:defRPr b="0" i="0" strike="noStrike" sz="1000" u="none">
                    <a:solidFill>
                      <a:srgbClr val="1B1D21"/>
                    </a:solidFill>
                    <a:latin typeface="+mn-lt"/>
                  </a:defRPr>
                </a:pPr>
              </a:p>
            </c:txPr>
            <c:showLegendKey val="0"/>
            <c:showVal val="1"/>
            <c:showCatName val="0"/>
            <c:showSerName val="0"/>
            <c:showPercent val="0"/>
            <c:showBubbleSize val="0"/>
            <c:showLeaderLines val="0"/>
          </c:dLbls>
          <c:cat>
            <c:multiLvlStrRef>
              <c:f>Sheet1!$A$2:$A$11</c:f>
              <c:multiLvlStrCache>
                <c:ptCount val="10"/>
                <c:lvl>
                  <c:pt idx="0">
                    <c:v>Person</c:v>
                  </c:pt>
                  <c:pt idx="1">
                    <c:v>machinery</c:v>
                  </c:pt>
                  <c:pt idx="2">
                    <c:v>NO-Safety Vest</c:v>
                  </c:pt>
                  <c:pt idx="3">
                    <c:v>Safety Cone</c:v>
                  </c:pt>
                  <c:pt idx="4">
                    <c:v>Hardhat</c:v>
                  </c:pt>
                  <c:pt idx="5">
                    <c:v>NO-Mask</c:v>
                  </c:pt>
                  <c:pt idx="6">
                    <c:v>Safety Vest</c:v>
                  </c:pt>
                  <c:pt idx="7">
                    <c:v>NO-Hardhat</c:v>
                  </c:pt>
                  <c:pt idx="8">
                    <c:v>Mask</c:v>
                  </c:pt>
                  <c:pt idx="9">
                    <c:v>vehicle</c:v>
                  </c:pt>
                </c:lvl>
              </c:multiLvlStrCache>
            </c:multiLvlStrRef>
          </c:cat>
          <c:val>
            <c:numRef>
              <c:f>Sheet1!$B$2:$B$11</c:f>
              <c:numCache>
                <c:formatCode>General</c:formatCode>
                <c:ptCount val="10"/>
                <c:pt idx="0">
                  <c:v>9872</c:v>
                </c:pt>
                <c:pt idx="1">
                  <c:v>5346</c:v>
                </c:pt>
                <c:pt idx="2">
                  <c:v>4158</c:v>
                </c:pt>
                <c:pt idx="3">
                  <c:v>3502</c:v>
                </c:pt>
                <c:pt idx="4">
                  <c:v>3334</c:v>
                </c:pt>
                <c:pt idx="5">
                  <c:v>3250</c:v>
                </c:pt>
                <c:pt idx="6">
                  <c:v>3135</c:v>
                </c:pt>
                <c:pt idx="7">
                  <c:v>2427</c:v>
                </c:pt>
                <c:pt idx="8">
                  <c:v>1700</c:v>
                </c:pt>
                <c:pt idx="9">
                  <c:v>1628</c:v>
                </c:pt>
              </c:numCache>
            </c:numRef>
          </c:val>
        </c:ser>
        <c:dLbls>
          <c:numFmt formatCode="#,##0" sourceLinked="0"/>
          <c:txPr>
            <a:bodyPr/>
            <a:lstStyle/>
            <a:p>
              <a:pPr>
                <a:defRPr b="0" i="0" strike="noStrike" sz="1000" u="none">
                  <a:solidFill>
                    <a:srgbClr val="1B1D21"/>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D5D8DD"/>
            </a:solidFill>
            <a:prstDash val="solid"/>
            <a:round/>
          </a:ln>
        </c:spPr>
        <c:txPr>
          <a:bodyPr/>
          <a:lstStyle/>
          <a:p>
            <a:pPr>
              <a:defRPr sz="1200" b="0" i="0" u="none" strike="noStrike">
                <a:solidFill>
                  <a:srgbClr val="1B1D21"/>
                </a:solidFill>
                <a:latin typeface="+mn-lt"/>
              </a:defRPr>
            </a:pPr>
            <a:endParaRPr lang="en-US"/>
          </a:p>
        </c:txPr>
        <c:crossAx val="2094734552"/>
        <c:crosses val="autoZero"/>
        <c:auto val="1"/>
        <c:lblAlgn val="ctr"/>
        <c:noMultiLvlLbl val="1"/>
      </c:catAx>
      <c:valAx>
        <c:axId val="2094734552"/>
        <c:scaling>
          <c:orientation val="minMax"/>
        </c:scaling>
        <c:delete val="1"/>
        <c:axPos val="b"/>
        <c:majorGridlines>
          <c:spPr>
            <a:ln w="9525" cap="flat">
              <a:solidFill>
                <a:srgbClr val="E3E5E8"/>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100" b="0" i="0" u="none" strike="noStrike">
                <a:solidFill>
                  <a:srgbClr val="5B657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D21"/>
                </a:solidFill>
                <a:latin typeface="+mn-lt"/>
              </a:defRPr>
            </a:pPr>
            <a:r>
              <a:rPr sz="1300" b="0" i="0" u="none" strike="noStrike">
                <a:solidFill>
                  <a:srgbClr val="1B1D21"/>
                </a:solidFill>
                <a:latin typeface="+mn-lt"/>
              </a:rPr>
              <a:t>Validation metrics per epoch</a:t>
            </a:r>
          </a:p>
        </c:rich>
      </c:tx>
      <c:layout/>
      <c:overlay val="0"/>
    </c:title>
    <c:autoTitleDeleted val="0"/>
    <c:plotArea>
      <c:layout/>
      <c:lineChart>
        <c:varyColors val="0"/>
        <c:ser>
          <c:idx val="0"/>
          <c:order val="0"/>
          <c:tx>
            <c:strRef>
              <c:f>Sheet1!$B$1</c:f>
              <c:strCache>
                <c:ptCount val="1"/>
                <c:pt idx="0">
                  <c:v>mAP@0.5</c:v>
                </c:pt>
              </c:strCache>
            </c:strRef>
          </c:tx>
          <c:spPr>
            <a:solidFill>
              <a:srgbClr val="F5B400"/>
            </a:solidFill>
            <a:ln w="25400" cap="flat">
              <a:solidFill>
                <a:srgbClr val="F5B400"/>
              </a:solidFill>
              <a:prstDash val="solid"/>
              <a:round/>
            </a:ln>
            <a:effectLst/>
          </c:spPr>
          <c:invertIfNegative val="0"/>
          <c:dLbls>
            <c:numFmt formatCode="#,##0" sourceLinked="0"/>
            <c:txPr>
              <a:bodyPr/>
              <a:lstStyle/>
              <a:p>
                <a:pPr>
                  <a:defRPr b="0" i="0" strike="noStrike" sz="1000" u="none">
                    <a:solidFill>
                      <a:srgbClr val="1B1D21"/>
                    </a:solidFill>
                    <a:latin typeface="+mn-lt"/>
                  </a:defRPr>
                </a:pPr>
              </a:p>
            </c:txPr>
            <c:showLegendKey val="0"/>
            <c:showVal val="0"/>
            <c:showCatName val="0"/>
            <c:showSerName val="0"/>
            <c:showPercent val="0"/>
            <c:showBubbleSize val="0"/>
            <c:showLeaderLines val="0"/>
          </c:dLbls>
          <c:marker>
            <c:symbol val="none"/>
            <c:size val="6"/>
            <c:spPr>
              <a:solidFill>
                <a:srgbClr val="F5B400"/>
              </a:solidFill>
              <a:ln w="9525" cap="flat">
                <a:solidFill>
                  <a:srgbClr val="F5B400"/>
                </a:solidFill>
                <a:prstDash val="solid"/>
                <a:round/>
              </a:ln>
              <a:effectLst/>
            </c:spPr>
          </c:marker>
          <c:cat>
            <c:multiLvlStrRef>
              <c:f>Sheet1!$A$2:$A$76</c:f>
              <c:multiLvlStrCache>
                <c:ptCount val="75"/>
                <c:lvl>
                  <c:pt idx="0">
                    <c:v>1</c:v>
                  </c:pt>
                  <c:pt idx="1">
                    <c:v/>
                  </c:pt>
                  <c:pt idx="2">
                    <c:v/>
                  </c:pt>
                  <c:pt idx="3">
                    <c:v/>
                  </c:pt>
                  <c:pt idx="4">
                    <c:v/>
                  </c:pt>
                  <c:pt idx="5">
                    <c:v/>
                  </c:pt>
                  <c:pt idx="6">
                    <c:v/>
                  </c:pt>
                  <c:pt idx="7">
                    <c:v/>
                  </c:pt>
                  <c:pt idx="8">
                    <c:v/>
                  </c:pt>
                  <c:pt idx="9">
                    <c:v>10</c:v>
                  </c:pt>
                  <c:pt idx="10">
                    <c:v/>
                  </c:pt>
                  <c:pt idx="11">
                    <c:v/>
                  </c:pt>
                  <c:pt idx="12">
                    <c:v/>
                  </c:pt>
                  <c:pt idx="13">
                    <c:v/>
                  </c:pt>
                  <c:pt idx="14">
                    <c:v/>
                  </c:pt>
                  <c:pt idx="15">
                    <c:v/>
                  </c:pt>
                  <c:pt idx="16">
                    <c:v/>
                  </c:pt>
                  <c:pt idx="17">
                    <c:v/>
                  </c:pt>
                  <c:pt idx="18">
                    <c:v/>
                  </c:pt>
                  <c:pt idx="19">
                    <c:v>20</c:v>
                  </c:pt>
                  <c:pt idx="20">
                    <c:v/>
                  </c:pt>
                  <c:pt idx="21">
                    <c:v/>
                  </c:pt>
                  <c:pt idx="22">
                    <c:v/>
                  </c:pt>
                  <c:pt idx="23">
                    <c:v/>
                  </c:pt>
                  <c:pt idx="24">
                    <c:v/>
                  </c:pt>
                  <c:pt idx="25">
                    <c:v/>
                  </c:pt>
                  <c:pt idx="26">
                    <c:v/>
                  </c:pt>
                  <c:pt idx="27">
                    <c:v/>
                  </c:pt>
                  <c:pt idx="28">
                    <c:v/>
                  </c:pt>
                  <c:pt idx="29">
                    <c:v>30</c:v>
                  </c:pt>
                  <c:pt idx="30">
                    <c:v/>
                  </c:pt>
                  <c:pt idx="31">
                    <c:v/>
                  </c:pt>
                  <c:pt idx="32">
                    <c:v/>
                  </c:pt>
                  <c:pt idx="33">
                    <c:v/>
                  </c:pt>
                  <c:pt idx="34">
                    <c:v/>
                  </c:pt>
                  <c:pt idx="35">
                    <c:v/>
                  </c:pt>
                  <c:pt idx="36">
                    <c:v/>
                  </c:pt>
                  <c:pt idx="37">
                    <c:v/>
                  </c:pt>
                  <c:pt idx="38">
                    <c:v/>
                  </c:pt>
                  <c:pt idx="39">
                    <c:v>40</c:v>
                  </c:pt>
                  <c:pt idx="40">
                    <c:v/>
                  </c:pt>
                  <c:pt idx="41">
                    <c:v/>
                  </c:pt>
                  <c:pt idx="42">
                    <c:v/>
                  </c:pt>
                  <c:pt idx="43">
                    <c:v/>
                  </c:pt>
                  <c:pt idx="44">
                    <c:v/>
                  </c:pt>
                  <c:pt idx="45">
                    <c:v/>
                  </c:pt>
                  <c:pt idx="46">
                    <c:v/>
                  </c:pt>
                  <c:pt idx="47">
                    <c:v/>
                  </c:pt>
                  <c:pt idx="48">
                    <c:v/>
                  </c:pt>
                  <c:pt idx="49">
                    <c:v>50</c:v>
                  </c:pt>
                  <c:pt idx="50">
                    <c:v/>
                  </c:pt>
                  <c:pt idx="51">
                    <c:v/>
                  </c:pt>
                  <c:pt idx="52">
                    <c:v/>
                  </c:pt>
                  <c:pt idx="53">
                    <c:v/>
                  </c:pt>
                  <c:pt idx="54">
                    <c:v/>
                  </c:pt>
                  <c:pt idx="55">
                    <c:v/>
                  </c:pt>
                  <c:pt idx="56">
                    <c:v/>
                  </c:pt>
                  <c:pt idx="57">
                    <c:v/>
                  </c:pt>
                  <c:pt idx="58">
                    <c:v/>
                  </c:pt>
                  <c:pt idx="59">
                    <c:v>60</c:v>
                  </c:pt>
                  <c:pt idx="60">
                    <c:v/>
                  </c:pt>
                  <c:pt idx="61">
                    <c:v/>
                  </c:pt>
                  <c:pt idx="62">
                    <c:v/>
                  </c:pt>
                  <c:pt idx="63">
                    <c:v/>
                  </c:pt>
                  <c:pt idx="64">
                    <c:v/>
                  </c:pt>
                  <c:pt idx="65">
                    <c:v/>
                  </c:pt>
                  <c:pt idx="66">
                    <c:v/>
                  </c:pt>
                  <c:pt idx="67">
                    <c:v/>
                  </c:pt>
                  <c:pt idx="68">
                    <c:v/>
                  </c:pt>
                  <c:pt idx="69">
                    <c:v>70</c:v>
                  </c:pt>
                  <c:pt idx="70">
                    <c:v/>
                  </c:pt>
                  <c:pt idx="71">
                    <c:v/>
                  </c:pt>
                  <c:pt idx="72">
                    <c:v/>
                  </c:pt>
                  <c:pt idx="73">
                    <c:v/>
                  </c:pt>
                  <c:pt idx="74">
                    <c:v/>
                  </c:pt>
                </c:lvl>
              </c:multiLvlStrCache>
            </c:multiLvlStrRef>
          </c:cat>
          <c:val>
            <c:numRef>
              <c:f>Sheet1!$B$2:$B$76</c:f>
              <c:numCache>
                <c:formatCode>General</c:formatCode>
                <c:ptCount val="75"/>
                <c:pt idx="0">
                  <c:v>0.44149</c:v>
                </c:pt>
                <c:pt idx="1">
                  <c:v>0.54711</c:v>
                </c:pt>
                <c:pt idx="2">
                  <c:v>0.41526</c:v>
                </c:pt>
                <c:pt idx="3">
                  <c:v>0.42655</c:v>
                </c:pt>
                <c:pt idx="4">
                  <c:v>0.40931</c:v>
                </c:pt>
                <c:pt idx="5">
                  <c:v>0.39677</c:v>
                </c:pt>
                <c:pt idx="6">
                  <c:v>0.52102</c:v>
                </c:pt>
                <c:pt idx="7">
                  <c:v>0.57453</c:v>
                </c:pt>
                <c:pt idx="8">
                  <c:v>0.51982</c:v>
                </c:pt>
                <c:pt idx="9">
                  <c:v>0.59373</c:v>
                </c:pt>
                <c:pt idx="10">
                  <c:v>0.60945</c:v>
                </c:pt>
                <c:pt idx="11">
                  <c:v>0.51168</c:v>
                </c:pt>
                <c:pt idx="12">
                  <c:v>0.63093</c:v>
                </c:pt>
                <c:pt idx="13">
                  <c:v>0.63788</c:v>
                </c:pt>
                <c:pt idx="14">
                  <c:v>0.68095</c:v>
                </c:pt>
                <c:pt idx="15">
                  <c:v>0.6899</c:v>
                </c:pt>
                <c:pt idx="16">
                  <c:v>0.69895</c:v>
                </c:pt>
                <c:pt idx="17">
                  <c:v>0.71381</c:v>
                </c:pt>
                <c:pt idx="18">
                  <c:v>0.68851</c:v>
                </c:pt>
                <c:pt idx="19">
                  <c:v>0.71751</c:v>
                </c:pt>
                <c:pt idx="20">
                  <c:v>0.7303</c:v>
                </c:pt>
                <c:pt idx="21">
                  <c:v>0.73533</c:v>
                </c:pt>
                <c:pt idx="22">
                  <c:v>0.73261</c:v>
                </c:pt>
                <c:pt idx="23">
                  <c:v>0.7531</c:v>
                </c:pt>
                <c:pt idx="24">
                  <c:v>0.76391</c:v>
                </c:pt>
                <c:pt idx="25">
                  <c:v>0.75517</c:v>
                </c:pt>
                <c:pt idx="26">
                  <c:v>0.7759</c:v>
                </c:pt>
                <c:pt idx="27">
                  <c:v>0.76786</c:v>
                </c:pt>
                <c:pt idx="28">
                  <c:v>0.78581</c:v>
                </c:pt>
                <c:pt idx="29">
                  <c:v>0.76614</c:v>
                </c:pt>
                <c:pt idx="30">
                  <c:v>0.7965</c:v>
                </c:pt>
                <c:pt idx="31">
                  <c:v>0.78387</c:v>
                </c:pt>
                <c:pt idx="32">
                  <c:v>0.80659</c:v>
                </c:pt>
                <c:pt idx="33">
                  <c:v>0.80547</c:v>
                </c:pt>
                <c:pt idx="34">
                  <c:v>0.81123</c:v>
                </c:pt>
                <c:pt idx="35">
                  <c:v>0.81301</c:v>
                </c:pt>
                <c:pt idx="36">
                  <c:v>0.81285</c:v>
                </c:pt>
                <c:pt idx="37">
                  <c:v>0.81758</c:v>
                </c:pt>
                <c:pt idx="38">
                  <c:v>0.82368</c:v>
                </c:pt>
                <c:pt idx="39">
                  <c:v>0.82345</c:v>
                </c:pt>
                <c:pt idx="40">
                  <c:v>0.82859</c:v>
                </c:pt>
                <c:pt idx="41">
                  <c:v>0.82707</c:v>
                </c:pt>
                <c:pt idx="42">
                  <c:v>0.83217</c:v>
                </c:pt>
                <c:pt idx="43">
                  <c:v>0.84087</c:v>
                </c:pt>
                <c:pt idx="44">
                  <c:v>0.83813</c:v>
                </c:pt>
                <c:pt idx="45">
                  <c:v>0.84069</c:v>
                </c:pt>
                <c:pt idx="46">
                  <c:v>0.84478</c:v>
                </c:pt>
                <c:pt idx="47">
                  <c:v>0.84583</c:v>
                </c:pt>
                <c:pt idx="48">
                  <c:v>0.84104</c:v>
                </c:pt>
                <c:pt idx="49">
                  <c:v>0.84386</c:v>
                </c:pt>
                <c:pt idx="50">
                  <c:v>0.85274</c:v>
                </c:pt>
                <c:pt idx="51">
                  <c:v>0.85357</c:v>
                </c:pt>
                <c:pt idx="52">
                  <c:v>0.84968</c:v>
                </c:pt>
                <c:pt idx="53">
                  <c:v>0.85287</c:v>
                </c:pt>
                <c:pt idx="54">
                  <c:v>0.85713</c:v>
                </c:pt>
                <c:pt idx="55">
                  <c:v>0.85788</c:v>
                </c:pt>
                <c:pt idx="56">
                  <c:v>0.85816</c:v>
                </c:pt>
                <c:pt idx="57">
                  <c:v>0.86051</c:v>
                </c:pt>
                <c:pt idx="58">
                  <c:v>0.86011</c:v>
                </c:pt>
                <c:pt idx="59">
                  <c:v>0.86102</c:v>
                </c:pt>
                <c:pt idx="60">
                  <c:v>0.86389</c:v>
                </c:pt>
                <c:pt idx="61">
                  <c:v>0.86346</c:v>
                </c:pt>
                <c:pt idx="62">
                  <c:v>0.86387</c:v>
                </c:pt>
                <c:pt idx="63">
                  <c:v>0.86376</c:v>
                </c:pt>
                <c:pt idx="64">
                  <c:v>0.86556</c:v>
                </c:pt>
                <c:pt idx="65">
                  <c:v>0.86181</c:v>
                </c:pt>
                <c:pt idx="66">
                  <c:v>0.8635</c:v>
                </c:pt>
                <c:pt idx="67">
                  <c:v>0.86877</c:v>
                </c:pt>
                <c:pt idx="68">
                  <c:v>0.86913</c:v>
                </c:pt>
                <c:pt idx="69">
                  <c:v>0.86702</c:v>
                </c:pt>
                <c:pt idx="70">
                  <c:v>0.86697</c:v>
                </c:pt>
                <c:pt idx="71">
                  <c:v>0.86921</c:v>
                </c:pt>
                <c:pt idx="72">
                  <c:v>0.86861</c:v>
                </c:pt>
                <c:pt idx="73">
                  <c:v>0.86973</c:v>
                </c:pt>
                <c:pt idx="74">
                  <c:v>0.86942</c:v>
                </c:pt>
              </c:numCache>
            </c:numRef>
          </c:val>
          <c:smooth val="0"/>
        </c:ser>
        <c:ser>
          <c:idx val="1"/>
          <c:order val="1"/>
          <c:tx>
            <c:strRef>
              <c:f>Sheet1!$C$1</c:f>
              <c:strCache>
                <c:ptCount val="1"/>
                <c:pt idx="0">
                  <c:v>mAP@0.5:0.95</c:v>
                </c:pt>
              </c:strCache>
            </c:strRef>
          </c:tx>
          <c:spPr>
            <a:solidFill>
              <a:srgbClr val="5B6573"/>
            </a:solidFill>
            <a:ln w="25400" cap="flat">
              <a:solidFill>
                <a:srgbClr val="5B6573"/>
              </a:solidFill>
              <a:prstDash val="solid"/>
              <a:round/>
            </a:ln>
            <a:effectLst/>
          </c:spPr>
          <c:invertIfNegative val="0"/>
          <c:dLbls>
            <c:numFmt formatCode="#,##0" sourceLinked="0"/>
            <c:txPr>
              <a:bodyPr/>
              <a:lstStyle/>
              <a:p>
                <a:pPr>
                  <a:defRPr b="0" i="0" strike="noStrike" sz="1000" u="none">
                    <a:solidFill>
                      <a:srgbClr val="1B1D21"/>
                    </a:solidFill>
                    <a:latin typeface="+mn-lt"/>
                  </a:defRPr>
                </a:pPr>
              </a:p>
            </c:txPr>
            <c:showLegendKey val="0"/>
            <c:showVal val="0"/>
            <c:showCatName val="0"/>
            <c:showSerName val="0"/>
            <c:showPercent val="0"/>
            <c:showBubbleSize val="0"/>
            <c:showLeaderLines val="0"/>
          </c:dLbls>
          <c:marker>
            <c:symbol val="none"/>
            <c:size val="6"/>
            <c:spPr>
              <a:solidFill>
                <a:srgbClr val="5B6573"/>
              </a:solidFill>
              <a:ln w="9525" cap="flat">
                <a:solidFill>
                  <a:srgbClr val="5B6573"/>
                </a:solidFill>
                <a:prstDash val="solid"/>
                <a:round/>
              </a:ln>
              <a:effectLst/>
            </c:spPr>
          </c:marker>
          <c:cat>
            <c:multiLvlStrRef>
              <c:f>Sheet1!$A$2:$A$76</c:f>
              <c:multiLvlStrCache>
                <c:ptCount val="75"/>
                <c:lvl>
                  <c:pt idx="0">
                    <c:v>1</c:v>
                  </c:pt>
                  <c:pt idx="1">
                    <c:v/>
                  </c:pt>
                  <c:pt idx="2">
                    <c:v/>
                  </c:pt>
                  <c:pt idx="3">
                    <c:v/>
                  </c:pt>
                  <c:pt idx="4">
                    <c:v/>
                  </c:pt>
                  <c:pt idx="5">
                    <c:v/>
                  </c:pt>
                  <c:pt idx="6">
                    <c:v/>
                  </c:pt>
                  <c:pt idx="7">
                    <c:v/>
                  </c:pt>
                  <c:pt idx="8">
                    <c:v/>
                  </c:pt>
                  <c:pt idx="9">
                    <c:v>10</c:v>
                  </c:pt>
                  <c:pt idx="10">
                    <c:v/>
                  </c:pt>
                  <c:pt idx="11">
                    <c:v/>
                  </c:pt>
                  <c:pt idx="12">
                    <c:v/>
                  </c:pt>
                  <c:pt idx="13">
                    <c:v/>
                  </c:pt>
                  <c:pt idx="14">
                    <c:v/>
                  </c:pt>
                  <c:pt idx="15">
                    <c:v/>
                  </c:pt>
                  <c:pt idx="16">
                    <c:v/>
                  </c:pt>
                  <c:pt idx="17">
                    <c:v/>
                  </c:pt>
                  <c:pt idx="18">
                    <c:v/>
                  </c:pt>
                  <c:pt idx="19">
                    <c:v>20</c:v>
                  </c:pt>
                  <c:pt idx="20">
                    <c:v/>
                  </c:pt>
                  <c:pt idx="21">
                    <c:v/>
                  </c:pt>
                  <c:pt idx="22">
                    <c:v/>
                  </c:pt>
                  <c:pt idx="23">
                    <c:v/>
                  </c:pt>
                  <c:pt idx="24">
                    <c:v/>
                  </c:pt>
                  <c:pt idx="25">
                    <c:v/>
                  </c:pt>
                  <c:pt idx="26">
                    <c:v/>
                  </c:pt>
                  <c:pt idx="27">
                    <c:v/>
                  </c:pt>
                  <c:pt idx="28">
                    <c:v/>
                  </c:pt>
                  <c:pt idx="29">
                    <c:v>30</c:v>
                  </c:pt>
                  <c:pt idx="30">
                    <c:v/>
                  </c:pt>
                  <c:pt idx="31">
                    <c:v/>
                  </c:pt>
                  <c:pt idx="32">
                    <c:v/>
                  </c:pt>
                  <c:pt idx="33">
                    <c:v/>
                  </c:pt>
                  <c:pt idx="34">
                    <c:v/>
                  </c:pt>
                  <c:pt idx="35">
                    <c:v/>
                  </c:pt>
                  <c:pt idx="36">
                    <c:v/>
                  </c:pt>
                  <c:pt idx="37">
                    <c:v/>
                  </c:pt>
                  <c:pt idx="38">
                    <c:v/>
                  </c:pt>
                  <c:pt idx="39">
                    <c:v>40</c:v>
                  </c:pt>
                  <c:pt idx="40">
                    <c:v/>
                  </c:pt>
                  <c:pt idx="41">
                    <c:v/>
                  </c:pt>
                  <c:pt idx="42">
                    <c:v/>
                  </c:pt>
                  <c:pt idx="43">
                    <c:v/>
                  </c:pt>
                  <c:pt idx="44">
                    <c:v/>
                  </c:pt>
                  <c:pt idx="45">
                    <c:v/>
                  </c:pt>
                  <c:pt idx="46">
                    <c:v/>
                  </c:pt>
                  <c:pt idx="47">
                    <c:v/>
                  </c:pt>
                  <c:pt idx="48">
                    <c:v/>
                  </c:pt>
                  <c:pt idx="49">
                    <c:v>50</c:v>
                  </c:pt>
                  <c:pt idx="50">
                    <c:v/>
                  </c:pt>
                  <c:pt idx="51">
                    <c:v/>
                  </c:pt>
                  <c:pt idx="52">
                    <c:v/>
                  </c:pt>
                  <c:pt idx="53">
                    <c:v/>
                  </c:pt>
                  <c:pt idx="54">
                    <c:v/>
                  </c:pt>
                  <c:pt idx="55">
                    <c:v/>
                  </c:pt>
                  <c:pt idx="56">
                    <c:v/>
                  </c:pt>
                  <c:pt idx="57">
                    <c:v/>
                  </c:pt>
                  <c:pt idx="58">
                    <c:v/>
                  </c:pt>
                  <c:pt idx="59">
                    <c:v>60</c:v>
                  </c:pt>
                  <c:pt idx="60">
                    <c:v/>
                  </c:pt>
                  <c:pt idx="61">
                    <c:v/>
                  </c:pt>
                  <c:pt idx="62">
                    <c:v/>
                  </c:pt>
                  <c:pt idx="63">
                    <c:v/>
                  </c:pt>
                  <c:pt idx="64">
                    <c:v/>
                  </c:pt>
                  <c:pt idx="65">
                    <c:v/>
                  </c:pt>
                  <c:pt idx="66">
                    <c:v/>
                  </c:pt>
                  <c:pt idx="67">
                    <c:v/>
                  </c:pt>
                  <c:pt idx="68">
                    <c:v/>
                  </c:pt>
                  <c:pt idx="69">
                    <c:v>70</c:v>
                  </c:pt>
                  <c:pt idx="70">
                    <c:v/>
                  </c:pt>
                  <c:pt idx="71">
                    <c:v/>
                  </c:pt>
                  <c:pt idx="72">
                    <c:v/>
                  </c:pt>
                  <c:pt idx="73">
                    <c:v/>
                  </c:pt>
                  <c:pt idx="74">
                    <c:v/>
                  </c:pt>
                </c:lvl>
              </c:multiLvlStrCache>
            </c:multiLvlStrRef>
          </c:cat>
          <c:val>
            <c:numRef>
              <c:f>Sheet1!$C$2:$C$76</c:f>
              <c:numCache>
                <c:formatCode>General</c:formatCode>
                <c:ptCount val="75"/>
                <c:pt idx="0">
                  <c:v>0.24039</c:v>
                </c:pt>
                <c:pt idx="1">
                  <c:v>0.29967</c:v>
                </c:pt>
                <c:pt idx="2">
                  <c:v>0.21165</c:v>
                </c:pt>
                <c:pt idx="3">
                  <c:v>0.21734</c:v>
                </c:pt>
                <c:pt idx="4">
                  <c:v>0.2076</c:v>
                </c:pt>
                <c:pt idx="5">
                  <c:v>0.19784</c:v>
                </c:pt>
                <c:pt idx="6">
                  <c:v>0.28212</c:v>
                </c:pt>
                <c:pt idx="7">
                  <c:v>0.31992</c:v>
                </c:pt>
                <c:pt idx="8">
                  <c:v>0.27902</c:v>
                </c:pt>
                <c:pt idx="9">
                  <c:v>0.34321</c:v>
                </c:pt>
                <c:pt idx="10">
                  <c:v>0.35387</c:v>
                </c:pt>
                <c:pt idx="11">
                  <c:v>0.29486</c:v>
                </c:pt>
                <c:pt idx="12">
                  <c:v>0.37925</c:v>
                </c:pt>
                <c:pt idx="13">
                  <c:v>0.38264</c:v>
                </c:pt>
                <c:pt idx="14">
                  <c:v>0.42088</c:v>
                </c:pt>
                <c:pt idx="15">
                  <c:v>0.42251</c:v>
                </c:pt>
                <c:pt idx="16">
                  <c:v>0.43496</c:v>
                </c:pt>
                <c:pt idx="17">
                  <c:v>0.44326</c:v>
                </c:pt>
                <c:pt idx="18">
                  <c:v>0.43019</c:v>
                </c:pt>
                <c:pt idx="19">
                  <c:v>0.44396</c:v>
                </c:pt>
                <c:pt idx="20">
                  <c:v>0.47034</c:v>
                </c:pt>
                <c:pt idx="21">
                  <c:v>0.47294</c:v>
                </c:pt>
                <c:pt idx="22">
                  <c:v>0.46647</c:v>
                </c:pt>
                <c:pt idx="23">
                  <c:v>0.48745</c:v>
                </c:pt>
                <c:pt idx="24">
                  <c:v>0.50257</c:v>
                </c:pt>
                <c:pt idx="25">
                  <c:v>0.48785</c:v>
                </c:pt>
                <c:pt idx="26">
                  <c:v>0.50571</c:v>
                </c:pt>
                <c:pt idx="27">
                  <c:v>0.50374</c:v>
                </c:pt>
                <c:pt idx="28">
                  <c:v>0.52379</c:v>
                </c:pt>
                <c:pt idx="29">
                  <c:v>0.51219</c:v>
                </c:pt>
                <c:pt idx="30">
                  <c:v>0.53044</c:v>
                </c:pt>
                <c:pt idx="31">
                  <c:v>0.52135</c:v>
                </c:pt>
                <c:pt idx="32">
                  <c:v>0.54473</c:v>
                </c:pt>
                <c:pt idx="33">
                  <c:v>0.53916</c:v>
                </c:pt>
                <c:pt idx="34">
                  <c:v>0.55576</c:v>
                </c:pt>
                <c:pt idx="35">
                  <c:v>0.54851</c:v>
                </c:pt>
                <c:pt idx="36">
                  <c:v>0.55309</c:v>
                </c:pt>
                <c:pt idx="37">
                  <c:v>0.56146</c:v>
                </c:pt>
                <c:pt idx="38">
                  <c:v>0.56711</c:v>
                </c:pt>
                <c:pt idx="39">
                  <c:v>0.57467</c:v>
                </c:pt>
                <c:pt idx="40">
                  <c:v>0.57833</c:v>
                </c:pt>
                <c:pt idx="41">
                  <c:v>0.57367</c:v>
                </c:pt>
                <c:pt idx="42">
                  <c:v>0.58063</c:v>
                </c:pt>
                <c:pt idx="43">
                  <c:v>0.58474</c:v>
                </c:pt>
                <c:pt idx="44">
                  <c:v>0.5867</c:v>
                </c:pt>
                <c:pt idx="45">
                  <c:v>0.59338</c:v>
                </c:pt>
                <c:pt idx="46">
                  <c:v>0.59832</c:v>
                </c:pt>
                <c:pt idx="47">
                  <c:v>0.59962</c:v>
                </c:pt>
                <c:pt idx="48">
                  <c:v>0.59434</c:v>
                </c:pt>
                <c:pt idx="49">
                  <c:v>0.59542</c:v>
                </c:pt>
                <c:pt idx="50">
                  <c:v>0.6096</c:v>
                </c:pt>
                <c:pt idx="51">
                  <c:v>0.61026</c:v>
                </c:pt>
                <c:pt idx="52">
                  <c:v>0.60258</c:v>
                </c:pt>
                <c:pt idx="53">
                  <c:v>0.60994</c:v>
                </c:pt>
                <c:pt idx="54">
                  <c:v>0.61951</c:v>
                </c:pt>
                <c:pt idx="55">
                  <c:v>0.61989</c:v>
                </c:pt>
                <c:pt idx="56">
                  <c:v>0.6213</c:v>
                </c:pt>
                <c:pt idx="57">
                  <c:v>0.6258</c:v>
                </c:pt>
                <c:pt idx="58">
                  <c:v>0.62626</c:v>
                </c:pt>
                <c:pt idx="59">
                  <c:v>0.62492</c:v>
                </c:pt>
                <c:pt idx="60">
                  <c:v>0.62691</c:v>
                </c:pt>
                <c:pt idx="61">
                  <c:v>0.6256</c:v>
                </c:pt>
                <c:pt idx="62">
                  <c:v>0.62723</c:v>
                </c:pt>
                <c:pt idx="63">
                  <c:v>0.62857</c:v>
                </c:pt>
                <c:pt idx="64">
                  <c:v>0.63099</c:v>
                </c:pt>
                <c:pt idx="65">
                  <c:v>0.62526</c:v>
                </c:pt>
                <c:pt idx="66">
                  <c:v>0.62995</c:v>
                </c:pt>
                <c:pt idx="67">
                  <c:v>0.63298</c:v>
                </c:pt>
                <c:pt idx="68">
                  <c:v>0.63352</c:v>
                </c:pt>
                <c:pt idx="69">
                  <c:v>0.6365</c:v>
                </c:pt>
                <c:pt idx="70">
                  <c:v>0.6324</c:v>
                </c:pt>
                <c:pt idx="71">
                  <c:v>0.63755</c:v>
                </c:pt>
                <c:pt idx="72">
                  <c:v>0.63572</c:v>
                </c:pt>
                <c:pt idx="73">
                  <c:v>0.63556</c:v>
                </c:pt>
                <c:pt idx="74">
                  <c:v>0.63517</c:v>
                </c:pt>
              </c:numCache>
            </c:numRef>
          </c:val>
          <c:smooth val="0"/>
        </c:ser>
        <c:ser>
          <c:idx val="2"/>
          <c:order val="2"/>
          <c:tx>
            <c:strRef>
              <c:f>Sheet1!$D$1</c:f>
              <c:strCache>
                <c:ptCount val="1"/>
                <c:pt idx="0">
                  <c:v>Precision</c:v>
                </c:pt>
              </c:strCache>
            </c:strRef>
          </c:tx>
          <c:spPr>
            <a:solidFill>
              <a:srgbClr val="2E8B5E"/>
            </a:solidFill>
            <a:ln w="25400" cap="flat">
              <a:solidFill>
                <a:srgbClr val="2E8B5E"/>
              </a:solidFill>
              <a:prstDash val="solid"/>
              <a:round/>
            </a:ln>
            <a:effectLst/>
          </c:spPr>
          <c:invertIfNegative val="0"/>
          <c:dLbls>
            <c:numFmt formatCode="#,##0" sourceLinked="0"/>
            <c:txPr>
              <a:bodyPr/>
              <a:lstStyle/>
              <a:p>
                <a:pPr>
                  <a:defRPr b="0" i="0" strike="noStrike" sz="1000" u="none">
                    <a:solidFill>
                      <a:srgbClr val="1B1D21"/>
                    </a:solidFill>
                    <a:latin typeface="+mn-lt"/>
                  </a:defRPr>
                </a:pPr>
              </a:p>
            </c:txPr>
            <c:showLegendKey val="0"/>
            <c:showVal val="0"/>
            <c:showCatName val="0"/>
            <c:showSerName val="0"/>
            <c:showPercent val="0"/>
            <c:showBubbleSize val="0"/>
            <c:showLeaderLines val="0"/>
          </c:dLbls>
          <c:marker>
            <c:symbol val="none"/>
            <c:size val="6"/>
            <c:spPr>
              <a:solidFill>
                <a:srgbClr val="2E8B5E"/>
              </a:solidFill>
              <a:ln w="9525" cap="flat">
                <a:solidFill>
                  <a:srgbClr val="2E8B5E"/>
                </a:solidFill>
                <a:prstDash val="solid"/>
                <a:round/>
              </a:ln>
              <a:effectLst/>
            </c:spPr>
          </c:marker>
          <c:cat>
            <c:multiLvlStrRef>
              <c:f>Sheet1!$A$2:$A$76</c:f>
              <c:multiLvlStrCache>
                <c:ptCount val="75"/>
                <c:lvl>
                  <c:pt idx="0">
                    <c:v>1</c:v>
                  </c:pt>
                  <c:pt idx="1">
                    <c:v/>
                  </c:pt>
                  <c:pt idx="2">
                    <c:v/>
                  </c:pt>
                  <c:pt idx="3">
                    <c:v/>
                  </c:pt>
                  <c:pt idx="4">
                    <c:v/>
                  </c:pt>
                  <c:pt idx="5">
                    <c:v/>
                  </c:pt>
                  <c:pt idx="6">
                    <c:v/>
                  </c:pt>
                  <c:pt idx="7">
                    <c:v/>
                  </c:pt>
                  <c:pt idx="8">
                    <c:v/>
                  </c:pt>
                  <c:pt idx="9">
                    <c:v>10</c:v>
                  </c:pt>
                  <c:pt idx="10">
                    <c:v/>
                  </c:pt>
                  <c:pt idx="11">
                    <c:v/>
                  </c:pt>
                  <c:pt idx="12">
                    <c:v/>
                  </c:pt>
                  <c:pt idx="13">
                    <c:v/>
                  </c:pt>
                  <c:pt idx="14">
                    <c:v/>
                  </c:pt>
                  <c:pt idx="15">
                    <c:v/>
                  </c:pt>
                  <c:pt idx="16">
                    <c:v/>
                  </c:pt>
                  <c:pt idx="17">
                    <c:v/>
                  </c:pt>
                  <c:pt idx="18">
                    <c:v/>
                  </c:pt>
                  <c:pt idx="19">
                    <c:v>20</c:v>
                  </c:pt>
                  <c:pt idx="20">
                    <c:v/>
                  </c:pt>
                  <c:pt idx="21">
                    <c:v/>
                  </c:pt>
                  <c:pt idx="22">
                    <c:v/>
                  </c:pt>
                  <c:pt idx="23">
                    <c:v/>
                  </c:pt>
                  <c:pt idx="24">
                    <c:v/>
                  </c:pt>
                  <c:pt idx="25">
                    <c:v/>
                  </c:pt>
                  <c:pt idx="26">
                    <c:v/>
                  </c:pt>
                  <c:pt idx="27">
                    <c:v/>
                  </c:pt>
                  <c:pt idx="28">
                    <c:v/>
                  </c:pt>
                  <c:pt idx="29">
                    <c:v>30</c:v>
                  </c:pt>
                  <c:pt idx="30">
                    <c:v/>
                  </c:pt>
                  <c:pt idx="31">
                    <c:v/>
                  </c:pt>
                  <c:pt idx="32">
                    <c:v/>
                  </c:pt>
                  <c:pt idx="33">
                    <c:v/>
                  </c:pt>
                  <c:pt idx="34">
                    <c:v/>
                  </c:pt>
                  <c:pt idx="35">
                    <c:v/>
                  </c:pt>
                  <c:pt idx="36">
                    <c:v/>
                  </c:pt>
                  <c:pt idx="37">
                    <c:v/>
                  </c:pt>
                  <c:pt idx="38">
                    <c:v/>
                  </c:pt>
                  <c:pt idx="39">
                    <c:v>40</c:v>
                  </c:pt>
                  <c:pt idx="40">
                    <c:v/>
                  </c:pt>
                  <c:pt idx="41">
                    <c:v/>
                  </c:pt>
                  <c:pt idx="42">
                    <c:v/>
                  </c:pt>
                  <c:pt idx="43">
                    <c:v/>
                  </c:pt>
                  <c:pt idx="44">
                    <c:v/>
                  </c:pt>
                  <c:pt idx="45">
                    <c:v/>
                  </c:pt>
                  <c:pt idx="46">
                    <c:v/>
                  </c:pt>
                  <c:pt idx="47">
                    <c:v/>
                  </c:pt>
                  <c:pt idx="48">
                    <c:v/>
                  </c:pt>
                  <c:pt idx="49">
                    <c:v>50</c:v>
                  </c:pt>
                  <c:pt idx="50">
                    <c:v/>
                  </c:pt>
                  <c:pt idx="51">
                    <c:v/>
                  </c:pt>
                  <c:pt idx="52">
                    <c:v/>
                  </c:pt>
                  <c:pt idx="53">
                    <c:v/>
                  </c:pt>
                  <c:pt idx="54">
                    <c:v/>
                  </c:pt>
                  <c:pt idx="55">
                    <c:v/>
                  </c:pt>
                  <c:pt idx="56">
                    <c:v/>
                  </c:pt>
                  <c:pt idx="57">
                    <c:v/>
                  </c:pt>
                  <c:pt idx="58">
                    <c:v/>
                  </c:pt>
                  <c:pt idx="59">
                    <c:v>60</c:v>
                  </c:pt>
                  <c:pt idx="60">
                    <c:v/>
                  </c:pt>
                  <c:pt idx="61">
                    <c:v/>
                  </c:pt>
                  <c:pt idx="62">
                    <c:v/>
                  </c:pt>
                  <c:pt idx="63">
                    <c:v/>
                  </c:pt>
                  <c:pt idx="64">
                    <c:v/>
                  </c:pt>
                  <c:pt idx="65">
                    <c:v/>
                  </c:pt>
                  <c:pt idx="66">
                    <c:v/>
                  </c:pt>
                  <c:pt idx="67">
                    <c:v/>
                  </c:pt>
                  <c:pt idx="68">
                    <c:v/>
                  </c:pt>
                  <c:pt idx="69">
                    <c:v>70</c:v>
                  </c:pt>
                  <c:pt idx="70">
                    <c:v/>
                  </c:pt>
                  <c:pt idx="71">
                    <c:v/>
                  </c:pt>
                  <c:pt idx="72">
                    <c:v/>
                  </c:pt>
                  <c:pt idx="73">
                    <c:v/>
                  </c:pt>
                  <c:pt idx="74">
                    <c:v/>
                  </c:pt>
                </c:lvl>
              </c:multiLvlStrCache>
            </c:multiLvlStrRef>
          </c:cat>
          <c:val>
            <c:numRef>
              <c:f>Sheet1!$D$2:$D$76</c:f>
              <c:numCache>
                <c:formatCode>General</c:formatCode>
                <c:ptCount val="75"/>
                <c:pt idx="0">
                  <c:v>0.56922</c:v>
                </c:pt>
                <c:pt idx="1">
                  <c:v>0.66975</c:v>
                </c:pt>
                <c:pt idx="2">
                  <c:v>0.58999</c:v>
                </c:pt>
                <c:pt idx="3">
                  <c:v>0.59193</c:v>
                </c:pt>
                <c:pt idx="4">
                  <c:v>0.59209</c:v>
                </c:pt>
                <c:pt idx="5">
                  <c:v>0.57599</c:v>
                </c:pt>
                <c:pt idx="6">
                  <c:v>0.66661</c:v>
                </c:pt>
                <c:pt idx="7">
                  <c:v>0.69996</c:v>
                </c:pt>
                <c:pt idx="8">
                  <c:v>0.69589</c:v>
                </c:pt>
                <c:pt idx="9">
                  <c:v>0.77571</c:v>
                </c:pt>
                <c:pt idx="10">
                  <c:v>0.75076</c:v>
                </c:pt>
                <c:pt idx="11">
                  <c:v>0.72273</c:v>
                </c:pt>
                <c:pt idx="12">
                  <c:v>0.76002</c:v>
                </c:pt>
                <c:pt idx="13">
                  <c:v>0.79728</c:v>
                </c:pt>
                <c:pt idx="14">
                  <c:v>0.81169</c:v>
                </c:pt>
                <c:pt idx="15">
                  <c:v>0.81286</c:v>
                </c:pt>
                <c:pt idx="16">
                  <c:v>0.82394</c:v>
                </c:pt>
                <c:pt idx="17">
                  <c:v>0.80933</c:v>
                </c:pt>
                <c:pt idx="18">
                  <c:v>0.81691</c:v>
                </c:pt>
                <c:pt idx="19">
                  <c:v>0.80318</c:v>
                </c:pt>
                <c:pt idx="20">
                  <c:v>0.86428</c:v>
                </c:pt>
                <c:pt idx="21">
                  <c:v>0.81546</c:v>
                </c:pt>
                <c:pt idx="22">
                  <c:v>0.82848</c:v>
                </c:pt>
                <c:pt idx="23">
                  <c:v>0.84812</c:v>
                </c:pt>
                <c:pt idx="24">
                  <c:v>0.85247</c:v>
                </c:pt>
                <c:pt idx="25">
                  <c:v>0.85005</c:v>
                </c:pt>
                <c:pt idx="26">
                  <c:v>0.88465</c:v>
                </c:pt>
                <c:pt idx="27">
                  <c:v>0.86554</c:v>
                </c:pt>
                <c:pt idx="28">
                  <c:v>0.88386</c:v>
                </c:pt>
                <c:pt idx="29">
                  <c:v>0.87728</c:v>
                </c:pt>
                <c:pt idx="30">
                  <c:v>0.88849</c:v>
                </c:pt>
                <c:pt idx="31">
                  <c:v>0.87808</c:v>
                </c:pt>
                <c:pt idx="32">
                  <c:v>0.8811</c:v>
                </c:pt>
                <c:pt idx="33">
                  <c:v>0.89459</c:v>
                </c:pt>
                <c:pt idx="34">
                  <c:v>0.89683</c:v>
                </c:pt>
                <c:pt idx="35">
                  <c:v>0.88142</c:v>
                </c:pt>
                <c:pt idx="36">
                  <c:v>0.88307</c:v>
                </c:pt>
                <c:pt idx="37">
                  <c:v>0.90775</c:v>
                </c:pt>
                <c:pt idx="38">
                  <c:v>0.87765</c:v>
                </c:pt>
                <c:pt idx="39">
                  <c:v>0.89221</c:v>
                </c:pt>
                <c:pt idx="40">
                  <c:v>0.91819</c:v>
                </c:pt>
                <c:pt idx="41">
                  <c:v>0.89157</c:v>
                </c:pt>
                <c:pt idx="42">
                  <c:v>0.92133</c:v>
                </c:pt>
                <c:pt idx="43">
                  <c:v>0.90769</c:v>
                </c:pt>
                <c:pt idx="44">
                  <c:v>0.89461</c:v>
                </c:pt>
                <c:pt idx="45">
                  <c:v>0.91622</c:v>
                </c:pt>
                <c:pt idx="46">
                  <c:v>0.92754</c:v>
                </c:pt>
                <c:pt idx="47">
                  <c:v>0.9129</c:v>
                </c:pt>
                <c:pt idx="48">
                  <c:v>0.90431</c:v>
                </c:pt>
                <c:pt idx="49">
                  <c:v>0.90438</c:v>
                </c:pt>
                <c:pt idx="50">
                  <c:v>0.91883</c:v>
                </c:pt>
                <c:pt idx="51">
                  <c:v>0.9141</c:v>
                </c:pt>
                <c:pt idx="52">
                  <c:v>0.92158</c:v>
                </c:pt>
                <c:pt idx="53">
                  <c:v>0.91905</c:v>
                </c:pt>
                <c:pt idx="54">
                  <c:v>0.91031</c:v>
                </c:pt>
                <c:pt idx="55">
                  <c:v>0.92297</c:v>
                </c:pt>
                <c:pt idx="56">
                  <c:v>0.91363</c:v>
                </c:pt>
                <c:pt idx="57">
                  <c:v>0.92485</c:v>
                </c:pt>
                <c:pt idx="58">
                  <c:v>0.93889</c:v>
                </c:pt>
                <c:pt idx="59">
                  <c:v>0.92721</c:v>
                </c:pt>
                <c:pt idx="60">
                  <c:v>0.93822</c:v>
                </c:pt>
                <c:pt idx="61">
                  <c:v>0.91922</c:v>
                </c:pt>
                <c:pt idx="62">
                  <c:v>0.92898</c:v>
                </c:pt>
                <c:pt idx="63">
                  <c:v>0.92491</c:v>
                </c:pt>
                <c:pt idx="64">
                  <c:v>0.94089</c:v>
                </c:pt>
                <c:pt idx="65">
                  <c:v>0.91654</c:v>
                </c:pt>
                <c:pt idx="66">
                  <c:v>0.92203</c:v>
                </c:pt>
                <c:pt idx="67">
                  <c:v>0.92298</c:v>
                </c:pt>
                <c:pt idx="68">
                  <c:v>0.92907</c:v>
                </c:pt>
                <c:pt idx="69">
                  <c:v>0.92654</c:v>
                </c:pt>
                <c:pt idx="70">
                  <c:v>0.91869</c:v>
                </c:pt>
                <c:pt idx="71">
                  <c:v>0.92355</c:v>
                </c:pt>
                <c:pt idx="72">
                  <c:v>0.92538</c:v>
                </c:pt>
                <c:pt idx="73">
                  <c:v>0.92431</c:v>
                </c:pt>
                <c:pt idx="74">
                  <c:v>0.92741</c:v>
                </c:pt>
              </c:numCache>
            </c:numRef>
          </c:val>
          <c:smooth val="0"/>
        </c:ser>
        <c:ser>
          <c:idx val="3"/>
          <c:order val="3"/>
          <c:tx>
            <c:strRef>
              <c:f>Sheet1!$E$1</c:f>
              <c:strCache>
                <c:ptCount val="1"/>
                <c:pt idx="0">
                  <c:v>Recall</c:v>
                </c:pt>
              </c:strCache>
            </c:strRef>
          </c:tx>
          <c:spPr>
            <a:solidFill>
              <a:srgbClr val="2F6F99"/>
            </a:solidFill>
            <a:ln w="25400" cap="flat">
              <a:solidFill>
                <a:srgbClr val="2F6F99"/>
              </a:solidFill>
              <a:prstDash val="solid"/>
              <a:round/>
            </a:ln>
            <a:effectLst/>
          </c:spPr>
          <c:invertIfNegative val="0"/>
          <c:dLbls>
            <c:numFmt formatCode="#,##0" sourceLinked="0"/>
            <c:txPr>
              <a:bodyPr/>
              <a:lstStyle/>
              <a:p>
                <a:pPr>
                  <a:defRPr b="0" i="0" strike="noStrike" sz="1000" u="none">
                    <a:solidFill>
                      <a:srgbClr val="1B1D21"/>
                    </a:solidFill>
                    <a:latin typeface="+mn-lt"/>
                  </a:defRPr>
                </a:pPr>
              </a:p>
            </c:txPr>
            <c:showLegendKey val="0"/>
            <c:showVal val="0"/>
            <c:showCatName val="0"/>
            <c:showSerName val="0"/>
            <c:showPercent val="0"/>
            <c:showBubbleSize val="0"/>
            <c:showLeaderLines val="0"/>
          </c:dLbls>
          <c:marker>
            <c:symbol val="none"/>
            <c:size val="6"/>
            <c:spPr>
              <a:solidFill>
                <a:srgbClr val="2F6F99"/>
              </a:solidFill>
              <a:ln w="9525" cap="flat">
                <a:solidFill>
                  <a:srgbClr val="2F6F99"/>
                </a:solidFill>
                <a:prstDash val="solid"/>
                <a:round/>
              </a:ln>
              <a:effectLst/>
            </c:spPr>
          </c:marker>
          <c:cat>
            <c:multiLvlStrRef>
              <c:f>Sheet1!$A$2:$A$76</c:f>
              <c:multiLvlStrCache>
                <c:ptCount val="75"/>
                <c:lvl>
                  <c:pt idx="0">
                    <c:v>1</c:v>
                  </c:pt>
                  <c:pt idx="1">
                    <c:v/>
                  </c:pt>
                  <c:pt idx="2">
                    <c:v/>
                  </c:pt>
                  <c:pt idx="3">
                    <c:v/>
                  </c:pt>
                  <c:pt idx="4">
                    <c:v/>
                  </c:pt>
                  <c:pt idx="5">
                    <c:v/>
                  </c:pt>
                  <c:pt idx="6">
                    <c:v/>
                  </c:pt>
                  <c:pt idx="7">
                    <c:v/>
                  </c:pt>
                  <c:pt idx="8">
                    <c:v/>
                  </c:pt>
                  <c:pt idx="9">
                    <c:v>10</c:v>
                  </c:pt>
                  <c:pt idx="10">
                    <c:v/>
                  </c:pt>
                  <c:pt idx="11">
                    <c:v/>
                  </c:pt>
                  <c:pt idx="12">
                    <c:v/>
                  </c:pt>
                  <c:pt idx="13">
                    <c:v/>
                  </c:pt>
                  <c:pt idx="14">
                    <c:v/>
                  </c:pt>
                  <c:pt idx="15">
                    <c:v/>
                  </c:pt>
                  <c:pt idx="16">
                    <c:v/>
                  </c:pt>
                  <c:pt idx="17">
                    <c:v/>
                  </c:pt>
                  <c:pt idx="18">
                    <c:v/>
                  </c:pt>
                  <c:pt idx="19">
                    <c:v>20</c:v>
                  </c:pt>
                  <c:pt idx="20">
                    <c:v/>
                  </c:pt>
                  <c:pt idx="21">
                    <c:v/>
                  </c:pt>
                  <c:pt idx="22">
                    <c:v/>
                  </c:pt>
                  <c:pt idx="23">
                    <c:v/>
                  </c:pt>
                  <c:pt idx="24">
                    <c:v/>
                  </c:pt>
                  <c:pt idx="25">
                    <c:v/>
                  </c:pt>
                  <c:pt idx="26">
                    <c:v/>
                  </c:pt>
                  <c:pt idx="27">
                    <c:v/>
                  </c:pt>
                  <c:pt idx="28">
                    <c:v/>
                  </c:pt>
                  <c:pt idx="29">
                    <c:v>30</c:v>
                  </c:pt>
                  <c:pt idx="30">
                    <c:v/>
                  </c:pt>
                  <c:pt idx="31">
                    <c:v/>
                  </c:pt>
                  <c:pt idx="32">
                    <c:v/>
                  </c:pt>
                  <c:pt idx="33">
                    <c:v/>
                  </c:pt>
                  <c:pt idx="34">
                    <c:v/>
                  </c:pt>
                  <c:pt idx="35">
                    <c:v/>
                  </c:pt>
                  <c:pt idx="36">
                    <c:v/>
                  </c:pt>
                  <c:pt idx="37">
                    <c:v/>
                  </c:pt>
                  <c:pt idx="38">
                    <c:v/>
                  </c:pt>
                  <c:pt idx="39">
                    <c:v>40</c:v>
                  </c:pt>
                  <c:pt idx="40">
                    <c:v/>
                  </c:pt>
                  <c:pt idx="41">
                    <c:v/>
                  </c:pt>
                  <c:pt idx="42">
                    <c:v/>
                  </c:pt>
                  <c:pt idx="43">
                    <c:v/>
                  </c:pt>
                  <c:pt idx="44">
                    <c:v/>
                  </c:pt>
                  <c:pt idx="45">
                    <c:v/>
                  </c:pt>
                  <c:pt idx="46">
                    <c:v/>
                  </c:pt>
                  <c:pt idx="47">
                    <c:v/>
                  </c:pt>
                  <c:pt idx="48">
                    <c:v/>
                  </c:pt>
                  <c:pt idx="49">
                    <c:v>50</c:v>
                  </c:pt>
                  <c:pt idx="50">
                    <c:v/>
                  </c:pt>
                  <c:pt idx="51">
                    <c:v/>
                  </c:pt>
                  <c:pt idx="52">
                    <c:v/>
                  </c:pt>
                  <c:pt idx="53">
                    <c:v/>
                  </c:pt>
                  <c:pt idx="54">
                    <c:v/>
                  </c:pt>
                  <c:pt idx="55">
                    <c:v/>
                  </c:pt>
                  <c:pt idx="56">
                    <c:v/>
                  </c:pt>
                  <c:pt idx="57">
                    <c:v/>
                  </c:pt>
                  <c:pt idx="58">
                    <c:v/>
                  </c:pt>
                  <c:pt idx="59">
                    <c:v>60</c:v>
                  </c:pt>
                  <c:pt idx="60">
                    <c:v/>
                  </c:pt>
                  <c:pt idx="61">
                    <c:v/>
                  </c:pt>
                  <c:pt idx="62">
                    <c:v/>
                  </c:pt>
                  <c:pt idx="63">
                    <c:v/>
                  </c:pt>
                  <c:pt idx="64">
                    <c:v/>
                  </c:pt>
                  <c:pt idx="65">
                    <c:v/>
                  </c:pt>
                  <c:pt idx="66">
                    <c:v/>
                  </c:pt>
                  <c:pt idx="67">
                    <c:v/>
                  </c:pt>
                  <c:pt idx="68">
                    <c:v/>
                  </c:pt>
                  <c:pt idx="69">
                    <c:v>70</c:v>
                  </c:pt>
                  <c:pt idx="70">
                    <c:v/>
                  </c:pt>
                  <c:pt idx="71">
                    <c:v/>
                  </c:pt>
                  <c:pt idx="72">
                    <c:v/>
                  </c:pt>
                  <c:pt idx="73">
                    <c:v/>
                  </c:pt>
                  <c:pt idx="74">
                    <c:v/>
                  </c:pt>
                </c:lvl>
              </c:multiLvlStrCache>
            </c:multiLvlStrRef>
          </c:cat>
          <c:val>
            <c:numRef>
              <c:f>Sheet1!$E$2:$E$76</c:f>
              <c:numCache>
                <c:formatCode>General</c:formatCode>
                <c:ptCount val="75"/>
                <c:pt idx="0">
                  <c:v>0.41542</c:v>
                </c:pt>
                <c:pt idx="1">
                  <c:v>0.50806</c:v>
                </c:pt>
                <c:pt idx="2">
                  <c:v>0.38268</c:v>
                </c:pt>
                <c:pt idx="3">
                  <c:v>0.42337</c:v>
                </c:pt>
                <c:pt idx="4">
                  <c:v>0.40881</c:v>
                </c:pt>
                <c:pt idx="5">
                  <c:v>0.38618</c:v>
                </c:pt>
                <c:pt idx="6">
                  <c:v>0.48258</c:v>
                </c:pt>
                <c:pt idx="7">
                  <c:v>0.53336</c:v>
                </c:pt>
                <c:pt idx="8">
                  <c:v>0.47371</c:v>
                </c:pt>
                <c:pt idx="9">
                  <c:v>0.52824</c:v>
                </c:pt>
                <c:pt idx="10">
                  <c:v>0.54305</c:v>
                </c:pt>
                <c:pt idx="11">
                  <c:v>0.453</c:v>
                </c:pt>
                <c:pt idx="12">
                  <c:v>0.55883</c:v>
                </c:pt>
                <c:pt idx="13">
                  <c:v>0.56799</c:v>
                </c:pt>
                <c:pt idx="14">
                  <c:v>0.59488</c:v>
                </c:pt>
                <c:pt idx="15">
                  <c:v>0.60994</c:v>
                </c:pt>
                <c:pt idx="16">
                  <c:v>0.62064</c:v>
                </c:pt>
                <c:pt idx="17">
                  <c:v>0.64846</c:v>
                </c:pt>
                <c:pt idx="18">
                  <c:v>0.6053</c:v>
                </c:pt>
                <c:pt idx="19">
                  <c:v>0.65397</c:v>
                </c:pt>
                <c:pt idx="20">
                  <c:v>0.64797</c:v>
                </c:pt>
                <c:pt idx="21">
                  <c:v>0.66854</c:v>
                </c:pt>
                <c:pt idx="22">
                  <c:v>0.65802</c:v>
                </c:pt>
                <c:pt idx="23">
                  <c:v>0.68398</c:v>
                </c:pt>
                <c:pt idx="24">
                  <c:v>0.69707</c:v>
                </c:pt>
                <c:pt idx="25">
                  <c:v>0.68262</c:v>
                </c:pt>
                <c:pt idx="26">
                  <c:v>0.70052</c:v>
                </c:pt>
                <c:pt idx="27">
                  <c:v>0.68177</c:v>
                </c:pt>
                <c:pt idx="28">
                  <c:v>0.70984</c:v>
                </c:pt>
                <c:pt idx="29">
                  <c:v>0.67815</c:v>
                </c:pt>
                <c:pt idx="30">
                  <c:v>0.71342</c:v>
                </c:pt>
                <c:pt idx="31">
                  <c:v>0.70635</c:v>
                </c:pt>
                <c:pt idx="32">
                  <c:v>0.73703</c:v>
                </c:pt>
                <c:pt idx="33">
                  <c:v>0.72932</c:v>
                </c:pt>
                <c:pt idx="34">
                  <c:v>0.73942</c:v>
                </c:pt>
                <c:pt idx="35">
                  <c:v>0.73952</c:v>
                </c:pt>
                <c:pt idx="36">
                  <c:v>0.75034</c:v>
                </c:pt>
                <c:pt idx="37">
                  <c:v>0.7394</c:v>
                </c:pt>
                <c:pt idx="38">
                  <c:v>0.75999</c:v>
                </c:pt>
                <c:pt idx="39">
                  <c:v>0.7489</c:v>
                </c:pt>
                <c:pt idx="40">
                  <c:v>0.74948</c:v>
                </c:pt>
                <c:pt idx="41">
                  <c:v>0.75759</c:v>
                </c:pt>
                <c:pt idx="42">
                  <c:v>0.74822</c:v>
                </c:pt>
                <c:pt idx="43">
                  <c:v>0.76635</c:v>
                </c:pt>
                <c:pt idx="44">
                  <c:v>0.7683</c:v>
                </c:pt>
                <c:pt idx="45">
                  <c:v>0.7655</c:v>
                </c:pt>
                <c:pt idx="46">
                  <c:v>0.76424</c:v>
                </c:pt>
                <c:pt idx="47">
                  <c:v>0.77307</c:v>
                </c:pt>
                <c:pt idx="48">
                  <c:v>0.77603</c:v>
                </c:pt>
                <c:pt idx="49">
                  <c:v>0.77759</c:v>
                </c:pt>
                <c:pt idx="50">
                  <c:v>0.77944</c:v>
                </c:pt>
                <c:pt idx="51">
                  <c:v>0.78689</c:v>
                </c:pt>
                <c:pt idx="52">
                  <c:v>0.78017</c:v>
                </c:pt>
                <c:pt idx="53">
                  <c:v>0.79315</c:v>
                </c:pt>
                <c:pt idx="54">
                  <c:v>0.80369</c:v>
                </c:pt>
                <c:pt idx="55">
                  <c:v>0.78333</c:v>
                </c:pt>
                <c:pt idx="56">
                  <c:v>0.80087</c:v>
                </c:pt>
                <c:pt idx="57">
                  <c:v>0.79955</c:v>
                </c:pt>
                <c:pt idx="58">
                  <c:v>0.78668</c:v>
                </c:pt>
                <c:pt idx="59">
                  <c:v>0.79628</c:v>
                </c:pt>
                <c:pt idx="60">
                  <c:v>0.79284</c:v>
                </c:pt>
                <c:pt idx="61">
                  <c:v>0.80191</c:v>
                </c:pt>
                <c:pt idx="62">
                  <c:v>0.80336</c:v>
                </c:pt>
                <c:pt idx="63">
                  <c:v>0.80431</c:v>
                </c:pt>
                <c:pt idx="64">
                  <c:v>0.79427</c:v>
                </c:pt>
                <c:pt idx="65">
                  <c:v>0.80639</c:v>
                </c:pt>
                <c:pt idx="66">
                  <c:v>0.80611</c:v>
                </c:pt>
                <c:pt idx="67">
                  <c:v>0.81173</c:v>
                </c:pt>
                <c:pt idx="68">
                  <c:v>0.8103</c:v>
                </c:pt>
                <c:pt idx="69">
                  <c:v>0.80702</c:v>
                </c:pt>
                <c:pt idx="70">
                  <c:v>0.81273</c:v>
                </c:pt>
                <c:pt idx="71">
                  <c:v>0.80842</c:v>
                </c:pt>
                <c:pt idx="72">
                  <c:v>0.80768</c:v>
                </c:pt>
                <c:pt idx="73">
                  <c:v>0.80974</c:v>
                </c:pt>
                <c:pt idx="74">
                  <c:v>0.80962</c:v>
                </c:pt>
              </c:numCache>
            </c:numRef>
          </c:val>
          <c:smooth val="0"/>
        </c:ser>
        <c:dLbls>
          <c:numFmt formatCode="#,##0" sourceLinked="0"/>
          <c:txPr>
            <a:bodyPr/>
            <a:lstStyle/>
            <a:p>
              <a:pPr>
                <a:defRPr b="0" i="0" strike="noStrike" sz="1000" u="none">
                  <a:solidFill>
                    <a:srgbClr val="1B1D21"/>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5D8DD"/>
            </a:solidFill>
            <a:prstDash val="solid"/>
            <a:round/>
          </a:ln>
        </c:spPr>
        <c:txPr>
          <a:bodyPr/>
          <a:lstStyle/>
          <a:p>
            <a:pPr>
              <a:defRPr sz="1100" b="0" i="0" u="none" strike="noStrike">
                <a:solidFill>
                  <a:srgbClr val="5B6573"/>
                </a:solidFill>
                <a:latin typeface="+mn-lt"/>
              </a:defRPr>
            </a:pPr>
            <a:endParaRPr lang="en-US"/>
          </a:p>
        </c:txPr>
        <c:crossAx val="2094734552"/>
        <c:crosses val="autoZero"/>
        <c:auto val="1"/>
        <c:lblAlgn val="ctr"/>
        <c:noMultiLvlLbl val="1"/>
        <c:tickLblSkip val="10"/>
      </c:catAx>
      <c:valAx>
        <c:axId val="2094734552"/>
        <c:scaling>
          <c:orientation val="minMax"/>
          <c:max val="1"/>
          <c:min val="0.1"/>
        </c:scaling>
        <c:delete val="0"/>
        <c:axPos val="l"/>
        <c:majorGridlines>
          <c:spPr>
            <a:ln w="9525" cap="flat">
              <a:solidFill>
                <a:srgbClr val="E3E5E8"/>
              </a:solidFill>
              <a:prstDash val="solid"/>
              <a:round/>
            </a:ln>
          </c:spPr>
        </c:majorGridlines>
        <c:numFmt formatCode="0.0" sourceLinked="0"/>
        <c:majorTickMark val="out"/>
        <c:minorTickMark val="none"/>
        <c:tickLblPos val="nextTo"/>
        <c:spPr>
          <a:ln w="12700" cap="flat">
            <a:noFill/>
            <a:prstDash val="solid"/>
            <a:round/>
          </a:ln>
        </c:spPr>
        <c:txPr>
          <a:bodyPr/>
          <a:lstStyle/>
          <a:p>
            <a:pPr>
              <a:defRPr sz="1100" b="0" i="0" u="none" strike="noStrike">
                <a:solidFill>
                  <a:srgbClr val="5B6573"/>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B657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ms per image</c:v>
                </c:pt>
              </c:strCache>
            </c:strRef>
          </c:tx>
          <c:spPr>
            <a:solidFill>
              <a:srgbClr val="5B6573"/>
            </a:solidFill>
            <a:effectLst/>
          </c:spPr>
          <c:invertIfNegative val="0"/>
          <c:dLbls>
            <c:numFmt formatCode="0.0 &quot;ms&quot;" sourceLinked="0"/>
            <c:txPr>
              <a:bodyPr/>
              <a:lstStyle/>
              <a:p>
                <a:pPr>
                  <a:defRPr b="0" i="0" strike="noStrike" sz="1200" u="none">
                    <a:solidFill>
                      <a:srgbClr val="1B1D21"/>
                    </a:solidFill>
                    <a:latin typeface="+mn-lt"/>
                  </a:defRPr>
                </a:pPr>
              </a:p>
            </c:txPr>
            <c:showLegendKey val="0"/>
            <c:showVal val="1"/>
            <c:showCatName val="0"/>
            <c:showSerName val="0"/>
            <c:showPercent val="0"/>
            <c:showBubbleSize val="0"/>
            <c:showLeaderLines val="0"/>
          </c:dLbls>
          <c:dPt>
            <c:idx val="0"/>
            <c:invertIfNegative val="0"/>
            <c:bubble3D val="0"/>
            <c:spPr>
              <a:solidFill>
                <a:srgbClr val="5B6573"/>
              </a:solidFill>
              <a:effectLst/>
            </c:spPr>
          </c:dPt>
          <c:dPt>
            <c:idx val="1"/>
            <c:invertIfNegative val="0"/>
            <c:bubble3D val="0"/>
            <c:spPr>
              <a:solidFill>
                <a:srgbClr val="F5B400"/>
              </a:solidFill>
              <a:effectLst/>
            </c:spPr>
          </c:dPt>
          <c:dPt>
            <c:idx val="2"/>
            <c:invertIfNegative val="0"/>
            <c:bubble3D val="0"/>
            <c:spPr>
              <a:solidFill>
                <a:srgbClr val="2F6F99"/>
              </a:solidFill>
              <a:effectLst/>
            </c:spPr>
          </c:dPt>
          <c:cat>
            <c:multiLvlStrRef>
              <c:f>Sheet1!$A$2:$A$4</c:f>
              <c:multiLvlStrCache>
                <c:ptCount val="3"/>
                <c:lvl>
                  <c:pt idx="0">
                    <c:v>Validation</c:v>
                  </c:pt>
                  <c:pt idx="1">
                    <c:v>Test</c:v>
                  </c:pt>
                  <c:pt idx="2">
                    <c:v>Test with TTA</c:v>
                  </c:pt>
                </c:lvl>
              </c:multiLvlStrCache>
            </c:multiLvlStrRef>
          </c:cat>
          <c:val>
            <c:numRef>
              <c:f>Sheet1!$B$2:$B$4</c:f>
              <c:numCache>
                <c:formatCode>General</c:formatCode>
                <c:ptCount val="3"/>
                <c:pt idx="0">
                  <c:v>32.79</c:v>
                </c:pt>
                <c:pt idx="1">
                  <c:v>31.32</c:v>
                </c:pt>
                <c:pt idx="2">
                  <c:v>85.98</c:v>
                </c:pt>
              </c:numCache>
            </c:numRef>
          </c:val>
        </c:ser>
        <c:dLbls>
          <c:numFmt formatCode="0.0 &quot;ms&quot;" sourceLinked="0"/>
          <c:txPr>
            <a:bodyPr/>
            <a:lstStyle/>
            <a:p>
              <a:pPr>
                <a:defRPr b="0" i="0" strike="noStrike" sz="1200" u="none">
                  <a:solidFill>
                    <a:srgbClr val="1B1D21"/>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5D8DD"/>
            </a:solidFill>
            <a:prstDash val="solid"/>
            <a:round/>
          </a:ln>
        </c:spPr>
        <c:txPr>
          <a:bodyPr/>
          <a:lstStyle/>
          <a:p>
            <a:pPr>
              <a:defRPr sz="1200" b="0" i="0" u="none" strike="noStrike">
                <a:solidFill>
                  <a:srgbClr val="1B1D21"/>
                </a:solidFill>
                <a:latin typeface="+mn-lt"/>
              </a:defRPr>
            </a:pPr>
            <a:endParaRPr lang="en-US"/>
          </a:p>
        </c:txPr>
        <c:crossAx val="2094734552"/>
        <c:crosses val="autoZero"/>
        <c:auto val="1"/>
        <c:lblAlgn val="ctr"/>
        <c:noMultiLvlLbl val="1"/>
      </c:catAx>
      <c:valAx>
        <c:axId val="2094734552"/>
        <c:scaling>
          <c:orientation val="minMax"/>
          <c:max val="100"/>
          <c:min val="0"/>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5B657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D21"/>
                </a:solidFill>
                <a:latin typeface="+mn-lt"/>
              </a:defRPr>
            </a:pPr>
            <a:r>
              <a:rPr sz="1300" b="0" i="0" u="none" strike="noStrike">
                <a:solidFill>
                  <a:srgbClr val="1B1D21"/>
                </a:solidFill>
                <a:latin typeface="+mn-lt"/>
              </a:rPr>
              <a:t>AP@0.5 per class</a:t>
            </a:r>
          </a:p>
        </c:rich>
      </c:tx>
      <c:layout/>
      <c:overlay val="0"/>
    </c:title>
    <c:autoTitleDeleted val="0"/>
    <c:plotArea>
      <c:layout/>
      <c:barChart>
        <c:barDir val="col"/>
        <c:grouping val="clustered"/>
        <c:varyColors val="0"/>
        <c:ser>
          <c:idx val="0"/>
          <c:order val="0"/>
          <c:tx>
            <c:strRef>
              <c:f>Sheet1!$B$1</c:f>
              <c:strCache>
                <c:ptCount val="1"/>
                <c:pt idx="0">
                  <c:v>Validation</c:v>
                </c:pt>
              </c:strCache>
            </c:strRef>
          </c:tx>
          <c:spPr>
            <a:solidFill>
              <a:srgbClr val="5B6573"/>
            </a:solidFill>
            <a:effectLst/>
          </c:spPr>
          <c:invertIfNegative val="0"/>
          <c:dLbls>
            <c:numFmt formatCode="#,##0" sourceLinked="0"/>
            <c:txPr>
              <a:bodyPr/>
              <a:lstStyle/>
              <a:p>
                <a:pPr>
                  <a:defRPr b="0" i="0" strike="noStrike" sz="1000" u="none">
                    <a:solidFill>
                      <a:srgbClr val="1B1D21"/>
                    </a:solidFill>
                    <a:latin typeface="+mn-lt"/>
                  </a:defRPr>
                </a:pPr>
              </a:p>
            </c:txPr>
            <c:showLegendKey val="0"/>
            <c:showVal val="0"/>
            <c:showCatName val="0"/>
            <c:showSerName val="0"/>
            <c:showPercent val="0"/>
            <c:showBubbleSize val="0"/>
            <c:showLeaderLines val="0"/>
          </c:dLbls>
          <c:cat>
            <c:multiLvlStrRef>
              <c:f>Sheet1!$A$2:$A$11</c:f>
              <c:multiLvlStrCache>
                <c:ptCount val="10"/>
                <c:lvl>
                  <c:pt idx="0">
                    <c:v>Hardhat</c:v>
                  </c:pt>
                  <c:pt idx="1">
                    <c:v>Mask</c:v>
                  </c:pt>
                  <c:pt idx="2">
                    <c:v>NO-Hardhat</c:v>
                  </c:pt>
                  <c:pt idx="3">
                    <c:v>NO-Mask</c:v>
                  </c:pt>
                  <c:pt idx="4">
                    <c:v>NO-Safety Vest</c:v>
                  </c:pt>
                  <c:pt idx="5">
                    <c:v>Person</c:v>
                  </c:pt>
                  <c:pt idx="6">
                    <c:v>Safety Cone</c:v>
                  </c:pt>
                  <c:pt idx="7">
                    <c:v>Safety Vest</c:v>
                  </c:pt>
                  <c:pt idx="8">
                    <c:v>machinery</c:v>
                  </c:pt>
                  <c:pt idx="9">
                    <c:v>vehicle</c:v>
                  </c:pt>
                </c:lvl>
              </c:multiLvlStrCache>
            </c:multiLvlStrRef>
          </c:cat>
          <c:val>
            <c:numRef>
              <c:f>Sheet1!$B$2:$B$11</c:f>
              <c:numCache>
                <c:formatCode>General</c:formatCode>
                <c:ptCount val="10"/>
                <c:pt idx="0">
                  <c:v>0.8592</c:v>
                </c:pt>
                <c:pt idx="1">
                  <c:v>0.9763</c:v>
                </c:pt>
                <c:pt idx="2">
                  <c:v>0.8676</c:v>
                </c:pt>
                <c:pt idx="3">
                  <c:v>0.8249</c:v>
                </c:pt>
                <c:pt idx="4">
                  <c:v>0.9034</c:v>
                </c:pt>
                <c:pt idx="5">
                  <c:v>0.929</c:v>
                </c:pt>
                <c:pt idx="6">
                  <c:v>0.7027</c:v>
                </c:pt>
                <c:pt idx="7">
                  <c:v>0.8317</c:v>
                </c:pt>
                <c:pt idx="8">
                  <c:v>0.9555</c:v>
                </c:pt>
                <c:pt idx="9">
                  <c:v>0.8288</c:v>
                </c:pt>
              </c:numCache>
            </c:numRef>
          </c:val>
        </c:ser>
        <c:ser>
          <c:idx val="1"/>
          <c:order val="1"/>
          <c:tx>
            <c:strRef>
              <c:f>Sheet1!$C$1</c:f>
              <c:strCache>
                <c:ptCount val="1"/>
                <c:pt idx="0">
                  <c:v>Test</c:v>
                </c:pt>
              </c:strCache>
            </c:strRef>
          </c:tx>
          <c:spPr>
            <a:solidFill>
              <a:srgbClr val="F5B400"/>
            </a:solidFill>
            <a:effectLst/>
          </c:spPr>
          <c:invertIfNegative val="0"/>
          <c:dLbls>
            <c:numFmt formatCode="#,##0" sourceLinked="0"/>
            <c:txPr>
              <a:bodyPr/>
              <a:lstStyle/>
              <a:p>
                <a:pPr>
                  <a:defRPr b="0" i="0" strike="noStrike" sz="1000" u="none">
                    <a:solidFill>
                      <a:srgbClr val="1B1D21"/>
                    </a:solidFill>
                    <a:latin typeface="+mn-lt"/>
                  </a:defRPr>
                </a:pPr>
              </a:p>
            </c:txPr>
            <c:showLegendKey val="0"/>
            <c:showVal val="0"/>
            <c:showCatName val="0"/>
            <c:showSerName val="0"/>
            <c:showPercent val="0"/>
            <c:showBubbleSize val="0"/>
            <c:showLeaderLines val="0"/>
          </c:dLbls>
          <c:cat>
            <c:multiLvlStrRef>
              <c:f>Sheet1!$A$2:$A$11</c:f>
              <c:multiLvlStrCache>
                <c:ptCount val="10"/>
                <c:lvl>
                  <c:pt idx="0">
                    <c:v>Hardhat</c:v>
                  </c:pt>
                  <c:pt idx="1">
                    <c:v>Mask</c:v>
                  </c:pt>
                  <c:pt idx="2">
                    <c:v>NO-Hardhat</c:v>
                  </c:pt>
                  <c:pt idx="3">
                    <c:v>NO-Mask</c:v>
                  </c:pt>
                  <c:pt idx="4">
                    <c:v>NO-Safety Vest</c:v>
                  </c:pt>
                  <c:pt idx="5">
                    <c:v>Person</c:v>
                  </c:pt>
                  <c:pt idx="6">
                    <c:v>Safety Cone</c:v>
                  </c:pt>
                  <c:pt idx="7">
                    <c:v>Safety Vest</c:v>
                  </c:pt>
                  <c:pt idx="8">
                    <c:v>machinery</c:v>
                  </c:pt>
                  <c:pt idx="9">
                    <c:v>vehicle</c:v>
                  </c:pt>
                </c:lvl>
              </c:multiLvlStrCache>
            </c:multiLvlStrRef>
          </c:cat>
          <c:val>
            <c:numRef>
              <c:f>Sheet1!$C$2:$C$11</c:f>
              <c:numCache>
                <c:formatCode>General</c:formatCode>
                <c:ptCount val="10"/>
                <c:pt idx="0">
                  <c:v>0.7975</c:v>
                </c:pt>
                <c:pt idx="1">
                  <c:v>0.9432</c:v>
                </c:pt>
                <c:pt idx="2">
                  <c:v>0.8894</c:v>
                </c:pt>
                <c:pt idx="3">
                  <c:v>0.8055</c:v>
                </c:pt>
                <c:pt idx="4">
                  <c:v>0.8782</c:v>
                </c:pt>
                <c:pt idx="5">
                  <c:v>0.925</c:v>
                </c:pt>
                <c:pt idx="6">
                  <c:v>0.7447</c:v>
                </c:pt>
                <c:pt idx="7">
                  <c:v>0.8273</c:v>
                </c:pt>
                <c:pt idx="8">
                  <c:v>0.9565</c:v>
                </c:pt>
                <c:pt idx="9">
                  <c:v>0.8914</c:v>
                </c:pt>
              </c:numCache>
            </c:numRef>
          </c:val>
        </c:ser>
        <c:ser>
          <c:idx val="2"/>
          <c:order val="2"/>
          <c:tx>
            <c:strRef>
              <c:f>Sheet1!$D$1</c:f>
              <c:strCache>
                <c:ptCount val="1"/>
                <c:pt idx="0">
                  <c:v>Test with TTA</c:v>
                </c:pt>
              </c:strCache>
            </c:strRef>
          </c:tx>
          <c:spPr>
            <a:solidFill>
              <a:srgbClr val="2F6F99"/>
            </a:solidFill>
            <a:effectLst/>
          </c:spPr>
          <c:invertIfNegative val="0"/>
          <c:dLbls>
            <c:numFmt formatCode="#,##0" sourceLinked="0"/>
            <c:txPr>
              <a:bodyPr/>
              <a:lstStyle/>
              <a:p>
                <a:pPr>
                  <a:defRPr b="0" i="0" strike="noStrike" sz="1000" u="none">
                    <a:solidFill>
                      <a:srgbClr val="1B1D21"/>
                    </a:solidFill>
                    <a:latin typeface="+mn-lt"/>
                  </a:defRPr>
                </a:pPr>
              </a:p>
            </c:txPr>
            <c:showLegendKey val="0"/>
            <c:showVal val="0"/>
            <c:showCatName val="0"/>
            <c:showSerName val="0"/>
            <c:showPercent val="0"/>
            <c:showBubbleSize val="0"/>
            <c:showLeaderLines val="0"/>
          </c:dLbls>
          <c:cat>
            <c:multiLvlStrRef>
              <c:f>Sheet1!$A$2:$A$11</c:f>
              <c:multiLvlStrCache>
                <c:ptCount val="10"/>
                <c:lvl>
                  <c:pt idx="0">
                    <c:v>Hardhat</c:v>
                  </c:pt>
                  <c:pt idx="1">
                    <c:v>Mask</c:v>
                  </c:pt>
                  <c:pt idx="2">
                    <c:v>NO-Hardhat</c:v>
                  </c:pt>
                  <c:pt idx="3">
                    <c:v>NO-Mask</c:v>
                  </c:pt>
                  <c:pt idx="4">
                    <c:v>NO-Safety Vest</c:v>
                  </c:pt>
                  <c:pt idx="5">
                    <c:v>Person</c:v>
                  </c:pt>
                  <c:pt idx="6">
                    <c:v>Safety Cone</c:v>
                  </c:pt>
                  <c:pt idx="7">
                    <c:v>Safety Vest</c:v>
                  </c:pt>
                  <c:pt idx="8">
                    <c:v>machinery</c:v>
                  </c:pt>
                  <c:pt idx="9">
                    <c:v>vehicle</c:v>
                  </c:pt>
                </c:lvl>
              </c:multiLvlStrCache>
            </c:multiLvlStrRef>
          </c:cat>
          <c:val>
            <c:numRef>
              <c:f>Sheet1!$D$2:$D$11</c:f>
              <c:numCache>
                <c:formatCode>General</c:formatCode>
                <c:ptCount val="10"/>
                <c:pt idx="0">
                  <c:v>0.7928</c:v>
                </c:pt>
                <c:pt idx="1">
                  <c:v>0.9514</c:v>
                </c:pt>
                <c:pt idx="2">
                  <c:v>0.8796</c:v>
                </c:pt>
                <c:pt idx="3">
                  <c:v>0.7891</c:v>
                </c:pt>
                <c:pt idx="4">
                  <c:v>0.883</c:v>
                </c:pt>
                <c:pt idx="5">
                  <c:v>0.9201</c:v>
                </c:pt>
                <c:pt idx="6">
                  <c:v>0.7146</c:v>
                </c:pt>
                <c:pt idx="7">
                  <c:v>0.8167</c:v>
                </c:pt>
                <c:pt idx="8">
                  <c:v>0.9621</c:v>
                </c:pt>
                <c:pt idx="9">
                  <c:v>0.8938</c:v>
                </c:pt>
              </c:numCache>
            </c:numRef>
          </c:val>
        </c:ser>
        <c:dLbls>
          <c:numFmt formatCode="#,##0" sourceLinked="0"/>
          <c:txPr>
            <a:bodyPr/>
            <a:lstStyle/>
            <a:p>
              <a:pPr>
                <a:defRPr b="0" i="0" strike="noStrike" sz="1000" u="none">
                  <a:solidFill>
                    <a:srgbClr val="1B1D21"/>
                  </a:solidFill>
                  <a:latin typeface="+mn-lt"/>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5D8DD"/>
            </a:solidFill>
            <a:prstDash val="solid"/>
            <a:round/>
          </a:ln>
        </c:spPr>
        <c:txPr>
          <a:bodyPr/>
          <a:lstStyle/>
          <a:p>
            <a:pPr>
              <a:defRPr sz="1100" b="0" i="0" u="none" strike="noStrike">
                <a:solidFill>
                  <a:srgbClr val="5B6573"/>
                </a:solidFill>
                <a:latin typeface="+mn-lt"/>
              </a:defRPr>
            </a:pPr>
            <a:endParaRPr lang="en-US"/>
          </a:p>
        </c:txPr>
        <c:crossAx val="2094734552"/>
        <c:crosses val="autoZero"/>
        <c:auto val="1"/>
        <c:lblAlgn val="ctr"/>
        <c:noMultiLvlLbl val="1"/>
      </c:catAx>
      <c:valAx>
        <c:axId val="2094734552"/>
        <c:scaling>
          <c:orientation val="minMax"/>
          <c:max val="1"/>
          <c:min val="0.6"/>
        </c:scaling>
        <c:delete val="0"/>
        <c:axPos val="l"/>
        <c:majorGridlines>
          <c:spPr>
            <a:ln w="9525" cap="flat">
              <a:solidFill>
                <a:srgbClr val="E3E5E8"/>
              </a:solidFill>
              <a:prstDash val="solid"/>
              <a:round/>
            </a:ln>
          </c:spPr>
        </c:majorGridlines>
        <c:numFmt formatCode="0.0" sourceLinked="0"/>
        <c:majorTickMark val="out"/>
        <c:minorTickMark val="none"/>
        <c:tickLblPos val="nextTo"/>
        <c:spPr>
          <a:ln w="12700" cap="flat">
            <a:noFill/>
            <a:prstDash val="solid"/>
            <a:round/>
          </a:ln>
        </c:spPr>
        <c:txPr>
          <a:bodyPr/>
          <a:lstStyle/>
          <a:p>
            <a:pPr>
              <a:defRPr sz="1100" b="0" i="0" u="none" strike="noStrike">
                <a:solidFill>
                  <a:srgbClr val="5B6573"/>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B6573"/>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fine-tuned YOLO11m to detect PPE and the explicit absence of PPE, then built the decision layer: a compliance rule, five-frame temporal confirmation for video, and a dashboard for incident review. Headline: test mAP@0.5 of 0.8659 at 31.3 ms per image on one T4 GPU. The image on the right is real model output from the held-out test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Construction is one of the most hazardous industries and missing PPE is a recurring contributor to injuries. Manual inspection is labour-intensive and intermittent. Reviews of computer vision for construction safety [1, 2] treat PPE monitoring as a central application. Most published detectors stop at accuracy; a deployment also needs rules, filtering of single-frame video errors, and an interface for safety staff. Our four objectives address both the detector and that missing decision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Progression from classical vision [3, 5] to deep detectors [4, 6, 7, 8, 9, 11]. Base paper: Ferdous and Ahsan [10], anchor-free YOLOX on CHVG with colour-coded hardhats, vests and safety glasses; YOLOX-m best of four variants at 89.84% average mAP. Results are of a similar order to ours but not directly comparable: datasets, class sets and splits differ. The gap is the path from detections to incidents.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pipeline left to right. The dashboard uploads a photo or starts a video job. Every frame goes through YOLO11m, then the compliance rule turns boxes into violations and person counts. For video, the temporal filter confirms violations before an incident is logged with an annotated snapshot. Photos have no temporal context, so a detected violation raises an incident directly. Session metrics, incidents and the compliance score return to the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dataset labels absence of PPE as explicit classes, so violations are detected directly rather than inferred from a person box without matching PPE. NO-Hardhat and NO-Safety Vest raise incidents; NO-Mask is advisory only. A frame is compliant when at least one person is present and both required items are detected. The score is frame-level: c_t is at most one per frame, so it understates compliance when several compliant workers share a frame. Per-worker association is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violation class is confirmed only when it was detected in each of the last W = 5 frames. In the strip, t1 is an isolated detection and is suppressed; the run from t3 reaches five at t7, which raises one incident with a snapshot and starts a 2 s cooldown. Buffers are kept per video job so concurrent videos cannot interfere. Limitation: an error that persists across frames, such as a NO-Hardhat worker consistently labelled Hardhat, is not corrected.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YOLO11m from Ultralytics [12], initialised from COCO weights [13]. Backbone: strided convolutions, C3k2 blocks, SPPF [14] and C2PSA attention. Neck: top-down and bottom-up fusion after FPN [15] and PANet [16]. Anchor-free decoupled head at strides 8, 16 and 32. 231 layers, 20,060,718 parameters, 68.3 GFLOPs at 640 px; fused for inference: 125 layers, 20,037,742 parameters, 67.8 GFLOPs. All 649 pretrained tensors transferred; the head was resized from 80 to 10 classes and its Person row initialised from COCO. Loss weights: box 7.5, classification 0.5, distribution focal loss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Construction Site Safety Image Dataset from Roboflow via Kaggle [17], YOLO-format labels for the 10 classes. Original folders were pooled and re-split 80/10/10 with scikit-learn, stratified by each image's dominant class with seed 42; groups under five images were merged into a background group. Every class keeps a similar share in each split. The data is imbalanced: Person has 9,872 boxes, about six times vehicle (1,628) or Mask (1,700).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Kaggle, two Tesla T4 GPUs (15 GB each), 4 CPU cores, 33.7 GB RAM; Ultralytics 8.4.171, PyTorch 2.10.0, CUDA 12.8. Distributed data-parallel [18] with automatic mixed precision. A wall-clock budget of 0.70 h instead of a fixed epoch count; the library fitted epochs and the cosine schedule to it, with 200 as an upper bound. 75 epochs ran, best epoch 72. GPU utilisation mostly 85 to 100%, about 8.3 GB per GPU, peaks 8,677 and 8,543 MB of 15,360. Patience 100 epochs, image cache in RAM. Whole notebook 44.88 min, training 43.49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metrics per epoch, from results.csv. Best epoch 72 with validation mAP@0.5 0.8692 and mAP@0.5:0.95 0.6375. From epoch 68, mAP@0.5:0.95 stays between 0.632 and 0.638, so training ended on a plateau rather than being cut off while improving. Training losses step down at epoch 66 when mosaic is switched off. Validation losses rise briefly in epochs 3 to 6 after warm-up. The learning rate decays to 1.04e-4 by epoch 75.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best.pt evaluated at 640 px, fp16, batch 16 on one T4. AP follows the VOC precision-recall protocol [19]; mAP@0.5:0.95 averages ten IoU thresholds as in COCO [13]. Validation and test are within 0.002 mAP@0.5, so checkpoint selection did not overfit. Precision 0.91 is clearly above recall 0.81: errors are mostly missed objects, not false alarms. The two incident classes are above the mean: NO-Hardhat AP@0.5 0.8894, NO-Safety Vest 0.8782. Inside training, preprocessing, inference and postprocessing took 1.3, 15.0 and 6.2 ms; predicting all 281 test images ran at 35.9 images per second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evaluator's F1 against confidence on the test split. The all-class F1 peaks at 0.85 at confidence 0.362 on a broad plateau, so the deployed default of 0.40 sits in a stable region, not on a sharp optimum. Right: TTA with flip and scale took 86.0 ms per image, 2.7 times plain inference, lowered mAP@0.5 from 0.8659 to 0.8603 and raised only mAP@0.5:0.95, from 0.6158 to 0.6206. TTA moves most classes by less than 0.01; the largest change is a drop for Safety Cone from 0.7447 to 0.7146. The deployed backend does not use TTA.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Per-class AP@0.5 on validation, test and test with TTA. Best on test: machinery 0.9565, Mask 0.9432, Person 0.9250. Safety Cone is weakest on every split, 0.7447 AP@0.5 and only 0.3963 AP@0.5:0.95, reflecting how small and thin cones are. Hardhat has the largest validation-to-test drop, 0.8592 to 0.7975. NO-Mask 0.8055 and Safety Vest 0.8273 are also below the mean. Both incident classes are above the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Normalised test confusion matrix, columns are true classes. Diagonal from 0.63 for Safety Vest to 0.96 for machinery. Missed detection is the largest error: 16% of Hardhat and 14% each of Safety Cone and Safety Vest boxes are predicted as background; 12% of NO-Mask and 9% of NO-Safety Vest are missed. 10% of Safety Vest boxes are predicted as Person, since a vest lies inside a person box. Against background, 28% of false positives are Person and 16% Safety Cone. Two swaps matter for safety: NO-Hardhat as Hardhat hides a violation; Safety Vest as NO-Safety Vest raises a false alarm. The temporal filter only suppresses errors shorter than five frames.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test images from Backend/output/predictions. Workers with and without PPE, masks, machinery, vehicles and cones are detected at several scales. NO-Safety Vest and NO-Hardhat are detected directly as classes. Small cones crowd together near the horizon, matching their low AP. Many dataset images are composites of four photographs (see sample_predictions.png).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Backend: FastAPI with layers enforced by import-linter; the detection package has no FastAPI or persistence code. The detector serialises predict with a lock because YOLO is not thread safe; video jobs run as background tasks with per-job temporal buffers. State is kept in atomic JSON files. Endpoints cover health, config and thresholds, model reload, image detection, video jobs and progress, metrics, incidents and session state. Frontend: React 18, TypeScript, Vite, Tailwind, shadcn/ui; Overview, Analyse and Incidents pages; CSV export. Deployment: extract the notebook's outputs.zip into Backend/output/ and run npm run dev. Tests use a fake detector; npm run check runs all lint, type, boundary, test and build checks, also in CI. The screenshot shows the empty state before any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Findings as listed. Limitations: one training run on one split with no cross-validation or external test set; the score is frame-level and not per worker; W and the cooldown were set by design, so false-alarm reduction is unmeasured; video jobs live in memory and share one inference lock; the frontend does not send the optional API key and the accuracy tile is a fixed number. Next steps: per-worker association and tracking, tuning on annotated video, cross-site evaluation, small-object improvements, comparison with RT-DETR [20], and a database plus job queue for multi-host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Peer-reviewed references were resolved from their DOIs through Crossref for the accompanying paper (Materials/paper/refs.bib). Numbered in order of first citation in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Likely questions: why YOLO11m rather than a smaller model (accuracy within a 31 ms budget); why not TTA (2.7x slower, no mAP@0.5 gain); how the five-frame window was chosen (by design, tuning is future work); how the score handles several workers (frame-level approximation, per-worker association is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5852160" cy="19202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658368"/>
            <a:ext cx="11094415" cy="64008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3" name="Text 0"/>
          <p:cNvSpPr/>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chemeClr val="accent4"/>
                </a:solidFill>
              </a:rPr>
              <a:t>Real-time PPE compliance monitoring  |  Vellore Institute of Technology</a:t>
            </a:r>
            <a:endParaRPr lang="en-US" sz="1000" dirty="0"/>
          </a:p>
        </p:txBody>
      </p:sp>
      <p:sp>
        <p:nvSpPr>
          <p:cNvPr id="25" name="Slide Number Placeholder 0"/>
          <p:cNvSpPr>
            <a:spLocks noGrp="1"/>
          </p:cNvSpPr>
          <p:nvPr>
            <p:ph type="sldNum" sz="quarter" idx="4294967295"/>
          </p:nvPr>
        </p:nvSpPr>
        <p:spPr>
          <a:xfrm>
            <a:off x="11091672" y="640080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11094415" cy="10972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0080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chart" Target="/ppt/charts/chart3.xml"/><Relationship Id="rId1" Type="http://schemas.openxmlformats.org/officeDocument/2006/relationships/image" Target="../media/image-12-1.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slideLayout" Target="../slideLayouts/slideLayout3.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463040"/>
            <a:ext cx="5852160" cy="256032"/>
          </a:xfrm>
          <a:prstGeom prst="rect">
            <a:avLst/>
          </a:prstGeom>
          <a:noFill/>
          <a:ln/>
        </p:spPr>
        <p:txBody>
          <a:bodyPr wrap="square" lIns="0" tIns="0" rIns="0" bIns="0" rtlCol="0" anchor="t"/>
          <a:lstStyle/>
          <a:p>
            <a:pPr indent="0" marL="0">
              <a:buNone/>
            </a:pPr>
            <a:r>
              <a:rPr lang="en-US" sz="1100" b="1" spc="150" kern="0" dirty="0">
                <a:solidFill>
                  <a:schemeClr val="accent1"/>
                </a:solidFill>
              </a:rPr>
              <a:t>VELLORE INSTITUTE OF TECHNOLOGY</a:t>
            </a:r>
            <a:endParaRPr lang="en-US" sz="1100" dirty="0"/>
          </a:p>
        </p:txBody>
      </p:sp>
      <p:sp>
        <p:nvSpPr>
          <p:cNvPr id="3" name="Text 0"/>
          <p:cNvSpPr/>
          <p:nvPr>
            <p:ph idx="100" type="title" hasCustomPrompt="1"/>
          </p:nvPr>
        </p:nvSpPr>
        <p:spPr>
          <a:xfrm>
            <a:off x="548640" y="1828800"/>
            <a:ext cx="5852160" cy="1920240"/>
          </a:xfrm>
          <a:prstGeom prst="rect">
            <a:avLst/>
          </a:prstGeom>
          <a:noFill/>
          <a:ln/>
        </p:spPr>
        <p:txBody>
          <a:bodyPr wrap="square" lIns="0" tIns="0" rIns="0" bIns="0" rtlCol="0" anchor="b"/>
          <a:lstStyle/>
          <a:p>
            <a:pPr algn="l" indent="0" marL="0">
              <a:buNone/>
            </a:pPr>
            <a:r>
              <a:rPr lang="en-US" sz="4000" b="1" dirty="0">
                <a:solidFill>
                  <a:schemeClr val="bg1"/>
                </a:solidFill>
              </a:rPr>
              <a:t>Real-time PPE compliance monitoring on construction sites</a:t>
            </a:r>
            <a:endParaRPr lang="en-US" sz="4000" dirty="0"/>
          </a:p>
        </p:txBody>
      </p:sp>
      <p:sp>
        <p:nvSpPr>
          <p:cNvPr id="4" name="Text 2"/>
          <p:cNvSpPr txBox="1"/>
          <p:nvPr/>
        </p:nvSpPr>
        <p:spPr>
          <a:xfrm>
            <a:off x="548640" y="3931920"/>
            <a:ext cx="5669280" cy="731520"/>
          </a:xfrm>
          <a:prstGeom prst="rect">
            <a:avLst/>
          </a:prstGeom>
          <a:noFill/>
          <a:ln/>
        </p:spPr>
        <p:txBody>
          <a:bodyPr wrap="square" lIns="0" tIns="0" rIns="0" bIns="0" rtlCol="0" anchor="t"/>
          <a:lstStyle/>
          <a:p>
            <a:pPr indent="0" marL="0">
              <a:buNone/>
            </a:pPr>
            <a:r>
              <a:rPr lang="en-US" sz="2000" dirty="0">
                <a:solidFill>
                  <a:srgbClr val="C9CDD3"/>
                </a:solidFill>
              </a:rPr>
              <a:t>A fine-tuned YOLO11m detector with temporal violation confirmation</a:t>
            </a:r>
            <a:endParaRPr lang="en-US" sz="2000" dirty="0"/>
          </a:p>
        </p:txBody>
      </p:sp>
      <p:sp>
        <p:nvSpPr>
          <p:cNvPr id="5" name="rule"/>
          <p:cNvSpPr/>
          <p:nvPr/>
        </p:nvSpPr>
        <p:spPr>
          <a:xfrm>
            <a:off x="548640" y="4892040"/>
            <a:ext cx="5669280" cy="0"/>
          </a:xfrm>
          <a:prstGeom prst="line">
            <a:avLst/>
          </a:prstGeom>
          <a:noFill/>
          <a:ln w="9525">
            <a:solidFill>
              <a:srgbClr val="4A4F57"/>
            </a:solidFill>
            <a:prstDash val="solid"/>
          </a:ln>
        </p:spPr>
      </p:sp>
      <p:sp>
        <p:nvSpPr>
          <p:cNvPr id="6" name="Text 4"/>
          <p:cNvSpPr txBox="1"/>
          <p:nvPr/>
        </p:nvSpPr>
        <p:spPr>
          <a:xfrm>
            <a:off x="548640" y="5074920"/>
            <a:ext cx="5852160" cy="914400"/>
          </a:xfrm>
          <a:prstGeom prst="rect">
            <a:avLst/>
          </a:prstGeom>
          <a:noFill/>
          <a:ln/>
        </p:spPr>
        <p:txBody>
          <a:bodyPr wrap="square" lIns="0" tIns="0" rIns="0" bIns="0" rtlCol="0" anchor="t"/>
          <a:lstStyle/>
          <a:p>
            <a:pPr indent="0" marL="0">
              <a:spcAft>
                <a:spcPts val="400"/>
              </a:spcAft>
              <a:buNone/>
            </a:pPr>
            <a:r>
              <a:rPr lang="en-US" sz="1400" b="1" dirty="0">
                <a:solidFill>
                  <a:schemeClr val="bg1"/>
                </a:solidFill>
              </a:rPr>
              <a:t>Parth Mital (23BCE0842)  |  Jainish Patel (23BCE0503)</a:t>
            </a:r>
            <a:endParaRPr lang="en-US" sz="1400" dirty="0"/>
          </a:p>
          <a:p>
            <a:pPr indent="0" marL="0">
              <a:spcAft>
                <a:spcPts val="400"/>
              </a:spcAft>
              <a:buNone/>
            </a:pPr>
            <a:r>
              <a:rPr lang="en-US" sz="1400" dirty="0">
                <a:solidFill>
                  <a:schemeClr val="bg1"/>
                </a:solidFill>
              </a:rPr>
              <a:t>Guide: Dr. Rajesh Kumar N, Department of IoT</a:t>
            </a:r>
            <a:endParaRPr lang="en-US" sz="1400" dirty="0"/>
          </a:p>
          <a:p>
            <a:pPr indent="0" marL="0">
              <a:spcAft>
                <a:spcPts val="400"/>
              </a:spcAft>
              <a:buNone/>
            </a:pPr>
            <a:r>
              <a:rPr lang="en-US" sz="1400" dirty="0">
                <a:solidFill>
                  <a:schemeClr val="bg1"/>
                </a:solidFill>
              </a:rPr>
              <a:t>School of Computer Science and Engineering</a:t>
            </a:r>
            <a:endParaRPr lang="en-US" sz="1400" dirty="0"/>
          </a:p>
        </p:txBody>
      </p:sp>
      <p:pic>
        <p:nvPicPr>
          <p:cNvPr id="7" name="Image 0" descr="Model output on a held-out test image: a worker detected with Hardhat and NO-Safety Vest">    </p:cNvPr>
          <p:cNvPicPr>
            <a:picLocks noChangeAspect="1"/>
          </p:cNvPicPr>
          <p:nvPr/>
        </p:nvPicPr>
        <p:blipFill>
          <a:blip r:embed="rId1"/>
          <a:stretch>
            <a:fillRect/>
          </a:stretch>
        </p:blipFill>
        <p:spPr>
          <a:xfrm>
            <a:off x="6949440" y="0"/>
            <a:ext cx="5242255" cy="6858000"/>
          </a:xfrm>
          <a:prstGeom prst="rect">
            <a:avLst/>
          </a:prstGeom>
        </p:spPr>
      </p:pic>
      <p:sp>
        <p:nvSpPr>
          <p:cNvPr id="8" name="caption band"/>
          <p:cNvSpPr/>
          <p:nvPr/>
        </p:nvSpPr>
        <p:spPr>
          <a:xfrm>
            <a:off x="6949440" y="6263640"/>
            <a:ext cx="5242255" cy="594360"/>
          </a:xfrm>
          <a:prstGeom prst="rect">
            <a:avLst/>
          </a:prstGeom>
          <a:solidFill>
            <a:schemeClr val="tx1">
              <a:alpha val="75000"/>
            </a:schemeClr>
          </a:solidFill>
          <a:ln/>
        </p:spPr>
      </p:sp>
      <p:sp>
        <p:nvSpPr>
          <p:cNvPr id="9" name="Text 6"/>
          <p:cNvSpPr txBox="1"/>
          <p:nvPr/>
        </p:nvSpPr>
        <p:spPr>
          <a:xfrm>
            <a:off x="7223760" y="6419088"/>
            <a:ext cx="4693615" cy="274320"/>
          </a:xfrm>
          <a:prstGeom prst="rect">
            <a:avLst/>
          </a:prstGeom>
          <a:noFill/>
          <a:ln/>
        </p:spPr>
        <p:txBody>
          <a:bodyPr wrap="square" lIns="0" tIns="0" rIns="0" bIns="0" rtlCol="0" anchor="t"/>
          <a:lstStyle/>
          <a:p>
            <a:pPr indent="0" marL="0">
              <a:buNone/>
            </a:pPr>
            <a:r>
              <a:rPr lang="en-US" sz="1100" dirty="0">
                <a:solidFill>
                  <a:schemeClr val="bg1"/>
                </a:solidFill>
              </a:rPr>
              <a:t>Model output on a held-out test image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84048"/>
            <a:ext cx="11094415" cy="256032"/>
          </a:xfrm>
          <a:prstGeom prst="rect">
            <a:avLst/>
          </a:prstGeom>
          <a:noFill/>
          <a:ln/>
        </p:spPr>
        <p:txBody>
          <a:bodyPr wrap="square" lIns="0" tIns="0" rIns="0" bIns="0" rtlCol="0" anchor="t"/>
          <a:lstStyle/>
          <a:p>
            <a:pPr indent="0" marL="0">
              <a:buNone/>
            </a:pPr>
            <a:r>
              <a:rPr lang="en-US" sz="1100" b="1" spc="150" kern="0" dirty="0">
                <a:solidFill>
                  <a:schemeClr val="accent4"/>
                </a:solidFill>
              </a:rPr>
              <a:t>INTRODUCTION</a:t>
            </a:r>
            <a:endParaRPr lang="en-US" sz="1100" dirty="0"/>
          </a:p>
        </p:txBody>
      </p:sp>
      <p:sp>
        <p:nvSpPr>
          <p:cNvPr id="3" name="Text 0"/>
          <p:cNvSpPr/>
          <p:nvPr>
            <p:ph idx="100"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3600" b="1" dirty="0">
                <a:solidFill>
                  <a:schemeClr val="tx1"/>
                </a:solidFill>
              </a:rPr>
              <a:t>Problem and objectives</a:t>
            </a:r>
            <a:endParaRPr lang="en-US" sz="3600" dirty="0"/>
          </a:p>
        </p:txBody>
      </p:sp>
      <p:sp>
        <p:nvSpPr>
          <p:cNvPr id="5" name="Text 2"/>
          <p:cNvSpPr txBox="1"/>
          <p:nvPr/>
        </p:nvSpPr>
        <p:spPr>
          <a:xfrm>
            <a:off x="548640" y="1554480"/>
            <a:ext cx="5029200" cy="365760"/>
          </a:xfrm>
          <a:prstGeom prst="rect">
            <a:avLst/>
          </a:prstGeom>
          <a:noFill/>
          <a:ln/>
        </p:spPr>
        <p:txBody>
          <a:bodyPr wrap="square" lIns="0" tIns="0" rIns="0" bIns="0" rtlCol="0" anchor="t"/>
          <a:lstStyle/>
          <a:p>
            <a:pPr indent="0" marL="0">
              <a:buNone/>
            </a:pPr>
            <a:r>
              <a:rPr lang="en-US" sz="1800" b="1" dirty="0">
                <a:solidFill>
                  <a:schemeClr val="tx1"/>
                </a:solidFill>
              </a:rPr>
              <a:t>The problem</a:t>
            </a:r>
            <a:endParaRPr lang="en-US" sz="1800" dirty="0"/>
          </a:p>
        </p:txBody>
      </p:sp>
      <p:sp>
        <p:nvSpPr>
          <p:cNvPr id="6" name="Text 3"/>
          <p:cNvSpPr txBox="1"/>
          <p:nvPr/>
        </p:nvSpPr>
        <p:spPr>
          <a:xfrm>
            <a:off x="548640" y="2057400"/>
            <a:ext cx="5029200" cy="2194560"/>
          </a:xfrm>
          <a:prstGeom prst="rect">
            <a:avLst/>
          </a:prstGeom>
          <a:noFill/>
          <a:ln/>
        </p:spPr>
        <p:txBody>
          <a:bodyPr wrap="square" lIns="0" tIns="0" rIns="0" bIns="0" rtlCol="0" anchor="t"/>
          <a:lstStyle/>
          <a:p>
            <a:pPr indent="0" marL="0">
              <a:spcAft>
                <a:spcPts val="1000"/>
              </a:spcAft>
              <a:buNone/>
            </a:pPr>
            <a:r>
              <a:rPr lang="en-US" sz="1400" b="1" dirty="0">
                <a:solidFill>
                  <a:schemeClr val="tx1"/>
                </a:solidFill>
              </a:rPr>
              <a:t>Injuries: </a:t>
            </a:r>
            <a:pPr indent="0" marL="0">
              <a:buNone/>
            </a:pPr>
            <a:r>
              <a:rPr lang="en-US" sz="1400" dirty="0">
                <a:solidFill>
                  <a:schemeClr val="tx1"/>
                </a:solidFill>
              </a:rPr>
              <a:t>missing hardhats and hi-vis vests are a recurring cause of harm on site</a:t>
            </a:r>
            <a:endParaRPr lang="en-US" sz="1400" dirty="0"/>
          </a:p>
          <a:p>
            <a:pPr indent="0" marL="0">
              <a:spcAft>
                <a:spcPts val="1000"/>
              </a:spcAft>
              <a:buNone/>
            </a:pPr>
            <a:r>
              <a:rPr lang="en-US" sz="1400" b="1" dirty="0">
                <a:solidFill>
                  <a:schemeClr val="tx1"/>
                </a:solidFill>
              </a:rPr>
              <a:t>Manual checks: </a:t>
            </a:r>
            <a:pPr indent="0" marL="0">
              <a:buNone/>
            </a:pPr>
            <a:r>
              <a:rPr lang="en-US" sz="1400" dirty="0">
                <a:solidFill>
                  <a:schemeClr val="tx1"/>
                </a:solidFill>
              </a:rPr>
              <a:t>officers walk the site, which is labour-intensive, intermittent and hard to scale</a:t>
            </a:r>
            <a:endParaRPr lang="en-US" sz="1400" dirty="0"/>
          </a:p>
          <a:p>
            <a:pPr indent="0" marL="0">
              <a:spcAft>
                <a:spcPts val="1000"/>
              </a:spcAft>
              <a:buNone/>
            </a:pPr>
            <a:r>
              <a:rPr lang="en-US" sz="1400" b="1" dirty="0">
                <a:solidFill>
                  <a:schemeClr val="tx1"/>
                </a:solidFill>
              </a:rPr>
              <a:t>Detection is not a decision: </a:t>
            </a:r>
            <a:pPr indent="0" marL="0">
              <a:buNone/>
            </a:pPr>
            <a:r>
              <a:rPr lang="en-US" sz="1400" dirty="0">
                <a:solidFill>
                  <a:schemeClr val="tx1"/>
                </a:solidFill>
              </a:rPr>
              <a:t>most published PPE detectors stop at box accuracy [1, 2]</a:t>
            </a:r>
            <a:endParaRPr lang="en-US" sz="1400" dirty="0"/>
          </a:p>
        </p:txBody>
      </p:sp>
      <p:sp>
        <p:nvSpPr>
          <p:cNvPr id="7" name="deployment needs"/>
          <p:cNvSpPr/>
          <p:nvPr/>
        </p:nvSpPr>
        <p:spPr>
          <a:xfrm>
            <a:off x="548640" y="4069080"/>
            <a:ext cx="5029200" cy="1828800"/>
          </a:xfrm>
          <a:prstGeom prst="rect">
            <a:avLst/>
          </a:prstGeom>
          <a:solidFill>
            <a:srgbClr val="FFF4CC"/>
          </a:solidFill>
          <a:ln w="12700">
            <a:solidFill>
              <a:srgbClr val="FFF4CC"/>
            </a:solidFill>
            <a:prstDash val="solid"/>
          </a:ln>
        </p:spPr>
      </p:sp>
      <p:sp>
        <p:nvSpPr>
          <p:cNvPr id="8" name="Text 5"/>
          <p:cNvSpPr txBox="1"/>
          <p:nvPr/>
        </p:nvSpPr>
        <p:spPr>
          <a:xfrm>
            <a:off x="822960" y="4251960"/>
            <a:ext cx="4480560" cy="1463040"/>
          </a:xfrm>
          <a:prstGeom prst="rect">
            <a:avLst/>
          </a:prstGeom>
          <a:noFill/>
          <a:ln/>
        </p:spPr>
        <p:txBody>
          <a:bodyPr wrap="square" lIns="0" tIns="0" rIns="0" bIns="0" rtlCol="0" anchor="ctr"/>
          <a:lstStyle/>
          <a:p>
            <a:pPr indent="0" marL="0">
              <a:spcAft>
                <a:spcPts val="400"/>
              </a:spcAft>
              <a:buNone/>
            </a:pPr>
            <a:r>
              <a:rPr lang="en-US" sz="1400" b="1" dirty="0">
                <a:solidFill>
                  <a:schemeClr val="tx1"/>
                </a:solidFill>
              </a:rPr>
              <a:t>A site deployment also needs</a:t>
            </a:r>
            <a:endParaRPr lang="en-US" sz="1400" dirty="0"/>
          </a:p>
          <a:p>
            <a:pPr indent="0" marL="0">
              <a:spcAft>
                <a:spcPts val="400"/>
              </a:spcAft>
              <a:buNone/>
            </a:pPr>
            <a:r>
              <a:rPr lang="en-US" sz="1400" dirty="0">
                <a:solidFill>
                  <a:schemeClr val="tx1"/>
                </a:solidFill>
              </a:rPr>
              <a:t>rules that turn boxes into compliance decisions, filtering of single-frame errors in video, and an interface for staff to review incidents.</a:t>
            </a:r>
            <a:endParaRPr lang="en-US" sz="1400" dirty="0"/>
          </a:p>
        </p:txBody>
      </p:sp>
      <p:sp>
        <p:nvSpPr>
          <p:cNvPr id="9" name="Text 6"/>
          <p:cNvSpPr txBox="1"/>
          <p:nvPr/>
        </p:nvSpPr>
        <p:spPr>
          <a:xfrm>
            <a:off x="6309360" y="1554480"/>
            <a:ext cx="5333695" cy="365760"/>
          </a:xfrm>
          <a:prstGeom prst="rect">
            <a:avLst/>
          </a:prstGeom>
          <a:noFill/>
          <a:ln/>
        </p:spPr>
        <p:txBody>
          <a:bodyPr wrap="square" lIns="0" tIns="0" rIns="0" bIns="0" rtlCol="0" anchor="t"/>
          <a:lstStyle/>
          <a:p>
            <a:pPr indent="0" marL="0">
              <a:buNone/>
            </a:pPr>
            <a:r>
              <a:rPr lang="en-US" sz="1800" b="1" dirty="0">
                <a:solidFill>
                  <a:schemeClr val="tx1"/>
                </a:solidFill>
              </a:rPr>
              <a:t>Objectives</a:t>
            </a:r>
            <a:endParaRPr lang="en-US" sz="1800" dirty="0"/>
          </a:p>
        </p:txBody>
      </p:sp>
      <p:sp>
        <p:nvSpPr>
          <p:cNvPr id="10" name="Text 7"/>
          <p:cNvSpPr txBox="1"/>
          <p:nvPr/>
        </p:nvSpPr>
        <p:spPr>
          <a:xfrm>
            <a:off x="6309360" y="2057400"/>
            <a:ext cx="548640" cy="365760"/>
          </a:xfrm>
          <a:prstGeom prst="rect">
            <a:avLst/>
          </a:prstGeom>
          <a:noFill/>
          <a:ln/>
        </p:spPr>
        <p:txBody>
          <a:bodyPr wrap="square" lIns="0" tIns="0" rIns="0" bIns="0" rtlCol="0" anchor="t"/>
          <a:lstStyle/>
          <a:p>
            <a:pPr indent="0" marL="0">
              <a:buNone/>
            </a:pPr>
            <a:r>
              <a:rPr lang="en-US" sz="1800" b="1" dirty="0">
                <a:solidFill>
                  <a:schemeClr val="accent5"/>
                </a:solidFill>
              </a:rPr>
              <a:t>01</a:t>
            </a:r>
            <a:endParaRPr lang="en-US" sz="1800" dirty="0"/>
          </a:p>
        </p:txBody>
      </p:sp>
      <p:sp>
        <p:nvSpPr>
          <p:cNvPr id="11" name="Text 8"/>
          <p:cNvSpPr txBox="1"/>
          <p:nvPr/>
        </p:nvSpPr>
        <p:spPr>
          <a:xfrm>
            <a:off x="6903720" y="2057400"/>
            <a:ext cx="4739335" cy="292608"/>
          </a:xfrm>
          <a:prstGeom prst="rect">
            <a:avLst/>
          </a:prstGeom>
          <a:noFill/>
          <a:ln/>
        </p:spPr>
        <p:txBody>
          <a:bodyPr wrap="square" lIns="0" tIns="0" rIns="0" bIns="0" rtlCol="0" anchor="t"/>
          <a:lstStyle/>
          <a:p>
            <a:pPr indent="0" marL="0">
              <a:buNone/>
            </a:pPr>
            <a:r>
              <a:rPr lang="en-US" sz="1500" b="1" dirty="0">
                <a:solidFill>
                  <a:schemeClr val="tx1"/>
                </a:solidFill>
              </a:rPr>
              <a:t>Detector</a:t>
            </a:r>
            <a:endParaRPr lang="en-US" sz="1500" dirty="0"/>
          </a:p>
        </p:txBody>
      </p:sp>
      <p:sp>
        <p:nvSpPr>
          <p:cNvPr id="12" name="Text 9"/>
          <p:cNvSpPr txBox="1"/>
          <p:nvPr/>
        </p:nvSpPr>
        <p:spPr>
          <a:xfrm>
            <a:off x="6903720" y="2359152"/>
            <a:ext cx="4739335" cy="566928"/>
          </a:xfrm>
          <a:prstGeom prst="rect">
            <a:avLst/>
          </a:prstGeom>
          <a:noFill/>
          <a:ln/>
        </p:spPr>
        <p:txBody>
          <a:bodyPr wrap="square" lIns="0" tIns="0" rIns="0" bIns="0" rtlCol="0" anchor="t"/>
          <a:lstStyle/>
          <a:p>
            <a:pPr indent="0" marL="0">
              <a:buNone/>
            </a:pPr>
            <a:r>
              <a:rPr lang="en-US" sz="1300" dirty="0">
                <a:solidFill>
                  <a:schemeClr val="accent4"/>
                </a:solidFill>
              </a:rPr>
              <a:t>Fine-tune YOLO11m for 10 classes covering PPE, its explicit absence, persons and site context, within a 0.70 h budget on 2 GPUs</a:t>
            </a:r>
            <a:endParaRPr lang="en-US" sz="1300" dirty="0"/>
          </a:p>
        </p:txBody>
      </p:sp>
      <p:sp>
        <p:nvSpPr>
          <p:cNvPr id="13" name="Text 10"/>
          <p:cNvSpPr txBox="1"/>
          <p:nvPr/>
        </p:nvSpPr>
        <p:spPr>
          <a:xfrm>
            <a:off x="6309360" y="2999232"/>
            <a:ext cx="548640" cy="365760"/>
          </a:xfrm>
          <a:prstGeom prst="rect">
            <a:avLst/>
          </a:prstGeom>
          <a:noFill/>
          <a:ln/>
        </p:spPr>
        <p:txBody>
          <a:bodyPr wrap="square" lIns="0" tIns="0" rIns="0" bIns="0" rtlCol="0" anchor="t"/>
          <a:lstStyle/>
          <a:p>
            <a:pPr indent="0" marL="0">
              <a:buNone/>
            </a:pPr>
            <a:r>
              <a:rPr lang="en-US" sz="1800" b="1" dirty="0">
                <a:solidFill>
                  <a:schemeClr val="accent5"/>
                </a:solidFill>
              </a:rPr>
              <a:t>02</a:t>
            </a:r>
            <a:endParaRPr lang="en-US" sz="1800" dirty="0"/>
          </a:p>
        </p:txBody>
      </p:sp>
      <p:sp>
        <p:nvSpPr>
          <p:cNvPr id="14" name="Text 11"/>
          <p:cNvSpPr txBox="1"/>
          <p:nvPr/>
        </p:nvSpPr>
        <p:spPr>
          <a:xfrm>
            <a:off x="6903720" y="2999232"/>
            <a:ext cx="4739335" cy="292608"/>
          </a:xfrm>
          <a:prstGeom prst="rect">
            <a:avLst/>
          </a:prstGeom>
          <a:noFill/>
          <a:ln/>
        </p:spPr>
        <p:txBody>
          <a:bodyPr wrap="square" lIns="0" tIns="0" rIns="0" bIns="0" rtlCol="0" anchor="t"/>
          <a:lstStyle/>
          <a:p>
            <a:pPr indent="0" marL="0">
              <a:buNone/>
            </a:pPr>
            <a:r>
              <a:rPr lang="en-US" sz="1500" b="1" dirty="0">
                <a:solidFill>
                  <a:schemeClr val="tx1"/>
                </a:solidFill>
              </a:rPr>
              <a:t>Evaluation</a:t>
            </a:r>
            <a:endParaRPr lang="en-US" sz="1500" dirty="0"/>
          </a:p>
        </p:txBody>
      </p:sp>
      <p:sp>
        <p:nvSpPr>
          <p:cNvPr id="15" name="Text 12"/>
          <p:cNvSpPr txBox="1"/>
          <p:nvPr/>
        </p:nvSpPr>
        <p:spPr>
          <a:xfrm>
            <a:off x="6903720" y="3300984"/>
            <a:ext cx="4739335" cy="566928"/>
          </a:xfrm>
          <a:prstGeom prst="rect">
            <a:avLst/>
          </a:prstGeom>
          <a:noFill/>
          <a:ln/>
        </p:spPr>
        <p:txBody>
          <a:bodyPr wrap="square" lIns="0" tIns="0" rIns="0" bIns="0" rtlCol="0" anchor="t"/>
          <a:lstStyle/>
          <a:p>
            <a:pPr indent="0" marL="0">
              <a:buNone/>
            </a:pPr>
            <a:r>
              <a:rPr lang="en-US" sz="1300" dirty="0">
                <a:solidFill>
                  <a:schemeClr val="accent4"/>
                </a:solidFill>
              </a:rPr>
              <a:t>Measure on stratified validation and held-out test splits, with and without test-time augmentation</a:t>
            </a:r>
            <a:endParaRPr lang="en-US" sz="1300" dirty="0"/>
          </a:p>
        </p:txBody>
      </p:sp>
      <p:sp>
        <p:nvSpPr>
          <p:cNvPr id="16" name="Text 13"/>
          <p:cNvSpPr txBox="1"/>
          <p:nvPr/>
        </p:nvSpPr>
        <p:spPr>
          <a:xfrm>
            <a:off x="6309360" y="3941064"/>
            <a:ext cx="548640" cy="365760"/>
          </a:xfrm>
          <a:prstGeom prst="rect">
            <a:avLst/>
          </a:prstGeom>
          <a:noFill/>
          <a:ln/>
        </p:spPr>
        <p:txBody>
          <a:bodyPr wrap="square" lIns="0" tIns="0" rIns="0" bIns="0" rtlCol="0" anchor="t"/>
          <a:lstStyle/>
          <a:p>
            <a:pPr indent="0" marL="0">
              <a:buNone/>
            </a:pPr>
            <a:r>
              <a:rPr lang="en-US" sz="1800" b="1" dirty="0">
                <a:solidFill>
                  <a:schemeClr val="accent5"/>
                </a:solidFill>
              </a:rPr>
              <a:t>03</a:t>
            </a:r>
            <a:endParaRPr lang="en-US" sz="1800" dirty="0"/>
          </a:p>
        </p:txBody>
      </p:sp>
      <p:sp>
        <p:nvSpPr>
          <p:cNvPr id="17" name="Text 14"/>
          <p:cNvSpPr txBox="1"/>
          <p:nvPr/>
        </p:nvSpPr>
        <p:spPr>
          <a:xfrm>
            <a:off x="6903720" y="3941064"/>
            <a:ext cx="4739335" cy="292608"/>
          </a:xfrm>
          <a:prstGeom prst="rect">
            <a:avLst/>
          </a:prstGeom>
          <a:noFill/>
          <a:ln/>
        </p:spPr>
        <p:txBody>
          <a:bodyPr wrap="square" lIns="0" tIns="0" rIns="0" bIns="0" rtlCol="0" anchor="t"/>
          <a:lstStyle/>
          <a:p>
            <a:pPr indent="0" marL="0">
              <a:buNone/>
            </a:pPr>
            <a:r>
              <a:rPr lang="en-US" sz="1500" b="1" dirty="0">
                <a:solidFill>
                  <a:schemeClr val="tx1"/>
                </a:solidFill>
              </a:rPr>
              <a:t>Error analysis</a:t>
            </a:r>
            <a:endParaRPr lang="en-US" sz="1500" dirty="0"/>
          </a:p>
        </p:txBody>
      </p:sp>
      <p:sp>
        <p:nvSpPr>
          <p:cNvPr id="18" name="Text 15"/>
          <p:cNvSpPr txBox="1"/>
          <p:nvPr/>
        </p:nvSpPr>
        <p:spPr>
          <a:xfrm>
            <a:off x="6903720" y="4242816"/>
            <a:ext cx="4739335" cy="566928"/>
          </a:xfrm>
          <a:prstGeom prst="rect">
            <a:avLst/>
          </a:prstGeom>
          <a:noFill/>
          <a:ln/>
        </p:spPr>
        <p:txBody>
          <a:bodyPr wrap="square" lIns="0" tIns="0" rIns="0" bIns="0" rtlCol="0" anchor="t"/>
          <a:lstStyle/>
          <a:p>
            <a:pPr indent="0" marL="0">
              <a:buNone/>
            </a:pPr>
            <a:r>
              <a:rPr lang="en-US" sz="1300" dirty="0">
                <a:solidFill>
                  <a:schemeClr val="accent4"/>
                </a:solidFill>
              </a:rPr>
              <a:t>Break errors down by class and confusion pair to find those that matter for safety</a:t>
            </a:r>
            <a:endParaRPr lang="en-US" sz="1300" dirty="0"/>
          </a:p>
        </p:txBody>
      </p:sp>
      <p:sp>
        <p:nvSpPr>
          <p:cNvPr id="19" name="Text 16"/>
          <p:cNvSpPr txBox="1"/>
          <p:nvPr/>
        </p:nvSpPr>
        <p:spPr>
          <a:xfrm>
            <a:off x="6309360" y="4882896"/>
            <a:ext cx="548640" cy="365760"/>
          </a:xfrm>
          <a:prstGeom prst="rect">
            <a:avLst/>
          </a:prstGeom>
          <a:noFill/>
          <a:ln/>
        </p:spPr>
        <p:txBody>
          <a:bodyPr wrap="square" lIns="0" tIns="0" rIns="0" bIns="0" rtlCol="0" anchor="t"/>
          <a:lstStyle/>
          <a:p>
            <a:pPr indent="0" marL="0">
              <a:buNone/>
            </a:pPr>
            <a:r>
              <a:rPr lang="en-US" sz="1800" b="1" dirty="0">
                <a:solidFill>
                  <a:schemeClr val="accent5"/>
                </a:solidFill>
              </a:rPr>
              <a:t>04</a:t>
            </a:r>
            <a:endParaRPr lang="en-US" sz="1800" dirty="0"/>
          </a:p>
        </p:txBody>
      </p:sp>
      <p:sp>
        <p:nvSpPr>
          <p:cNvPr id="20" name="Text 17"/>
          <p:cNvSpPr txBox="1"/>
          <p:nvPr/>
        </p:nvSpPr>
        <p:spPr>
          <a:xfrm>
            <a:off x="6903720" y="4882896"/>
            <a:ext cx="4739335" cy="292608"/>
          </a:xfrm>
          <a:prstGeom prst="rect">
            <a:avLst/>
          </a:prstGeom>
          <a:noFill/>
          <a:ln/>
        </p:spPr>
        <p:txBody>
          <a:bodyPr wrap="square" lIns="0" tIns="0" rIns="0" bIns="0" rtlCol="0" anchor="t"/>
          <a:lstStyle/>
          <a:p>
            <a:pPr indent="0" marL="0">
              <a:buNone/>
            </a:pPr>
            <a:r>
              <a:rPr lang="en-US" sz="1500" b="1" dirty="0">
                <a:solidFill>
                  <a:schemeClr val="tx1"/>
                </a:solidFill>
              </a:rPr>
              <a:t>Complete system</a:t>
            </a:r>
            <a:endParaRPr lang="en-US" sz="1500" dirty="0"/>
          </a:p>
        </p:txBody>
      </p:sp>
      <p:sp>
        <p:nvSpPr>
          <p:cNvPr id="21" name="Text 18"/>
          <p:cNvSpPr txBox="1"/>
          <p:nvPr/>
        </p:nvSpPr>
        <p:spPr>
          <a:xfrm>
            <a:off x="6903720" y="5184648"/>
            <a:ext cx="4739335" cy="566928"/>
          </a:xfrm>
          <a:prstGeom prst="rect">
            <a:avLst/>
          </a:prstGeom>
          <a:noFill/>
          <a:ln/>
        </p:spPr>
        <p:txBody>
          <a:bodyPr wrap="square" lIns="0" tIns="0" rIns="0" bIns="0" rtlCol="0" anchor="t"/>
          <a:lstStyle/>
          <a:p>
            <a:pPr indent="0" marL="0">
              <a:buNone/>
            </a:pPr>
            <a:r>
              <a:rPr lang="en-US" sz="1300" dirty="0">
                <a:solidFill>
                  <a:schemeClr val="accent4"/>
                </a:solidFill>
              </a:rPr>
              <a:t>Add a compliance rule and five-frame confirmation, served by FastAPI and a React dashboard</a:t>
            </a:r>
            <a:endParaRPr lang="en-US" sz="1300" dirty="0"/>
          </a:p>
        </p:txBody>
      </p:sp>
      <p:sp>
        <p:nvSpPr>
          <p:cNvPr id="25" name="Slide Number Placeholder 0"/>
          <p:cNvSpPr>
            <a:spLocks noGrp="1"/>
          </p:cNvSpPr>
          <p:nvPr>
            <p:ph type="sldNum" sz="quarter" idx="4294967295"/>
          </p:nvPr>
        </p:nvSpPr>
        <p:spPr>
          <a:xfrm>
            <a:off x="11091672" y="640080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84048"/>
            <a:ext cx="11094415" cy="256032"/>
          </a:xfrm>
          <a:prstGeom prst="rect">
            <a:avLst/>
          </a:prstGeom>
          <a:noFill/>
          <a:ln/>
        </p:spPr>
        <p:txBody>
          <a:bodyPr wrap="square" lIns="0" tIns="0" rIns="0" bIns="0" rtlCol="0" anchor="t"/>
          <a:lstStyle/>
          <a:p>
            <a:pPr indent="0" marL="0">
              <a:buNone/>
            </a:pPr>
            <a:r>
              <a:rPr lang="en-US" sz="1100" b="1" spc="150" kern="0" dirty="0">
                <a:solidFill>
                  <a:schemeClr val="accent4"/>
                </a:solidFill>
              </a:rPr>
              <a:t>BACKGROUND</a:t>
            </a:r>
            <a:endParaRPr lang="en-US" sz="1100" dirty="0"/>
          </a:p>
        </p:txBody>
      </p:sp>
      <p:sp>
        <p:nvSpPr>
          <p:cNvPr id="3" name="Text 0"/>
          <p:cNvSpPr/>
          <p:nvPr>
            <p:ph idx="100"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3600" b="1" dirty="0">
                <a:solidFill>
                  <a:schemeClr val="tx1"/>
                </a:solidFill>
              </a:rPr>
              <a:t>Related work and research gap</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743200"/>
                <a:gridCol w="2606040"/>
                <a:gridCol w="3291840"/>
                <a:gridCol w="2453335"/>
              </a:tblGrid>
              <a:tr h="329184">
                <a:tc>
                  <a:txBody>
                    <a:bodyPr/>
                    <a:lstStyle/>
                    <a:p>
                      <a:pPr algn="l" indent="0" marL="0">
                        <a:buNone/>
                      </a:pPr>
                      <a:r>
                        <a:rPr lang="en-US" sz="1200" b="1" dirty="0">
                          <a:solidFill>
                            <a:schemeClr val="bg1"/>
                          </a:solidFill>
                        </a:rPr>
                        <a:t>Study</a:t>
                      </a:r>
                      <a:endParaRPr lang="en-US" sz="1200" dirty="0"/>
                    </a:p>
                  </a:txBody>
                  <a:tcPr marL="76200" marR="76200" marT="25400" marB="25400" anchor="ctr">
                    <a:lnL w="0" cap="flat" cmpd="sng" algn="ctr">
                      <a:noFill/>
                    </a:lnL>
                    <a:lnR w="0" cap="flat" cmpd="sng" algn="ctr">
                      <a:noFill/>
                    </a:lnR>
                    <a:lnT w="0" cap="flat" cmpd="sng" algn="ctr">
                      <a:noFill/>
                    </a:lnT>
                    <a:lnB w="0" cap="flat" cmpd="sng" algn="ctr">
                      <a:noFill/>
                    </a:lnB>
                    <a:solidFill>
                      <a:schemeClr val="tx1"/>
                    </a:solidFill>
                  </a:tcPr>
                </a:tc>
                <a:tc>
                  <a:txBody>
                    <a:bodyPr/>
                    <a:lstStyle/>
                    <a:p>
                      <a:pPr algn="l" indent="0" marL="0">
                        <a:buNone/>
                      </a:pPr>
                      <a:r>
                        <a:rPr lang="en-US" sz="1200" b="1" dirty="0">
                          <a:solidFill>
                            <a:schemeClr val="bg1"/>
                          </a:solidFill>
                        </a:rPr>
                        <a:t>Approach</a:t>
                      </a:r>
                      <a:endParaRPr lang="en-US" sz="1200" dirty="0"/>
                    </a:p>
                  </a:txBody>
                  <a:tcPr marL="76200" marR="76200" marT="25400" marB="25400" anchor="ctr">
                    <a:lnL w="0" cap="flat" cmpd="sng" algn="ctr">
                      <a:noFill/>
                    </a:lnL>
                    <a:lnR w="0" cap="flat" cmpd="sng" algn="ctr">
                      <a:noFill/>
                    </a:lnR>
                    <a:lnT w="0" cap="flat" cmpd="sng" algn="ctr">
                      <a:noFill/>
                    </a:lnT>
                    <a:lnB w="0" cap="flat" cmpd="sng" algn="ctr">
                      <a:noFill/>
                    </a:lnB>
                    <a:solidFill>
                      <a:schemeClr val="tx1"/>
                    </a:solidFill>
                  </a:tcPr>
                </a:tc>
                <a:tc>
                  <a:txBody>
                    <a:bodyPr/>
                    <a:lstStyle/>
                    <a:p>
                      <a:pPr algn="l" indent="0" marL="0">
                        <a:buNone/>
                      </a:pPr>
                      <a:r>
                        <a:rPr lang="en-US" sz="1200" b="1" dirty="0">
                          <a:solidFill>
                            <a:schemeClr val="bg1"/>
                          </a:solidFill>
                        </a:rPr>
                        <a:t>Data and scope</a:t>
                      </a:r>
                      <a:endParaRPr lang="en-US" sz="1200" dirty="0"/>
                    </a:p>
                  </a:txBody>
                  <a:tcPr marL="76200" marR="76200" marT="25400" marB="25400" anchor="ctr">
                    <a:lnL w="0" cap="flat" cmpd="sng" algn="ctr">
                      <a:noFill/>
                    </a:lnL>
                    <a:lnR w="0" cap="flat" cmpd="sng" algn="ctr">
                      <a:noFill/>
                    </a:lnR>
                    <a:lnT w="0" cap="flat" cmpd="sng" algn="ctr">
                      <a:noFill/>
                    </a:lnT>
                    <a:lnB w="0" cap="flat" cmpd="sng" algn="ctr">
                      <a:noFill/>
                    </a:lnB>
                    <a:solidFill>
                      <a:schemeClr val="tx1"/>
                    </a:solidFill>
                  </a:tcPr>
                </a:tc>
                <a:tc>
                  <a:txBody>
                    <a:bodyPr/>
                    <a:lstStyle/>
                    <a:p>
                      <a:pPr algn="l" indent="0" marL="0">
                        <a:buNone/>
                      </a:pPr>
                      <a:r>
                        <a:rPr lang="en-US" sz="1200" b="1" dirty="0">
                          <a:solidFill>
                            <a:schemeClr val="bg1"/>
                          </a:solidFill>
                        </a:rPr>
                        <a:t>Reported result</a:t>
                      </a:r>
                      <a:endParaRPr lang="en-US" sz="1200" dirty="0"/>
                    </a:p>
                  </a:txBody>
                  <a:tcPr marL="76200" marR="76200" marT="25400" marB="25400" anchor="ctr">
                    <a:lnL w="0" cap="flat" cmpd="sng" algn="ctr">
                      <a:noFill/>
                    </a:lnL>
                    <a:lnR w="0" cap="flat" cmpd="sng" algn="ctr">
                      <a:noFill/>
                    </a:lnR>
                    <a:lnT w="0" cap="flat" cmpd="sng" algn="ctr">
                      <a:noFill/>
                    </a:lnT>
                    <a:lnB w="0" cap="flat" cmpd="sng" algn="ctr">
                      <a:noFill/>
                    </a:lnB>
                    <a:solidFill>
                      <a:schemeClr val="tx1"/>
                    </a:solidFill>
                  </a:tcPr>
                </a:tc>
              </a:tr>
              <a:tr h="329184">
                <a:tc>
                  <a:txBody>
                    <a:bodyPr/>
                    <a:lstStyle/>
                    <a:p>
                      <a:pPr indent="0" marL="0">
                        <a:buNone/>
                      </a:pPr>
                      <a:r>
                        <a:rPr lang="en-US" sz="1200" dirty="0">
                          <a:solidFill>
                            <a:schemeClr val="tx1"/>
                          </a:solidFill>
                        </a:rPr>
                        <a:t>Park et al. 2015 [3]</a:t>
                      </a:r>
                      <a:endParaRPr lang="en-US" sz="12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indent="0" marL="0">
                        <a:buNone/>
                      </a:pPr>
                      <a:r>
                        <a:rPr lang="en-US" sz="1200" dirty="0">
                          <a:solidFill>
                            <a:schemeClr val="tx1"/>
                          </a:solidFill>
                        </a:rPr>
                        <a:t>Classical vision</a:t>
                      </a:r>
                      <a:endParaRPr lang="en-US" sz="12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indent="0" marL="0">
                        <a:buNone/>
                      </a:pPr>
                      <a:r>
                        <a:rPr lang="en-US" sz="1200" dirty="0">
                          <a:solidFill>
                            <a:schemeClr val="tx1"/>
                          </a:solidFill>
                        </a:rPr>
                        <a:t>Separate worker and hardhat detection in video</a:t>
                      </a:r>
                      <a:endParaRPr lang="en-US" sz="12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indent="0" marL="0">
                        <a:buNone/>
                      </a:pPr>
                      <a:r>
                        <a:rPr lang="en-US" sz="1200" dirty="0">
                          <a:solidFill>
                            <a:schemeClr val="tx1"/>
                          </a:solidFill>
                        </a:rPr>
                        <a:t>Hardhat wearing detection</a:t>
                      </a:r>
                      <a:endParaRPr lang="en-US" sz="12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r>
              <a:tr h="329184">
                <a:tc>
                  <a:txBody>
                    <a:bodyPr/>
                    <a:lstStyle/>
                    <a:p>
                      <a:pPr indent="0" marL="0">
                        <a:buNone/>
                      </a:pPr>
                      <a:r>
                        <a:rPr lang="en-US" sz="1200" dirty="0">
                          <a:solidFill>
                            <a:schemeClr val="tx1"/>
                          </a:solidFill>
                        </a:rPr>
                        <a:t>Fang et al. 2018 [4]</a:t>
                      </a:r>
                      <a:endParaRPr lang="en-US" sz="12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indent="0" marL="0">
                        <a:buNone/>
                      </a:pPr>
                      <a:r>
                        <a:rPr lang="en-US" sz="1200" dirty="0">
                          <a:solidFill>
                            <a:schemeClr val="tx1"/>
                          </a:solidFill>
                        </a:rPr>
                        <a:t>Faster R-CNN</a:t>
                      </a:r>
                      <a:endParaRPr lang="en-US" sz="12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indent="0" marL="0">
                        <a:buNone/>
                      </a:pPr>
                      <a:r>
                        <a:rPr lang="en-US" sz="1200" dirty="0">
                          <a:solidFill>
                            <a:schemeClr val="tx1"/>
                          </a:solidFill>
                        </a:rPr>
                        <a:t>Far-field surveillance video</a:t>
                      </a:r>
                      <a:endParaRPr lang="en-US" sz="12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indent="0" marL="0">
                        <a:buNone/>
                      </a:pPr>
                      <a:r>
                        <a:rPr lang="en-US" sz="1200" dirty="0">
                          <a:solidFill>
                            <a:schemeClr val="tx1"/>
                          </a:solidFill>
                        </a:rPr>
                        <a:t>Non-hardhat-use detection</a:t>
                      </a:r>
                      <a:endParaRPr lang="en-US" sz="12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r>
              <a:tr h="329184">
                <a:tc>
                  <a:txBody>
                    <a:bodyPr/>
                    <a:lstStyle/>
                    <a:p>
                      <a:pPr indent="0" marL="0">
                        <a:buNone/>
                      </a:pPr>
                      <a:r>
                        <a:rPr lang="en-US" sz="1200" dirty="0">
                          <a:solidFill>
                            <a:schemeClr val="tx1"/>
                          </a:solidFill>
                        </a:rPr>
                        <a:t>Mneymneh et al. 2019 [5]</a:t>
                      </a:r>
                      <a:endParaRPr lang="en-US" sz="12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indent="0" marL="0">
                        <a:buNone/>
                      </a:pPr>
                      <a:r>
                        <a:rPr lang="en-US" sz="1200" dirty="0">
                          <a:solidFill>
                            <a:schemeClr val="tx1"/>
                          </a:solidFill>
                        </a:rPr>
                        <a:t>Motion, classifier, colour</a:t>
                      </a:r>
                      <a:endParaRPr lang="en-US" sz="12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indent="0" marL="0">
                        <a:buNone/>
                      </a:pPr>
                      <a:r>
                        <a:rPr lang="en-US" sz="1200" dirty="0">
                          <a:solidFill>
                            <a:schemeClr val="tx1"/>
                          </a:solidFill>
                        </a:rPr>
                        <a:t>Moving workers, hardhat search in worker region</a:t>
                      </a:r>
                      <a:endParaRPr lang="en-US" sz="12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indent="0" marL="0">
                        <a:buNone/>
                      </a:pPr>
                      <a:r>
                        <a:rPr lang="en-US" sz="1200" dirty="0">
                          <a:solidFill>
                            <a:schemeClr val="tx1"/>
                          </a:solidFill>
                        </a:rPr>
                        <a:t>Hardhat monitoring framework</a:t>
                      </a:r>
                      <a:endParaRPr lang="en-US" sz="12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r>
              <a:tr h="329184">
                <a:tc>
                  <a:txBody>
                    <a:bodyPr/>
                    <a:lstStyle/>
                    <a:p>
                      <a:pPr indent="0" marL="0">
                        <a:buNone/>
                      </a:pPr>
                      <a:r>
                        <a:rPr lang="en-US" sz="1200" dirty="0">
                          <a:solidFill>
                            <a:schemeClr val="tx1"/>
                          </a:solidFill>
                        </a:rPr>
                        <a:t>Wu et al. 2019 [6]</a:t>
                      </a:r>
                      <a:endParaRPr lang="en-US" sz="12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indent="0" marL="0">
                        <a:buNone/>
                      </a:pPr>
                      <a:r>
                        <a:rPr lang="en-US" sz="1200" dirty="0">
                          <a:solidFill>
                            <a:schemeClr val="tx1"/>
                          </a:solidFill>
                        </a:rPr>
                        <a:t>SSD, reverse progressive attention</a:t>
                      </a:r>
                      <a:endParaRPr lang="en-US" sz="12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indent="0" marL="0">
                        <a:buNone/>
                      </a:pPr>
                      <a:r>
                        <a:rPr lang="en-US" sz="1200" dirty="0">
                          <a:solidFill>
                            <a:schemeClr val="tx1"/>
                          </a:solidFill>
                        </a:rPr>
                        <a:t>New hardhat benchmark with colour labels</a:t>
                      </a:r>
                      <a:endParaRPr lang="en-US" sz="12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indent="0" marL="0">
                        <a:buNone/>
                      </a:pPr>
                      <a:r>
                        <a:rPr lang="en-US" sz="1200" dirty="0">
                          <a:solidFill>
                            <a:schemeClr val="tx1"/>
                          </a:solidFill>
                        </a:rPr>
                        <a:t>Benchmark and detector</a:t>
                      </a:r>
                      <a:endParaRPr lang="en-US" sz="12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r>
              <a:tr h="329184">
                <a:tc>
                  <a:txBody>
                    <a:bodyPr/>
                    <a:lstStyle/>
                    <a:p>
                      <a:pPr indent="0" marL="0">
                        <a:buNone/>
                      </a:pPr>
                      <a:r>
                        <a:rPr lang="en-US" sz="1200" dirty="0">
                          <a:solidFill>
                            <a:schemeClr val="tx1"/>
                          </a:solidFill>
                        </a:rPr>
                        <a:t>Nath et al. 2020 [7]</a:t>
                      </a:r>
                      <a:endParaRPr lang="en-US" sz="12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indent="0" marL="0">
                        <a:buNone/>
                      </a:pPr>
                      <a:r>
                        <a:rPr lang="en-US" sz="1200" dirty="0">
                          <a:solidFill>
                            <a:schemeClr val="tx1"/>
                          </a:solidFill>
                        </a:rPr>
                        <a:t>Three YOLO-based strategies</a:t>
                      </a:r>
                      <a:endParaRPr lang="en-US" sz="12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indent="0" marL="0">
                        <a:buNone/>
                      </a:pPr>
                      <a:r>
                        <a:rPr lang="en-US" sz="1200" dirty="0">
                          <a:solidFill>
                            <a:schemeClr val="tx1"/>
                          </a:solidFill>
                        </a:rPr>
                        <a:t>Workers, hardhats and vests</a:t>
                      </a:r>
                      <a:endParaRPr lang="en-US" sz="12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indent="0" marL="0">
                        <a:buNone/>
                      </a:pPr>
                      <a:r>
                        <a:rPr lang="en-US" sz="1200" dirty="0">
                          <a:solidFill>
                            <a:schemeClr val="tx1"/>
                          </a:solidFill>
                        </a:rPr>
                        <a:t>Real-time detection</a:t>
                      </a:r>
                      <a:endParaRPr lang="en-US" sz="12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r>
              <a:tr h="329184">
                <a:tc>
                  <a:txBody>
                    <a:bodyPr/>
                    <a:lstStyle/>
                    <a:p>
                      <a:pPr indent="0" marL="0">
                        <a:buNone/>
                      </a:pPr>
                      <a:r>
                        <a:rPr lang="en-US" sz="1200" dirty="0">
                          <a:solidFill>
                            <a:schemeClr val="tx1"/>
                          </a:solidFill>
                        </a:rPr>
                        <a:t>Delhi et al. 2020 [8]</a:t>
                      </a:r>
                      <a:endParaRPr lang="en-US" sz="12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indent="0" marL="0">
                        <a:buNone/>
                      </a:pPr>
                      <a:r>
                        <a:rPr lang="en-US" sz="1200" dirty="0">
                          <a:solidFill>
                            <a:schemeClr val="tx1"/>
                          </a:solidFill>
                        </a:rPr>
                        <a:t>YOLOv3, transfer learning</a:t>
                      </a:r>
                      <a:endParaRPr lang="en-US" sz="12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indent="0" marL="0">
                        <a:buNone/>
                      </a:pPr>
                      <a:r>
                        <a:rPr lang="en-US" sz="1200" dirty="0">
                          <a:solidFill>
                            <a:schemeClr val="tx1"/>
                          </a:solidFill>
                        </a:rPr>
                        <a:t>Four compliance categories</a:t>
                      </a:r>
                      <a:endParaRPr lang="en-US" sz="12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indent="0" marL="0">
                        <a:buNone/>
                      </a:pPr>
                      <a:r>
                        <a:rPr lang="en-US" sz="1200" dirty="0">
                          <a:solidFill>
                            <a:schemeClr val="tx1"/>
                          </a:solidFill>
                        </a:rPr>
                        <a:t>Alarms for unsafe workers</a:t>
                      </a:r>
                      <a:endParaRPr lang="en-US" sz="12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r>
              <a:tr h="329184">
                <a:tc>
                  <a:txBody>
                    <a:bodyPr/>
                    <a:lstStyle/>
                    <a:p>
                      <a:pPr indent="0" marL="0">
                        <a:buNone/>
                      </a:pPr>
                      <a:r>
                        <a:rPr lang="en-US" sz="1200" dirty="0">
                          <a:solidFill>
                            <a:schemeClr val="tx1"/>
                          </a:solidFill>
                        </a:rPr>
                        <a:t>Wang et al. 2021 [9]</a:t>
                      </a:r>
                      <a:endParaRPr lang="en-US" sz="12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indent="0" marL="0">
                        <a:buNone/>
                      </a:pPr>
                      <a:r>
                        <a:rPr lang="en-US" sz="1200" dirty="0">
                          <a:solidFill>
                            <a:schemeClr val="tx1"/>
                          </a:solidFill>
                        </a:rPr>
                        <a:t>Eight YOLO detectors</a:t>
                      </a:r>
                      <a:endParaRPr lang="en-US" sz="12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indent="0" marL="0">
                        <a:buNone/>
                      </a:pPr>
                      <a:r>
                        <a:rPr lang="en-US" sz="1200" dirty="0">
                          <a:solidFill>
                            <a:schemeClr val="tx1"/>
                          </a:solidFill>
                        </a:rPr>
                        <a:t>CHV dataset</a:t>
                      </a:r>
                      <a:endParaRPr lang="en-US" sz="12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indent="0" marL="0">
                        <a:buNone/>
                      </a:pPr>
                      <a:r>
                        <a:rPr lang="en-US" sz="1200" dirty="0">
                          <a:solidFill>
                            <a:schemeClr val="tx1"/>
                          </a:solidFill>
                        </a:rPr>
                        <a:t>YOLOv5x best, mAP 86.55%</a:t>
                      </a:r>
                      <a:endParaRPr lang="en-US" sz="12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r>
              <a:tr h="329184">
                <a:tc>
                  <a:txBody>
                    <a:bodyPr/>
                    <a:lstStyle/>
                    <a:p>
                      <a:pPr indent="0" marL="0">
                        <a:buNone/>
                      </a:pPr>
                      <a:r>
                        <a:rPr lang="en-US" sz="1200" b="1" dirty="0">
                          <a:solidFill>
                            <a:schemeClr val="tx1"/>
                          </a:solidFill>
                        </a:rPr>
                        <a:t>Ferdous and Ahsan 2022 [10]</a:t>
                      </a:r>
                      <a:endParaRPr lang="en-US" sz="12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indent="0" marL="0">
                        <a:buNone/>
                      </a:pPr>
                      <a:r>
                        <a:rPr lang="en-US" sz="1200" b="1" dirty="0">
                          <a:solidFill>
                            <a:schemeClr val="tx1"/>
                          </a:solidFill>
                        </a:rPr>
                        <a:t>YOLOX, four variants</a:t>
                      </a:r>
                      <a:endParaRPr lang="en-US" sz="12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indent="0" marL="0">
                        <a:buNone/>
                      </a:pPr>
                      <a:r>
                        <a:rPr lang="en-US" sz="1200" b="1" dirty="0">
                          <a:solidFill>
                            <a:schemeClr val="tx1"/>
                          </a:solidFill>
                        </a:rPr>
                        <a:t>CHVG, 1,699 images, 8 classes</a:t>
                      </a:r>
                      <a:endParaRPr lang="en-US" sz="12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indent="0" marL="0">
                        <a:buNone/>
                      </a:pPr>
                      <a:r>
                        <a:rPr lang="en-US" sz="1200" b="1" dirty="0">
                          <a:solidFill>
                            <a:schemeClr val="tx1"/>
                          </a:solidFill>
                        </a:rPr>
                        <a:t>YOLOX-m, avg. mAP 89.84%</a:t>
                      </a:r>
                      <a:endParaRPr lang="en-US" sz="12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r>
              <a:tr h="329184">
                <a:tc>
                  <a:txBody>
                    <a:bodyPr/>
                    <a:lstStyle/>
                    <a:p>
                      <a:pPr indent="0" marL="0">
                        <a:buNone/>
                      </a:pPr>
                      <a:r>
                        <a:rPr lang="en-US" sz="1200" dirty="0">
                          <a:solidFill>
                            <a:schemeClr val="tx1"/>
                          </a:solidFill>
                        </a:rPr>
                        <a:t>Barlybayev et al. 2024 [11]</a:t>
                      </a:r>
                      <a:endParaRPr lang="en-US" sz="12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indent="0" marL="0">
                        <a:buNone/>
                      </a:pPr>
                      <a:r>
                        <a:rPr lang="en-US" sz="1200" dirty="0">
                          <a:solidFill>
                            <a:schemeClr val="tx1"/>
                          </a:solidFill>
                        </a:rPr>
                        <a:t>YOLOv8 variants</a:t>
                      </a:r>
                      <a:endParaRPr lang="en-US" sz="12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indent="0" marL="0">
                        <a:buNone/>
                      </a:pPr>
                      <a:r>
                        <a:rPr lang="en-US" sz="1200" dirty="0">
                          <a:solidFill>
                            <a:schemeClr val="tx1"/>
                          </a:solidFill>
                        </a:rPr>
                        <a:t>Public PPE benchmarks</a:t>
                      </a:r>
                      <a:endParaRPr lang="en-US" sz="12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indent="0" marL="0">
                        <a:buNone/>
                      </a:pPr>
                      <a:r>
                        <a:rPr lang="en-US" sz="1200" dirty="0">
                          <a:solidFill>
                            <a:schemeClr val="tx1"/>
                          </a:solidFill>
                        </a:rPr>
                        <a:t>Comparative study</a:t>
                      </a:r>
                      <a:endParaRPr lang="en-US" sz="12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r>
              <a:tr h="329184">
                <a:tc>
                  <a:txBody>
                    <a:bodyPr/>
                    <a:lstStyle/>
                    <a:p>
                      <a:pPr indent="0" marL="0">
                        <a:buNone/>
                      </a:pPr>
                      <a:r>
                        <a:rPr lang="en-US" sz="1200" b="1" dirty="0">
                          <a:solidFill>
                            <a:schemeClr val="tx1"/>
                          </a:solidFill>
                        </a:rPr>
                        <a:t>This work</a:t>
                      </a:r>
                      <a:endParaRPr lang="en-US" sz="12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solidFill>
                      <a:srgbClr val="FFF4CC"/>
                    </a:solidFill>
                  </a:tcPr>
                </a:tc>
                <a:tc>
                  <a:txBody>
                    <a:bodyPr/>
                    <a:lstStyle/>
                    <a:p>
                      <a:pPr indent="0" marL="0">
                        <a:buNone/>
                      </a:pPr>
                      <a:r>
                        <a:rPr lang="en-US" sz="1200" b="1" dirty="0">
                          <a:solidFill>
                            <a:schemeClr val="tx1"/>
                          </a:solidFill>
                        </a:rPr>
                        <a:t>YOLO11m + decision layer</a:t>
                      </a:r>
                      <a:endParaRPr lang="en-US" sz="12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solidFill>
                      <a:srgbClr val="FFF4CC"/>
                    </a:solidFill>
                  </a:tcPr>
                </a:tc>
                <a:tc>
                  <a:txBody>
                    <a:bodyPr/>
                    <a:lstStyle/>
                    <a:p>
                      <a:pPr indent="0" marL="0">
                        <a:buNone/>
                      </a:pPr>
                      <a:r>
                        <a:rPr lang="en-US" sz="1200" b="1" dirty="0">
                          <a:solidFill>
                            <a:schemeClr val="tx1"/>
                          </a:solidFill>
                        </a:rPr>
                        <a:t>2,801 images, 10 classes incl. NO-PPE</a:t>
                      </a:r>
                      <a:endParaRPr lang="en-US" sz="12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solidFill>
                      <a:srgbClr val="FFF4CC"/>
                    </a:solidFill>
                  </a:tcPr>
                </a:tc>
                <a:tc>
                  <a:txBody>
                    <a:bodyPr/>
                    <a:lstStyle/>
                    <a:p>
                      <a:pPr indent="0" marL="0">
                        <a:buNone/>
                      </a:pPr>
                      <a:r>
                        <a:rPr lang="en-US" sz="1200" b="1" dirty="0">
                          <a:solidFill>
                            <a:schemeClr val="tx1"/>
                          </a:solidFill>
                        </a:rPr>
                        <a:t>mAP@0.5 86.59%, @0.5:0.95 61.58%</a:t>
                      </a:r>
                      <a:endParaRPr lang="en-US" sz="12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solidFill>
                      <a:srgbClr val="FFF4CC"/>
                    </a:solidFill>
                  </a:tcPr>
                </a:tc>
              </a:tr>
            </a:tbl>
          </a:graphicData>
        </a:graphic>
      </p:graphicFrame>
      <p:sp>
        <p:nvSpPr>
          <p:cNvPr id="6" name="Text 2"/>
          <p:cNvSpPr txBox="1"/>
          <p:nvPr/>
        </p:nvSpPr>
        <p:spPr>
          <a:xfrm>
            <a:off x="548640" y="5349240"/>
            <a:ext cx="11094415" cy="457200"/>
          </a:xfrm>
          <a:prstGeom prst="rect">
            <a:avLst/>
          </a:prstGeom>
          <a:noFill/>
          <a:ln/>
        </p:spPr>
        <p:txBody>
          <a:bodyPr wrap="square" lIns="0" tIns="0" rIns="0" bIns="0" rtlCol="0" anchor="ctr"/>
          <a:lstStyle/>
          <a:p>
            <a:pPr indent="0" marL="0">
              <a:buNone/>
            </a:pPr>
            <a:r>
              <a:rPr lang="en-US" sz="1400" b="1" dirty="0">
                <a:solidFill>
                  <a:schemeClr val="tx1"/>
                </a:solidFill>
              </a:rPr>
              <a:t>Gap: </a:t>
            </a:r>
            <a:pPr indent="0" marL="0">
              <a:buNone/>
            </a:pPr>
            <a:r>
              <a:rPr lang="en-US" sz="1400" dirty="0">
                <a:solidFill>
                  <a:schemeClr val="tx1"/>
                </a:solidFill>
              </a:rPr>
              <a:t>few studies describe how detections become alerts, how transient errors are filtered in video, or how results reach site staff.</a:t>
            </a:r>
            <a:endParaRPr lang="en-US" sz="1400" dirty="0"/>
          </a:p>
        </p:txBody>
      </p:sp>
      <p:sp>
        <p:nvSpPr>
          <p:cNvPr id="7" name="Text 3"/>
          <p:cNvSpPr txBox="1"/>
          <p:nvPr/>
        </p:nvSpPr>
        <p:spPr>
          <a:xfrm>
            <a:off x="548640" y="6053328"/>
            <a:ext cx="11094415" cy="228600"/>
          </a:xfrm>
          <a:prstGeom prst="rect">
            <a:avLst/>
          </a:prstGeom>
          <a:noFill/>
          <a:ln/>
        </p:spPr>
        <p:txBody>
          <a:bodyPr wrap="square" lIns="0" tIns="0" rIns="0" bIns="0" rtlCol="0" anchor="t"/>
          <a:lstStyle/>
          <a:p>
            <a:pPr indent="0" marL="0">
              <a:buNone/>
            </a:pPr>
            <a:r>
              <a:rPr lang="en-US" sz="1000" dirty="0">
                <a:solidFill>
                  <a:schemeClr val="accent4"/>
                </a:solidFill>
              </a:rPr>
              <a:t>Bold: base paper. Datasets, class sets and splits differ, so the reported results are not directly comparable.</a:t>
            </a:r>
            <a:endParaRPr lang="en-US" sz="1000" dirty="0"/>
          </a:p>
        </p:txBody>
      </p:sp>
      <p:sp>
        <p:nvSpPr>
          <p:cNvPr id="25" name="Slide Number Placeholder 0"/>
          <p:cNvSpPr>
            <a:spLocks noGrp="1"/>
          </p:cNvSpPr>
          <p:nvPr>
            <p:ph type="sldNum" sz="quarter" idx="4294967295"/>
          </p:nvPr>
        </p:nvSpPr>
        <p:spPr>
          <a:xfrm>
            <a:off x="11091672" y="640080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84048"/>
            <a:ext cx="11094415" cy="256032"/>
          </a:xfrm>
          <a:prstGeom prst="rect">
            <a:avLst/>
          </a:prstGeom>
          <a:noFill/>
          <a:ln/>
        </p:spPr>
        <p:txBody>
          <a:bodyPr wrap="square" lIns="0" tIns="0" rIns="0" bIns="0" rtlCol="0" anchor="t"/>
          <a:lstStyle/>
          <a:p>
            <a:pPr indent="0" marL="0">
              <a:buNone/>
            </a:pPr>
            <a:r>
              <a:rPr lang="en-US" sz="1100" b="1" spc="150" kern="0" dirty="0">
                <a:solidFill>
                  <a:schemeClr val="accent4"/>
                </a:solidFill>
              </a:rPr>
              <a:t>METHOD</a:t>
            </a:r>
            <a:endParaRPr lang="en-US" sz="1100" dirty="0"/>
          </a:p>
        </p:txBody>
      </p:sp>
      <p:sp>
        <p:nvSpPr>
          <p:cNvPr id="3" name="Text 0"/>
          <p:cNvSpPr/>
          <p:nvPr>
            <p:ph idx="100"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3600" b="1" dirty="0">
                <a:solidFill>
                  <a:schemeClr val="tx1"/>
                </a:solidFill>
              </a:rPr>
              <a:t>System pipeline</a:t>
            </a:r>
            <a:endParaRPr lang="en-US" sz="3600" dirty="0"/>
          </a:p>
        </p:txBody>
      </p:sp>
      <p:sp>
        <p:nvSpPr>
          <p:cNvPr id="5" name="step"/>
          <p:cNvSpPr/>
          <p:nvPr/>
        </p:nvSpPr>
        <p:spPr>
          <a:xfrm>
            <a:off x="548640" y="1874520"/>
            <a:ext cx="1627632" cy="1600200"/>
          </a:xfrm>
          <a:prstGeom prst="rect">
            <a:avLst/>
          </a:prstGeom>
          <a:solidFill>
            <a:schemeClr val="bg2"/>
          </a:solidFill>
          <a:ln w="12700">
            <a:solidFill>
              <a:schemeClr val="bg2"/>
            </a:solidFill>
            <a:prstDash val="solid"/>
          </a:ln>
        </p:spPr>
      </p:sp>
      <p:sp>
        <p:nvSpPr>
          <p:cNvPr id="6" name="Text 3"/>
          <p:cNvSpPr txBox="1"/>
          <p:nvPr/>
        </p:nvSpPr>
        <p:spPr>
          <a:xfrm>
            <a:off x="713232" y="2039112"/>
            <a:ext cx="548640" cy="274320"/>
          </a:xfrm>
          <a:prstGeom prst="rect">
            <a:avLst/>
          </a:prstGeom>
          <a:noFill/>
          <a:ln/>
        </p:spPr>
        <p:txBody>
          <a:bodyPr wrap="square" lIns="0" tIns="0" rIns="0" bIns="0" rtlCol="0" anchor="t"/>
          <a:lstStyle/>
          <a:p>
            <a:pPr indent="0" marL="0">
              <a:buNone/>
            </a:pPr>
            <a:r>
              <a:rPr lang="en-US" sz="1200" b="1" dirty="0">
                <a:solidFill>
                  <a:schemeClr val="accent5"/>
                </a:solidFill>
              </a:rPr>
              <a:t>01</a:t>
            </a:r>
            <a:endParaRPr lang="en-US" sz="1200" dirty="0"/>
          </a:p>
        </p:txBody>
      </p:sp>
      <p:sp>
        <p:nvSpPr>
          <p:cNvPr id="7" name="Text 4"/>
          <p:cNvSpPr txBox="1"/>
          <p:nvPr/>
        </p:nvSpPr>
        <p:spPr>
          <a:xfrm>
            <a:off x="713232" y="2331720"/>
            <a:ext cx="1353312" cy="457200"/>
          </a:xfrm>
          <a:prstGeom prst="rect">
            <a:avLst/>
          </a:prstGeom>
          <a:noFill/>
          <a:ln/>
        </p:spPr>
        <p:txBody>
          <a:bodyPr wrap="square" lIns="0" tIns="0" rIns="0" bIns="0" rtlCol="0" anchor="t"/>
          <a:lstStyle/>
          <a:p>
            <a:pPr indent="0" marL="0">
              <a:buNone/>
            </a:pPr>
            <a:r>
              <a:rPr lang="en-US" sz="1500" b="1" dirty="0">
                <a:solidFill>
                  <a:schemeClr val="tx1"/>
                </a:solidFill>
              </a:rPr>
              <a:t>React dashboard</a:t>
            </a:r>
            <a:endParaRPr lang="en-US" sz="1500" dirty="0"/>
          </a:p>
        </p:txBody>
      </p:sp>
      <p:sp>
        <p:nvSpPr>
          <p:cNvPr id="8" name="Text 5"/>
          <p:cNvSpPr txBox="1"/>
          <p:nvPr/>
        </p:nvSpPr>
        <p:spPr>
          <a:xfrm>
            <a:off x="713232" y="2807208"/>
            <a:ext cx="1353312" cy="594360"/>
          </a:xfrm>
          <a:prstGeom prst="rect">
            <a:avLst/>
          </a:prstGeom>
          <a:noFill/>
          <a:ln/>
        </p:spPr>
        <p:txBody>
          <a:bodyPr wrap="square" lIns="0" tIns="0" rIns="0" bIns="0" rtlCol="0" anchor="t"/>
          <a:lstStyle/>
          <a:p>
            <a:pPr indent="0" marL="0">
              <a:buNone/>
            </a:pPr>
            <a:r>
              <a:rPr lang="en-US" sz="1200" dirty="0">
                <a:solidFill>
                  <a:schemeClr val="accent4"/>
                </a:solidFill>
              </a:rPr>
              <a:t>Upload photo or video</a:t>
            </a:r>
            <a:endParaRPr lang="en-US" sz="1200" dirty="0"/>
          </a:p>
        </p:txBody>
      </p:sp>
      <p:sp>
        <p:nvSpPr>
          <p:cNvPr id="9" name="arrow"/>
          <p:cNvSpPr/>
          <p:nvPr/>
        </p:nvSpPr>
        <p:spPr>
          <a:xfrm>
            <a:off x="2221992" y="2679192"/>
            <a:ext cx="174285" cy="0"/>
          </a:xfrm>
          <a:prstGeom prst="line">
            <a:avLst/>
          </a:prstGeom>
          <a:noFill/>
          <a:ln w="19050">
            <a:solidFill>
              <a:schemeClr val="accent4"/>
            </a:solidFill>
            <a:prstDash val="solid"/>
            <a:tailEnd type="triangle"/>
          </a:ln>
        </p:spPr>
      </p:sp>
      <p:sp>
        <p:nvSpPr>
          <p:cNvPr id="10" name="step"/>
          <p:cNvSpPr/>
          <p:nvPr/>
        </p:nvSpPr>
        <p:spPr>
          <a:xfrm>
            <a:off x="2441997" y="1874520"/>
            <a:ext cx="1627632" cy="1600200"/>
          </a:xfrm>
          <a:prstGeom prst="rect">
            <a:avLst/>
          </a:prstGeom>
          <a:solidFill>
            <a:schemeClr val="bg2"/>
          </a:solidFill>
          <a:ln w="12700">
            <a:solidFill>
              <a:schemeClr val="bg2"/>
            </a:solidFill>
            <a:prstDash val="solid"/>
          </a:ln>
        </p:spPr>
      </p:sp>
      <p:sp>
        <p:nvSpPr>
          <p:cNvPr id="11" name="Text 8"/>
          <p:cNvSpPr txBox="1"/>
          <p:nvPr/>
        </p:nvSpPr>
        <p:spPr>
          <a:xfrm>
            <a:off x="2606589" y="2039112"/>
            <a:ext cx="548640" cy="274320"/>
          </a:xfrm>
          <a:prstGeom prst="rect">
            <a:avLst/>
          </a:prstGeom>
          <a:noFill/>
          <a:ln/>
        </p:spPr>
        <p:txBody>
          <a:bodyPr wrap="square" lIns="0" tIns="0" rIns="0" bIns="0" rtlCol="0" anchor="t"/>
          <a:lstStyle/>
          <a:p>
            <a:pPr indent="0" marL="0">
              <a:buNone/>
            </a:pPr>
            <a:r>
              <a:rPr lang="en-US" sz="1200" b="1" dirty="0">
                <a:solidFill>
                  <a:schemeClr val="accent5"/>
                </a:solidFill>
              </a:rPr>
              <a:t>02</a:t>
            </a:r>
            <a:endParaRPr lang="en-US" sz="1200" dirty="0"/>
          </a:p>
        </p:txBody>
      </p:sp>
      <p:sp>
        <p:nvSpPr>
          <p:cNvPr id="12" name="Text 9"/>
          <p:cNvSpPr txBox="1"/>
          <p:nvPr/>
        </p:nvSpPr>
        <p:spPr>
          <a:xfrm>
            <a:off x="2606589" y="2331720"/>
            <a:ext cx="1353312" cy="457200"/>
          </a:xfrm>
          <a:prstGeom prst="rect">
            <a:avLst/>
          </a:prstGeom>
          <a:noFill/>
          <a:ln/>
        </p:spPr>
        <p:txBody>
          <a:bodyPr wrap="square" lIns="0" tIns="0" rIns="0" bIns="0" rtlCol="0" anchor="t"/>
          <a:lstStyle/>
          <a:p>
            <a:pPr indent="0" marL="0">
              <a:buNone/>
            </a:pPr>
            <a:r>
              <a:rPr lang="en-US" sz="1500" b="1" dirty="0">
                <a:solidFill>
                  <a:schemeClr val="tx1"/>
                </a:solidFill>
              </a:rPr>
              <a:t>FastAPI backend</a:t>
            </a:r>
            <a:endParaRPr lang="en-US" sz="1500" dirty="0"/>
          </a:p>
        </p:txBody>
      </p:sp>
      <p:sp>
        <p:nvSpPr>
          <p:cNvPr id="13" name="Text 10"/>
          <p:cNvSpPr txBox="1"/>
          <p:nvPr/>
        </p:nvSpPr>
        <p:spPr>
          <a:xfrm>
            <a:off x="2606589" y="2807208"/>
            <a:ext cx="1353312" cy="594360"/>
          </a:xfrm>
          <a:prstGeom prst="rect">
            <a:avLst/>
          </a:prstGeom>
          <a:noFill/>
          <a:ln/>
        </p:spPr>
        <p:txBody>
          <a:bodyPr wrap="square" lIns="0" tIns="0" rIns="0" bIns="0" rtlCol="0" anchor="t"/>
          <a:lstStyle/>
          <a:p>
            <a:pPr indent="0" marL="0">
              <a:buNone/>
            </a:pPr>
            <a:r>
              <a:rPr lang="en-US" sz="1200" dirty="0">
                <a:solidFill>
                  <a:schemeClr val="accent4"/>
                </a:solidFill>
              </a:rPr>
              <a:t>Image analysis or background video job</a:t>
            </a:r>
            <a:endParaRPr lang="en-US" sz="1200" dirty="0"/>
          </a:p>
        </p:txBody>
      </p:sp>
      <p:sp>
        <p:nvSpPr>
          <p:cNvPr id="14" name="arrow"/>
          <p:cNvSpPr/>
          <p:nvPr/>
        </p:nvSpPr>
        <p:spPr>
          <a:xfrm>
            <a:off x="4115349" y="2679192"/>
            <a:ext cx="174285" cy="0"/>
          </a:xfrm>
          <a:prstGeom prst="line">
            <a:avLst/>
          </a:prstGeom>
          <a:noFill/>
          <a:ln w="19050">
            <a:solidFill>
              <a:schemeClr val="accent4"/>
            </a:solidFill>
            <a:prstDash val="solid"/>
            <a:tailEnd type="triangle"/>
          </a:ln>
        </p:spPr>
      </p:sp>
      <p:sp>
        <p:nvSpPr>
          <p:cNvPr id="15" name="step"/>
          <p:cNvSpPr/>
          <p:nvPr/>
        </p:nvSpPr>
        <p:spPr>
          <a:xfrm>
            <a:off x="4335353" y="1874520"/>
            <a:ext cx="1627632" cy="1600200"/>
          </a:xfrm>
          <a:prstGeom prst="rect">
            <a:avLst/>
          </a:prstGeom>
          <a:solidFill>
            <a:schemeClr val="bg2"/>
          </a:solidFill>
          <a:ln w="12700">
            <a:solidFill>
              <a:schemeClr val="bg2"/>
            </a:solidFill>
            <a:prstDash val="solid"/>
          </a:ln>
        </p:spPr>
      </p:sp>
      <p:sp>
        <p:nvSpPr>
          <p:cNvPr id="16" name="Text 13"/>
          <p:cNvSpPr txBox="1"/>
          <p:nvPr/>
        </p:nvSpPr>
        <p:spPr>
          <a:xfrm>
            <a:off x="4499945" y="2039112"/>
            <a:ext cx="548640" cy="274320"/>
          </a:xfrm>
          <a:prstGeom prst="rect">
            <a:avLst/>
          </a:prstGeom>
          <a:noFill/>
          <a:ln/>
        </p:spPr>
        <p:txBody>
          <a:bodyPr wrap="square" lIns="0" tIns="0" rIns="0" bIns="0" rtlCol="0" anchor="t"/>
          <a:lstStyle/>
          <a:p>
            <a:pPr indent="0" marL="0">
              <a:buNone/>
            </a:pPr>
            <a:r>
              <a:rPr lang="en-US" sz="1200" b="1" dirty="0">
                <a:solidFill>
                  <a:schemeClr val="accent5"/>
                </a:solidFill>
              </a:rPr>
              <a:t>03</a:t>
            </a:r>
            <a:endParaRPr lang="en-US" sz="1200" dirty="0"/>
          </a:p>
        </p:txBody>
      </p:sp>
      <p:sp>
        <p:nvSpPr>
          <p:cNvPr id="17" name="Text 14"/>
          <p:cNvSpPr txBox="1"/>
          <p:nvPr/>
        </p:nvSpPr>
        <p:spPr>
          <a:xfrm>
            <a:off x="4499945" y="2331720"/>
            <a:ext cx="1353312" cy="457200"/>
          </a:xfrm>
          <a:prstGeom prst="rect">
            <a:avLst/>
          </a:prstGeom>
          <a:noFill/>
          <a:ln/>
        </p:spPr>
        <p:txBody>
          <a:bodyPr wrap="square" lIns="0" tIns="0" rIns="0" bIns="0" rtlCol="0" anchor="t"/>
          <a:lstStyle/>
          <a:p>
            <a:pPr indent="0" marL="0">
              <a:buNone/>
            </a:pPr>
            <a:r>
              <a:rPr lang="en-US" sz="1500" b="1" dirty="0">
                <a:solidFill>
                  <a:schemeClr val="tx1"/>
                </a:solidFill>
              </a:rPr>
              <a:t>YOLO11m detector</a:t>
            </a:r>
            <a:endParaRPr lang="en-US" sz="1500" dirty="0"/>
          </a:p>
        </p:txBody>
      </p:sp>
      <p:sp>
        <p:nvSpPr>
          <p:cNvPr id="18" name="Text 15"/>
          <p:cNvSpPr txBox="1"/>
          <p:nvPr/>
        </p:nvSpPr>
        <p:spPr>
          <a:xfrm>
            <a:off x="4499945" y="2807208"/>
            <a:ext cx="1353312" cy="594360"/>
          </a:xfrm>
          <a:prstGeom prst="rect">
            <a:avLst/>
          </a:prstGeom>
          <a:noFill/>
          <a:ln/>
        </p:spPr>
        <p:txBody>
          <a:bodyPr wrap="square" lIns="0" tIns="0" rIns="0" bIns="0" rtlCol="0" anchor="t"/>
          <a:lstStyle/>
          <a:p>
            <a:pPr indent="0" marL="0">
              <a:buNone/>
            </a:pPr>
            <a:r>
              <a:rPr lang="en-US" sz="1200" dirty="0">
                <a:solidFill>
                  <a:schemeClr val="accent4"/>
                </a:solidFill>
              </a:rPr>
              <a:t>Confidence 0.40, NMS IoU 0.45</a:t>
            </a:r>
            <a:endParaRPr lang="en-US" sz="1200" dirty="0"/>
          </a:p>
        </p:txBody>
      </p:sp>
      <p:sp>
        <p:nvSpPr>
          <p:cNvPr id="19" name="arrow"/>
          <p:cNvSpPr/>
          <p:nvPr/>
        </p:nvSpPr>
        <p:spPr>
          <a:xfrm>
            <a:off x="6008705" y="2679192"/>
            <a:ext cx="174285" cy="0"/>
          </a:xfrm>
          <a:prstGeom prst="line">
            <a:avLst/>
          </a:prstGeom>
          <a:noFill/>
          <a:ln w="19050">
            <a:solidFill>
              <a:schemeClr val="accent4"/>
            </a:solidFill>
            <a:prstDash val="solid"/>
            <a:tailEnd type="triangle"/>
          </a:ln>
        </p:spPr>
      </p:sp>
      <p:sp>
        <p:nvSpPr>
          <p:cNvPr id="20" name="step"/>
          <p:cNvSpPr/>
          <p:nvPr/>
        </p:nvSpPr>
        <p:spPr>
          <a:xfrm>
            <a:off x="6228710" y="1874520"/>
            <a:ext cx="1627632" cy="1600200"/>
          </a:xfrm>
          <a:prstGeom prst="rect">
            <a:avLst/>
          </a:prstGeom>
          <a:solidFill>
            <a:schemeClr val="tx1"/>
          </a:solidFill>
          <a:ln w="12700">
            <a:solidFill>
              <a:schemeClr val="tx1"/>
            </a:solidFill>
            <a:prstDash val="solid"/>
          </a:ln>
        </p:spPr>
      </p:sp>
      <p:sp>
        <p:nvSpPr>
          <p:cNvPr id="21" name="Text 18"/>
          <p:cNvSpPr txBox="1"/>
          <p:nvPr/>
        </p:nvSpPr>
        <p:spPr>
          <a:xfrm>
            <a:off x="6393302" y="2039112"/>
            <a:ext cx="548640" cy="274320"/>
          </a:xfrm>
          <a:prstGeom prst="rect">
            <a:avLst/>
          </a:prstGeom>
          <a:noFill/>
          <a:ln/>
        </p:spPr>
        <p:txBody>
          <a:bodyPr wrap="square" lIns="0" tIns="0" rIns="0" bIns="0" rtlCol="0" anchor="t"/>
          <a:lstStyle/>
          <a:p>
            <a:pPr indent="0" marL="0">
              <a:buNone/>
            </a:pPr>
            <a:r>
              <a:rPr lang="en-US" sz="1200" b="1" dirty="0">
                <a:solidFill>
                  <a:schemeClr val="accent1"/>
                </a:solidFill>
              </a:rPr>
              <a:t>04</a:t>
            </a:r>
            <a:endParaRPr lang="en-US" sz="1200" dirty="0"/>
          </a:p>
        </p:txBody>
      </p:sp>
      <p:sp>
        <p:nvSpPr>
          <p:cNvPr id="22" name="Text 19"/>
          <p:cNvSpPr txBox="1"/>
          <p:nvPr/>
        </p:nvSpPr>
        <p:spPr>
          <a:xfrm>
            <a:off x="6393302" y="2331720"/>
            <a:ext cx="1353312" cy="457200"/>
          </a:xfrm>
          <a:prstGeom prst="rect">
            <a:avLst/>
          </a:prstGeom>
          <a:noFill/>
          <a:ln/>
        </p:spPr>
        <p:txBody>
          <a:bodyPr wrap="square" lIns="0" tIns="0" rIns="0" bIns="0" rtlCol="0" anchor="t"/>
          <a:lstStyle/>
          <a:p>
            <a:pPr indent="0" marL="0">
              <a:buNone/>
            </a:pPr>
            <a:r>
              <a:rPr lang="en-US" sz="1500" b="1" dirty="0">
                <a:solidFill>
                  <a:schemeClr val="bg1"/>
                </a:solidFill>
              </a:rPr>
              <a:t>Compliance rule</a:t>
            </a:r>
            <a:endParaRPr lang="en-US" sz="1500" dirty="0"/>
          </a:p>
        </p:txBody>
      </p:sp>
      <p:sp>
        <p:nvSpPr>
          <p:cNvPr id="23" name="Text 20"/>
          <p:cNvSpPr txBox="1"/>
          <p:nvPr/>
        </p:nvSpPr>
        <p:spPr>
          <a:xfrm>
            <a:off x="6393302" y="2807208"/>
            <a:ext cx="1353312" cy="594360"/>
          </a:xfrm>
          <a:prstGeom prst="rect">
            <a:avLst/>
          </a:prstGeom>
          <a:noFill/>
          <a:ln/>
        </p:spPr>
        <p:txBody>
          <a:bodyPr wrap="square" lIns="0" tIns="0" rIns="0" bIns="0" rtlCol="0" anchor="t"/>
          <a:lstStyle/>
          <a:p>
            <a:pPr indent="0" marL="0">
              <a:buNone/>
            </a:pPr>
            <a:r>
              <a:rPr lang="en-US" sz="1200" dirty="0">
                <a:solidFill>
                  <a:srgbClr val="C9CDD3"/>
                </a:solidFill>
              </a:rPr>
              <a:t>Violations and person count per frame</a:t>
            </a:r>
            <a:endParaRPr lang="en-US" sz="1200" dirty="0"/>
          </a:p>
        </p:txBody>
      </p:sp>
      <p:sp>
        <p:nvSpPr>
          <p:cNvPr id="24" name="arrow"/>
          <p:cNvSpPr/>
          <p:nvPr/>
        </p:nvSpPr>
        <p:spPr>
          <a:xfrm>
            <a:off x="7902062" y="2679192"/>
            <a:ext cx="174285" cy="0"/>
          </a:xfrm>
          <a:prstGeom prst="line">
            <a:avLst/>
          </a:prstGeom>
          <a:noFill/>
          <a:ln w="19050">
            <a:solidFill>
              <a:schemeClr val="accent4"/>
            </a:solidFill>
            <a:prstDash val="solid"/>
            <a:tailEnd type="triangle"/>
          </a:ln>
        </p:spPr>
      </p:sp>
      <p:sp>
        <p:nvSpPr>
          <p:cNvPr id="25" name="step"/>
          <p:cNvSpPr/>
          <p:nvPr/>
        </p:nvSpPr>
        <p:spPr>
          <a:xfrm>
            <a:off x="8122067" y="1874520"/>
            <a:ext cx="1627632" cy="1600200"/>
          </a:xfrm>
          <a:prstGeom prst="rect">
            <a:avLst/>
          </a:prstGeom>
          <a:solidFill>
            <a:schemeClr val="tx1"/>
          </a:solidFill>
          <a:ln w="12700">
            <a:solidFill>
              <a:schemeClr val="tx1"/>
            </a:solidFill>
            <a:prstDash val="solid"/>
          </a:ln>
        </p:spPr>
      </p:sp>
      <p:sp>
        <p:nvSpPr>
          <p:cNvPr id="26" name="Text 23"/>
          <p:cNvSpPr txBox="1"/>
          <p:nvPr/>
        </p:nvSpPr>
        <p:spPr>
          <a:xfrm>
            <a:off x="8286659" y="2039112"/>
            <a:ext cx="548640" cy="274320"/>
          </a:xfrm>
          <a:prstGeom prst="rect">
            <a:avLst/>
          </a:prstGeom>
          <a:noFill/>
          <a:ln/>
        </p:spPr>
        <p:txBody>
          <a:bodyPr wrap="square" lIns="0" tIns="0" rIns="0" bIns="0" rtlCol="0" anchor="t"/>
          <a:lstStyle/>
          <a:p>
            <a:pPr indent="0" marL="0">
              <a:buNone/>
            </a:pPr>
            <a:r>
              <a:rPr lang="en-US" sz="1200" b="1" dirty="0">
                <a:solidFill>
                  <a:schemeClr val="accent1"/>
                </a:solidFill>
              </a:rPr>
              <a:t>05</a:t>
            </a:r>
            <a:endParaRPr lang="en-US" sz="1200" dirty="0"/>
          </a:p>
        </p:txBody>
      </p:sp>
      <p:sp>
        <p:nvSpPr>
          <p:cNvPr id="27" name="Text 24"/>
          <p:cNvSpPr txBox="1"/>
          <p:nvPr/>
        </p:nvSpPr>
        <p:spPr>
          <a:xfrm>
            <a:off x="8286659" y="2331720"/>
            <a:ext cx="1353312" cy="457200"/>
          </a:xfrm>
          <a:prstGeom prst="rect">
            <a:avLst/>
          </a:prstGeom>
          <a:noFill/>
          <a:ln/>
        </p:spPr>
        <p:txBody>
          <a:bodyPr wrap="square" lIns="0" tIns="0" rIns="0" bIns="0" rtlCol="0" anchor="t"/>
          <a:lstStyle/>
          <a:p>
            <a:pPr indent="0" marL="0">
              <a:buNone/>
            </a:pPr>
            <a:r>
              <a:rPr lang="en-US" sz="1500" b="1" dirty="0">
                <a:solidFill>
                  <a:schemeClr val="bg1"/>
                </a:solidFill>
              </a:rPr>
              <a:t>Temporal filter</a:t>
            </a:r>
            <a:endParaRPr lang="en-US" sz="1500" dirty="0"/>
          </a:p>
        </p:txBody>
      </p:sp>
      <p:sp>
        <p:nvSpPr>
          <p:cNvPr id="28" name="Text 25"/>
          <p:cNvSpPr txBox="1"/>
          <p:nvPr/>
        </p:nvSpPr>
        <p:spPr>
          <a:xfrm>
            <a:off x="8286659" y="2807208"/>
            <a:ext cx="1353312" cy="594360"/>
          </a:xfrm>
          <a:prstGeom prst="rect">
            <a:avLst/>
          </a:prstGeom>
          <a:noFill/>
          <a:ln/>
        </p:spPr>
        <p:txBody>
          <a:bodyPr wrap="square" lIns="0" tIns="0" rIns="0" bIns="0" rtlCol="0" anchor="t"/>
          <a:lstStyle/>
          <a:p>
            <a:pPr indent="0" marL="0">
              <a:buNone/>
            </a:pPr>
            <a:r>
              <a:rPr lang="en-US" sz="1200" dirty="0">
                <a:solidFill>
                  <a:srgbClr val="C9CDD3"/>
                </a:solidFill>
              </a:rPr>
              <a:t>5 consecutive frames, 2 s cooldown</a:t>
            </a:r>
            <a:endParaRPr lang="en-US" sz="1200" dirty="0"/>
          </a:p>
        </p:txBody>
      </p:sp>
      <p:sp>
        <p:nvSpPr>
          <p:cNvPr id="29" name="arrow"/>
          <p:cNvSpPr/>
          <p:nvPr/>
        </p:nvSpPr>
        <p:spPr>
          <a:xfrm>
            <a:off x="9795419" y="2679192"/>
            <a:ext cx="174285" cy="0"/>
          </a:xfrm>
          <a:prstGeom prst="line">
            <a:avLst/>
          </a:prstGeom>
          <a:noFill/>
          <a:ln w="19050">
            <a:solidFill>
              <a:schemeClr val="accent4"/>
            </a:solidFill>
            <a:prstDash val="solid"/>
            <a:tailEnd type="triangle"/>
          </a:ln>
        </p:spPr>
      </p:sp>
      <p:sp>
        <p:nvSpPr>
          <p:cNvPr id="30" name="step"/>
          <p:cNvSpPr/>
          <p:nvPr/>
        </p:nvSpPr>
        <p:spPr>
          <a:xfrm>
            <a:off x="10015423" y="1874520"/>
            <a:ext cx="1627632" cy="1600200"/>
          </a:xfrm>
          <a:prstGeom prst="rect">
            <a:avLst/>
          </a:prstGeom>
          <a:solidFill>
            <a:schemeClr val="tx1"/>
          </a:solidFill>
          <a:ln w="12700">
            <a:solidFill>
              <a:schemeClr val="tx1"/>
            </a:solidFill>
            <a:prstDash val="solid"/>
          </a:ln>
        </p:spPr>
      </p:sp>
      <p:sp>
        <p:nvSpPr>
          <p:cNvPr id="31" name="Text 28"/>
          <p:cNvSpPr txBox="1"/>
          <p:nvPr/>
        </p:nvSpPr>
        <p:spPr>
          <a:xfrm>
            <a:off x="10180015" y="2039112"/>
            <a:ext cx="548640" cy="274320"/>
          </a:xfrm>
          <a:prstGeom prst="rect">
            <a:avLst/>
          </a:prstGeom>
          <a:noFill/>
          <a:ln/>
        </p:spPr>
        <p:txBody>
          <a:bodyPr wrap="square" lIns="0" tIns="0" rIns="0" bIns="0" rtlCol="0" anchor="t"/>
          <a:lstStyle/>
          <a:p>
            <a:pPr indent="0" marL="0">
              <a:buNone/>
            </a:pPr>
            <a:r>
              <a:rPr lang="en-US" sz="1200" b="1" dirty="0">
                <a:solidFill>
                  <a:schemeClr val="accent1"/>
                </a:solidFill>
              </a:rPr>
              <a:t>06</a:t>
            </a:r>
            <a:endParaRPr lang="en-US" sz="1200" dirty="0"/>
          </a:p>
        </p:txBody>
      </p:sp>
      <p:sp>
        <p:nvSpPr>
          <p:cNvPr id="32" name="Text 29"/>
          <p:cNvSpPr txBox="1"/>
          <p:nvPr/>
        </p:nvSpPr>
        <p:spPr>
          <a:xfrm>
            <a:off x="10180015" y="2331720"/>
            <a:ext cx="1353312" cy="457200"/>
          </a:xfrm>
          <a:prstGeom prst="rect">
            <a:avLst/>
          </a:prstGeom>
          <a:noFill/>
          <a:ln/>
        </p:spPr>
        <p:txBody>
          <a:bodyPr wrap="square" lIns="0" tIns="0" rIns="0" bIns="0" rtlCol="0" anchor="t"/>
          <a:lstStyle/>
          <a:p>
            <a:pPr indent="0" marL="0">
              <a:buNone/>
            </a:pPr>
            <a:r>
              <a:rPr lang="en-US" sz="1500" b="1" dirty="0">
                <a:solidFill>
                  <a:schemeClr val="bg1"/>
                </a:solidFill>
              </a:rPr>
              <a:t>Incident log</a:t>
            </a:r>
            <a:endParaRPr lang="en-US" sz="1500" dirty="0"/>
          </a:p>
        </p:txBody>
      </p:sp>
      <p:sp>
        <p:nvSpPr>
          <p:cNvPr id="33" name="Text 30"/>
          <p:cNvSpPr txBox="1"/>
          <p:nvPr/>
        </p:nvSpPr>
        <p:spPr>
          <a:xfrm>
            <a:off x="10180015" y="2807208"/>
            <a:ext cx="1353312" cy="594360"/>
          </a:xfrm>
          <a:prstGeom prst="rect">
            <a:avLst/>
          </a:prstGeom>
          <a:noFill/>
          <a:ln/>
        </p:spPr>
        <p:txBody>
          <a:bodyPr wrap="square" lIns="0" tIns="0" rIns="0" bIns="0" rtlCol="0" anchor="t"/>
          <a:lstStyle/>
          <a:p>
            <a:pPr indent="0" marL="0">
              <a:buNone/>
            </a:pPr>
            <a:r>
              <a:rPr lang="en-US" sz="1200" dirty="0">
                <a:solidFill>
                  <a:srgbClr val="C9CDD3"/>
                </a:solidFill>
              </a:rPr>
              <a:t>Snapshot, metrics, compliance score</a:t>
            </a:r>
            <a:endParaRPr lang="en-US" sz="1200" dirty="0"/>
          </a:p>
        </p:txBody>
      </p:sp>
      <p:sp>
        <p:nvSpPr>
          <p:cNvPr id="34" name="Text 31"/>
          <p:cNvSpPr txBox="1"/>
          <p:nvPr/>
        </p:nvSpPr>
        <p:spPr>
          <a:xfrm>
            <a:off x="548640" y="3611880"/>
            <a:ext cx="11094415" cy="274320"/>
          </a:xfrm>
          <a:prstGeom prst="rect">
            <a:avLst/>
          </a:prstGeom>
          <a:noFill/>
          <a:ln/>
        </p:spPr>
        <p:txBody>
          <a:bodyPr wrap="square" lIns="0" tIns="0" rIns="0" bIns="0" rtlCol="0" anchor="t"/>
          <a:lstStyle/>
          <a:p>
            <a:pPr algn="r" indent="0" marL="0">
              <a:buNone/>
            </a:pPr>
            <a:r>
              <a:rPr lang="en-US" sz="1200" i="1" dirty="0">
                <a:solidFill>
                  <a:schemeClr val="accent4"/>
                </a:solidFill>
              </a:rPr>
              <a:t>Steps 04 to 06: the decision layer this work adds to the detector</a:t>
            </a:r>
            <a:endParaRPr lang="en-US" sz="1200" dirty="0"/>
          </a:p>
        </p:txBody>
      </p:sp>
      <p:sp>
        <p:nvSpPr>
          <p:cNvPr id="35" name="rule"/>
          <p:cNvSpPr/>
          <p:nvPr/>
        </p:nvSpPr>
        <p:spPr>
          <a:xfrm>
            <a:off x="548640" y="4206240"/>
            <a:ext cx="3515258" cy="0"/>
          </a:xfrm>
          <a:prstGeom prst="line">
            <a:avLst/>
          </a:prstGeom>
          <a:noFill/>
          <a:ln w="9525">
            <a:solidFill>
              <a:schemeClr val="tx1"/>
            </a:solidFill>
            <a:prstDash val="solid"/>
          </a:ln>
        </p:spPr>
      </p:sp>
      <p:sp>
        <p:nvSpPr>
          <p:cNvPr id="36" name="Text 33"/>
          <p:cNvSpPr txBox="1"/>
          <p:nvPr/>
        </p:nvSpPr>
        <p:spPr>
          <a:xfrm>
            <a:off x="548640" y="4343400"/>
            <a:ext cx="3515258" cy="365760"/>
          </a:xfrm>
          <a:prstGeom prst="rect">
            <a:avLst/>
          </a:prstGeom>
          <a:noFill/>
          <a:ln/>
        </p:spPr>
        <p:txBody>
          <a:bodyPr wrap="square" lIns="0" tIns="0" rIns="0" bIns="0" rtlCol="0" anchor="t"/>
          <a:lstStyle/>
          <a:p>
            <a:pPr indent="0" marL="0">
              <a:buNone/>
            </a:pPr>
            <a:r>
              <a:rPr lang="en-US" sz="1800" b="1" dirty="0">
                <a:solidFill>
                  <a:schemeClr val="tx1"/>
                </a:solidFill>
              </a:rPr>
              <a:t>Thresholds</a:t>
            </a:r>
            <a:endParaRPr lang="en-US" sz="1800" dirty="0"/>
          </a:p>
        </p:txBody>
      </p:sp>
      <p:sp>
        <p:nvSpPr>
          <p:cNvPr id="37" name="Text 34"/>
          <p:cNvSpPr txBox="1"/>
          <p:nvPr/>
        </p:nvSpPr>
        <p:spPr>
          <a:xfrm>
            <a:off x="548640" y="4754880"/>
            <a:ext cx="3515258" cy="1097280"/>
          </a:xfrm>
          <a:prstGeom prst="rect">
            <a:avLst/>
          </a:prstGeom>
          <a:noFill/>
          <a:ln/>
        </p:spPr>
        <p:txBody>
          <a:bodyPr wrap="square" lIns="0" tIns="0" rIns="0" bIns="0" rtlCol="0" anchor="t"/>
          <a:lstStyle/>
          <a:p>
            <a:pPr indent="0" marL="0">
              <a:buNone/>
            </a:pPr>
            <a:r>
              <a:rPr lang="en-US" sz="1400" dirty="0">
                <a:solidFill>
                  <a:schemeClr val="accent4"/>
                </a:solidFill>
              </a:rPr>
              <a:t>Confidence 0.40 and NMS IoU 0.45 by default; staff can change both from 0.10 to 0.95 on the dashboard without a restart.</a:t>
            </a:r>
            <a:endParaRPr lang="en-US" sz="1400" dirty="0"/>
          </a:p>
        </p:txBody>
      </p:sp>
      <p:sp>
        <p:nvSpPr>
          <p:cNvPr id="38" name="rule"/>
          <p:cNvSpPr/>
          <p:nvPr/>
        </p:nvSpPr>
        <p:spPr>
          <a:xfrm>
            <a:off x="4338218" y="4206240"/>
            <a:ext cx="3515258" cy="0"/>
          </a:xfrm>
          <a:prstGeom prst="line">
            <a:avLst/>
          </a:prstGeom>
          <a:noFill/>
          <a:ln w="9525">
            <a:solidFill>
              <a:schemeClr val="tx1"/>
            </a:solidFill>
            <a:prstDash val="solid"/>
          </a:ln>
        </p:spPr>
      </p:sp>
      <p:sp>
        <p:nvSpPr>
          <p:cNvPr id="39" name="Text 36"/>
          <p:cNvSpPr txBox="1"/>
          <p:nvPr/>
        </p:nvSpPr>
        <p:spPr>
          <a:xfrm>
            <a:off x="4338218" y="4343400"/>
            <a:ext cx="3515258" cy="365760"/>
          </a:xfrm>
          <a:prstGeom prst="rect">
            <a:avLst/>
          </a:prstGeom>
          <a:noFill/>
          <a:ln/>
        </p:spPr>
        <p:txBody>
          <a:bodyPr wrap="square" lIns="0" tIns="0" rIns="0" bIns="0" rtlCol="0" anchor="t"/>
          <a:lstStyle/>
          <a:p>
            <a:pPr indent="0" marL="0">
              <a:buNone/>
            </a:pPr>
            <a:r>
              <a:rPr lang="en-US" sz="1800" b="1" dirty="0">
                <a:solidFill>
                  <a:schemeClr val="tx1"/>
                </a:solidFill>
              </a:rPr>
              <a:t>Photos and video</a:t>
            </a:r>
            <a:endParaRPr lang="en-US" sz="1800" dirty="0"/>
          </a:p>
        </p:txBody>
      </p:sp>
      <p:sp>
        <p:nvSpPr>
          <p:cNvPr id="40" name="Text 37"/>
          <p:cNvSpPr txBox="1"/>
          <p:nvPr/>
        </p:nvSpPr>
        <p:spPr>
          <a:xfrm>
            <a:off x="4338218" y="4754880"/>
            <a:ext cx="3515258" cy="1097280"/>
          </a:xfrm>
          <a:prstGeom prst="rect">
            <a:avLst/>
          </a:prstGeom>
          <a:noFill/>
          <a:ln/>
        </p:spPr>
        <p:txBody>
          <a:bodyPr wrap="square" lIns="0" tIns="0" rIns="0" bIns="0" rtlCol="0" anchor="t"/>
          <a:lstStyle/>
          <a:p>
            <a:pPr indent="0" marL="0">
              <a:buNone/>
            </a:pPr>
            <a:r>
              <a:rPr lang="en-US" sz="1400" dirty="0">
                <a:solidFill>
                  <a:schemeClr val="accent4"/>
                </a:solidFill>
              </a:rPr>
              <a:t>Video violations must be confirmed over 5 frames. Single photos have no temporal context, so a violation raises an incident directly.</a:t>
            </a:r>
            <a:endParaRPr lang="en-US" sz="1400" dirty="0"/>
          </a:p>
        </p:txBody>
      </p:sp>
      <p:sp>
        <p:nvSpPr>
          <p:cNvPr id="41" name="rule"/>
          <p:cNvSpPr/>
          <p:nvPr/>
        </p:nvSpPr>
        <p:spPr>
          <a:xfrm>
            <a:off x="8127797" y="4206240"/>
            <a:ext cx="3515258" cy="0"/>
          </a:xfrm>
          <a:prstGeom prst="line">
            <a:avLst/>
          </a:prstGeom>
          <a:noFill/>
          <a:ln w="9525">
            <a:solidFill>
              <a:schemeClr val="tx1"/>
            </a:solidFill>
            <a:prstDash val="solid"/>
          </a:ln>
        </p:spPr>
      </p:sp>
      <p:sp>
        <p:nvSpPr>
          <p:cNvPr id="42" name="Text 39"/>
          <p:cNvSpPr txBox="1"/>
          <p:nvPr/>
        </p:nvSpPr>
        <p:spPr>
          <a:xfrm>
            <a:off x="8127797" y="4343400"/>
            <a:ext cx="3515258" cy="365760"/>
          </a:xfrm>
          <a:prstGeom prst="rect">
            <a:avLst/>
          </a:prstGeom>
          <a:noFill/>
          <a:ln/>
        </p:spPr>
        <p:txBody>
          <a:bodyPr wrap="square" lIns="0" tIns="0" rIns="0" bIns="0" rtlCol="0" anchor="t"/>
          <a:lstStyle/>
          <a:p>
            <a:pPr indent="0" marL="0">
              <a:buNone/>
            </a:pPr>
            <a:r>
              <a:rPr lang="en-US" sz="1800" b="1" dirty="0">
                <a:solidFill>
                  <a:schemeClr val="tx1"/>
                </a:solidFill>
              </a:rPr>
              <a:t>Outputs</a:t>
            </a:r>
            <a:endParaRPr lang="en-US" sz="1800" dirty="0"/>
          </a:p>
        </p:txBody>
      </p:sp>
      <p:sp>
        <p:nvSpPr>
          <p:cNvPr id="43" name="Text 40"/>
          <p:cNvSpPr txBox="1"/>
          <p:nvPr/>
        </p:nvSpPr>
        <p:spPr>
          <a:xfrm>
            <a:off x="8127797" y="4754880"/>
            <a:ext cx="3515258" cy="1097280"/>
          </a:xfrm>
          <a:prstGeom prst="rect">
            <a:avLst/>
          </a:prstGeom>
          <a:noFill/>
          <a:ln/>
        </p:spPr>
        <p:txBody>
          <a:bodyPr wrap="square" lIns="0" tIns="0" rIns="0" bIns="0" rtlCol="0" anchor="t"/>
          <a:lstStyle/>
          <a:p>
            <a:pPr indent="0" marL="0">
              <a:buNone/>
            </a:pPr>
            <a:r>
              <a:rPr lang="en-US" sz="1400" dirty="0">
                <a:solidFill>
                  <a:schemeClr val="accent4"/>
                </a:solidFill>
              </a:rPr>
              <a:t>Each incident stores an annotated snapshot. Session metrics include the compliance score, alerts per hour and frames processed.</a:t>
            </a:r>
            <a:endParaRPr lang="en-US" sz="1400" dirty="0"/>
          </a:p>
        </p:txBody>
      </p:sp>
      <p:sp>
        <p:nvSpPr>
          <p:cNvPr id="25" name="Slide Number Placeholder 0"/>
          <p:cNvSpPr>
            <a:spLocks noGrp="1"/>
          </p:cNvSpPr>
          <p:nvPr>
            <p:ph type="sldNum" sz="quarter" idx="4294967295"/>
          </p:nvPr>
        </p:nvSpPr>
        <p:spPr>
          <a:xfrm>
            <a:off x="11091672" y="640080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84048"/>
            <a:ext cx="11094415" cy="256032"/>
          </a:xfrm>
          <a:prstGeom prst="rect">
            <a:avLst/>
          </a:prstGeom>
          <a:noFill/>
          <a:ln/>
        </p:spPr>
        <p:txBody>
          <a:bodyPr wrap="square" lIns="0" tIns="0" rIns="0" bIns="0" rtlCol="0" anchor="t"/>
          <a:lstStyle/>
          <a:p>
            <a:pPr indent="0" marL="0">
              <a:buNone/>
            </a:pPr>
            <a:r>
              <a:rPr lang="en-US" sz="1100" b="1" spc="150" kern="0" dirty="0">
                <a:solidFill>
                  <a:schemeClr val="accent4"/>
                </a:solidFill>
              </a:rPr>
              <a:t>METHOD</a:t>
            </a:r>
            <a:endParaRPr lang="en-US" sz="1100" dirty="0"/>
          </a:p>
        </p:txBody>
      </p:sp>
      <p:sp>
        <p:nvSpPr>
          <p:cNvPr id="3" name="Text 0"/>
          <p:cNvSpPr/>
          <p:nvPr>
            <p:ph idx="100"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3600" b="1" dirty="0">
                <a:solidFill>
                  <a:schemeClr val="tx1"/>
                </a:solidFill>
              </a:rPr>
              <a:t>Detection classes and compliance rule</a:t>
            </a:r>
            <a:endParaRPr lang="en-US" sz="3600" dirty="0"/>
          </a:p>
        </p:txBody>
      </p:sp>
      <p:sp>
        <p:nvSpPr>
          <p:cNvPr id="5" name="Text 2"/>
          <p:cNvSpPr txBox="1"/>
          <p:nvPr/>
        </p:nvSpPr>
        <p:spPr>
          <a:xfrm>
            <a:off x="548640" y="1554480"/>
            <a:ext cx="5120640" cy="365760"/>
          </a:xfrm>
          <a:prstGeom prst="rect">
            <a:avLst/>
          </a:prstGeom>
          <a:noFill/>
          <a:ln/>
        </p:spPr>
        <p:txBody>
          <a:bodyPr wrap="square" lIns="0" tIns="0" rIns="0" bIns="0" rtlCol="0" anchor="t"/>
          <a:lstStyle/>
          <a:p>
            <a:pPr indent="0" marL="0">
              <a:buNone/>
            </a:pPr>
            <a:r>
              <a:rPr lang="en-US" sz="1800" b="1" dirty="0">
                <a:solidFill>
                  <a:schemeClr val="tx1"/>
                </a:solidFill>
              </a:rPr>
              <a:t>Ten classes, five roles</a:t>
            </a:r>
            <a:endParaRPr lang="en-US" sz="1800" dirty="0"/>
          </a:p>
        </p:txBody>
      </p:sp>
      <p:sp>
        <p:nvSpPr>
          <p:cNvPr id="6" name="role chip"/>
          <p:cNvSpPr/>
          <p:nvPr/>
        </p:nvSpPr>
        <p:spPr>
          <a:xfrm>
            <a:off x="548640" y="2157984"/>
            <a:ext cx="146304" cy="548640"/>
          </a:xfrm>
          <a:prstGeom prst="rect">
            <a:avLst/>
          </a:prstGeom>
          <a:solidFill>
            <a:schemeClr val="accent3"/>
          </a:solidFill>
          <a:ln w="12700">
            <a:solidFill>
              <a:schemeClr val="accent3"/>
            </a:solidFill>
            <a:prstDash val="solid"/>
          </a:ln>
        </p:spPr>
      </p:sp>
      <p:sp>
        <p:nvSpPr>
          <p:cNvPr id="7" name="Text 4"/>
          <p:cNvSpPr txBox="1"/>
          <p:nvPr/>
        </p:nvSpPr>
        <p:spPr>
          <a:xfrm>
            <a:off x="868680" y="2103120"/>
            <a:ext cx="4800600" cy="292608"/>
          </a:xfrm>
          <a:prstGeom prst="rect">
            <a:avLst/>
          </a:prstGeom>
          <a:noFill/>
          <a:ln/>
        </p:spPr>
        <p:txBody>
          <a:bodyPr wrap="square" lIns="0" tIns="0" rIns="0" bIns="0" rtlCol="0" anchor="t"/>
          <a:lstStyle/>
          <a:p>
            <a:pPr indent="0" marL="0">
              <a:buNone/>
            </a:pPr>
            <a:r>
              <a:rPr lang="en-US" sz="1400" b="1" dirty="0">
                <a:solidFill>
                  <a:schemeClr val="tx1"/>
                </a:solidFill>
              </a:rPr>
              <a:t>Required PPE</a:t>
            </a:r>
            <a:endParaRPr lang="en-US" sz="1400" dirty="0"/>
          </a:p>
        </p:txBody>
      </p:sp>
      <p:sp>
        <p:nvSpPr>
          <p:cNvPr id="8" name="Text 5"/>
          <p:cNvSpPr txBox="1"/>
          <p:nvPr/>
        </p:nvSpPr>
        <p:spPr>
          <a:xfrm>
            <a:off x="868680" y="2432304"/>
            <a:ext cx="4800600" cy="292608"/>
          </a:xfrm>
          <a:prstGeom prst="rect">
            <a:avLst/>
          </a:prstGeom>
          <a:noFill/>
          <a:ln/>
        </p:spPr>
        <p:txBody>
          <a:bodyPr wrap="square" lIns="0" tIns="0" rIns="0" bIns="0" rtlCol="0" anchor="t"/>
          <a:lstStyle/>
          <a:p>
            <a:pPr indent="0" marL="0">
              <a:buNone/>
            </a:pPr>
            <a:r>
              <a:rPr lang="en-US" sz="1400" dirty="0">
                <a:solidFill>
                  <a:schemeClr val="accent4"/>
                </a:solidFill>
              </a:rPr>
              <a:t>Hardhat, Safety Vest</a:t>
            </a:r>
            <a:endParaRPr lang="en-US" sz="1400" dirty="0"/>
          </a:p>
        </p:txBody>
      </p:sp>
      <p:sp>
        <p:nvSpPr>
          <p:cNvPr id="9" name="role chip"/>
          <p:cNvSpPr/>
          <p:nvPr/>
        </p:nvSpPr>
        <p:spPr>
          <a:xfrm>
            <a:off x="548640" y="2907792"/>
            <a:ext cx="146304" cy="548640"/>
          </a:xfrm>
          <a:prstGeom prst="rect">
            <a:avLst/>
          </a:prstGeom>
          <a:solidFill>
            <a:schemeClr val="accent2"/>
          </a:solidFill>
          <a:ln w="12700">
            <a:solidFill>
              <a:schemeClr val="accent2"/>
            </a:solidFill>
            <a:prstDash val="solid"/>
          </a:ln>
        </p:spPr>
      </p:sp>
      <p:sp>
        <p:nvSpPr>
          <p:cNvPr id="10" name="Text 7"/>
          <p:cNvSpPr txBox="1"/>
          <p:nvPr/>
        </p:nvSpPr>
        <p:spPr>
          <a:xfrm>
            <a:off x="868680" y="2852928"/>
            <a:ext cx="4800600" cy="292608"/>
          </a:xfrm>
          <a:prstGeom prst="rect">
            <a:avLst/>
          </a:prstGeom>
          <a:noFill/>
          <a:ln/>
        </p:spPr>
        <p:txBody>
          <a:bodyPr wrap="square" lIns="0" tIns="0" rIns="0" bIns="0" rtlCol="0" anchor="t"/>
          <a:lstStyle/>
          <a:p>
            <a:pPr indent="0" marL="0">
              <a:buNone/>
            </a:pPr>
            <a:r>
              <a:rPr lang="en-US" sz="1400" b="1" dirty="0">
                <a:solidFill>
                  <a:schemeClr val="tx1"/>
                </a:solidFill>
              </a:rPr>
              <a:t>Violation, raises an incident</a:t>
            </a:r>
            <a:endParaRPr lang="en-US" sz="1400" dirty="0"/>
          </a:p>
        </p:txBody>
      </p:sp>
      <p:sp>
        <p:nvSpPr>
          <p:cNvPr id="11" name="Text 8"/>
          <p:cNvSpPr txBox="1"/>
          <p:nvPr/>
        </p:nvSpPr>
        <p:spPr>
          <a:xfrm>
            <a:off x="868680" y="3182112"/>
            <a:ext cx="4800600" cy="292608"/>
          </a:xfrm>
          <a:prstGeom prst="rect">
            <a:avLst/>
          </a:prstGeom>
          <a:noFill/>
          <a:ln/>
        </p:spPr>
        <p:txBody>
          <a:bodyPr wrap="square" lIns="0" tIns="0" rIns="0" bIns="0" rtlCol="0" anchor="t"/>
          <a:lstStyle/>
          <a:p>
            <a:pPr indent="0" marL="0">
              <a:buNone/>
            </a:pPr>
            <a:r>
              <a:rPr lang="en-US" sz="1400" dirty="0">
                <a:solidFill>
                  <a:schemeClr val="accent4"/>
                </a:solidFill>
              </a:rPr>
              <a:t>NO-Hardhat, NO-Safety Vest</a:t>
            </a:r>
            <a:endParaRPr lang="en-US" sz="1400" dirty="0"/>
          </a:p>
        </p:txBody>
      </p:sp>
      <p:sp>
        <p:nvSpPr>
          <p:cNvPr id="12" name="role chip"/>
          <p:cNvSpPr/>
          <p:nvPr/>
        </p:nvSpPr>
        <p:spPr>
          <a:xfrm>
            <a:off x="548640" y="3657600"/>
            <a:ext cx="146304" cy="548640"/>
          </a:xfrm>
          <a:prstGeom prst="rect">
            <a:avLst/>
          </a:prstGeom>
          <a:solidFill>
            <a:schemeClr val="accent5"/>
          </a:solidFill>
          <a:ln w="12700">
            <a:solidFill>
              <a:schemeClr val="accent5"/>
            </a:solidFill>
            <a:prstDash val="solid"/>
          </a:ln>
        </p:spPr>
      </p:sp>
      <p:sp>
        <p:nvSpPr>
          <p:cNvPr id="13" name="Text 10"/>
          <p:cNvSpPr txBox="1"/>
          <p:nvPr/>
        </p:nvSpPr>
        <p:spPr>
          <a:xfrm>
            <a:off x="868680" y="3602736"/>
            <a:ext cx="4800600" cy="292608"/>
          </a:xfrm>
          <a:prstGeom prst="rect">
            <a:avLst/>
          </a:prstGeom>
          <a:noFill/>
          <a:ln/>
        </p:spPr>
        <p:txBody>
          <a:bodyPr wrap="square" lIns="0" tIns="0" rIns="0" bIns="0" rtlCol="0" anchor="t"/>
          <a:lstStyle/>
          <a:p>
            <a:pPr indent="0" marL="0">
              <a:buNone/>
            </a:pPr>
            <a:r>
              <a:rPr lang="en-US" sz="1400" b="1" dirty="0">
                <a:solidFill>
                  <a:schemeClr val="tx1"/>
                </a:solidFill>
              </a:rPr>
              <a:t>Advisory, reported only</a:t>
            </a:r>
            <a:endParaRPr lang="en-US" sz="1400" dirty="0"/>
          </a:p>
        </p:txBody>
      </p:sp>
      <p:sp>
        <p:nvSpPr>
          <p:cNvPr id="14" name="Text 11"/>
          <p:cNvSpPr txBox="1"/>
          <p:nvPr/>
        </p:nvSpPr>
        <p:spPr>
          <a:xfrm>
            <a:off x="868680" y="3931920"/>
            <a:ext cx="4800600" cy="292608"/>
          </a:xfrm>
          <a:prstGeom prst="rect">
            <a:avLst/>
          </a:prstGeom>
          <a:noFill/>
          <a:ln/>
        </p:spPr>
        <p:txBody>
          <a:bodyPr wrap="square" lIns="0" tIns="0" rIns="0" bIns="0" rtlCol="0" anchor="t"/>
          <a:lstStyle/>
          <a:p>
            <a:pPr indent="0" marL="0">
              <a:buNone/>
            </a:pPr>
            <a:r>
              <a:rPr lang="en-US" sz="1400" dirty="0">
                <a:solidFill>
                  <a:schemeClr val="accent4"/>
                </a:solidFill>
              </a:rPr>
              <a:t>Mask, NO-Mask</a:t>
            </a:r>
            <a:endParaRPr lang="en-US" sz="1400" dirty="0"/>
          </a:p>
        </p:txBody>
      </p:sp>
      <p:sp>
        <p:nvSpPr>
          <p:cNvPr id="15" name="role chip"/>
          <p:cNvSpPr/>
          <p:nvPr/>
        </p:nvSpPr>
        <p:spPr>
          <a:xfrm>
            <a:off x="548640" y="4407408"/>
            <a:ext cx="146304" cy="548640"/>
          </a:xfrm>
          <a:prstGeom prst="rect">
            <a:avLst/>
          </a:prstGeom>
          <a:solidFill>
            <a:schemeClr val="accent6"/>
          </a:solidFill>
          <a:ln w="12700">
            <a:solidFill>
              <a:schemeClr val="accent6"/>
            </a:solidFill>
            <a:prstDash val="solid"/>
          </a:ln>
        </p:spPr>
      </p:sp>
      <p:sp>
        <p:nvSpPr>
          <p:cNvPr id="16" name="Text 13"/>
          <p:cNvSpPr txBox="1"/>
          <p:nvPr/>
        </p:nvSpPr>
        <p:spPr>
          <a:xfrm>
            <a:off x="868680" y="4352544"/>
            <a:ext cx="4800600" cy="292608"/>
          </a:xfrm>
          <a:prstGeom prst="rect">
            <a:avLst/>
          </a:prstGeom>
          <a:noFill/>
          <a:ln/>
        </p:spPr>
        <p:txBody>
          <a:bodyPr wrap="square" lIns="0" tIns="0" rIns="0" bIns="0" rtlCol="0" anchor="t"/>
          <a:lstStyle/>
          <a:p>
            <a:pPr indent="0" marL="0">
              <a:buNone/>
            </a:pPr>
            <a:r>
              <a:rPr lang="en-US" sz="1400" b="1" dirty="0">
                <a:solidFill>
                  <a:schemeClr val="tx1"/>
                </a:solidFill>
              </a:rPr>
              <a:t>Counted for the score</a:t>
            </a:r>
            <a:endParaRPr lang="en-US" sz="1400" dirty="0"/>
          </a:p>
        </p:txBody>
      </p:sp>
      <p:sp>
        <p:nvSpPr>
          <p:cNvPr id="17" name="Text 14"/>
          <p:cNvSpPr txBox="1"/>
          <p:nvPr/>
        </p:nvSpPr>
        <p:spPr>
          <a:xfrm>
            <a:off x="868680" y="4681728"/>
            <a:ext cx="4800600" cy="292608"/>
          </a:xfrm>
          <a:prstGeom prst="rect">
            <a:avLst/>
          </a:prstGeom>
          <a:noFill/>
          <a:ln/>
        </p:spPr>
        <p:txBody>
          <a:bodyPr wrap="square" lIns="0" tIns="0" rIns="0" bIns="0" rtlCol="0" anchor="t"/>
          <a:lstStyle/>
          <a:p>
            <a:pPr indent="0" marL="0">
              <a:buNone/>
            </a:pPr>
            <a:r>
              <a:rPr lang="en-US" sz="1400" dirty="0">
                <a:solidFill>
                  <a:schemeClr val="accent4"/>
                </a:solidFill>
              </a:rPr>
              <a:t>Person</a:t>
            </a:r>
            <a:endParaRPr lang="en-US" sz="1400" dirty="0"/>
          </a:p>
        </p:txBody>
      </p:sp>
      <p:sp>
        <p:nvSpPr>
          <p:cNvPr id="18" name="role chip"/>
          <p:cNvSpPr/>
          <p:nvPr/>
        </p:nvSpPr>
        <p:spPr>
          <a:xfrm>
            <a:off x="548640" y="5157216"/>
            <a:ext cx="146304" cy="548640"/>
          </a:xfrm>
          <a:prstGeom prst="rect">
            <a:avLst/>
          </a:prstGeom>
          <a:solidFill>
            <a:schemeClr val="accent4"/>
          </a:solidFill>
          <a:ln w="12700">
            <a:solidFill>
              <a:schemeClr val="accent4"/>
            </a:solidFill>
            <a:prstDash val="solid"/>
          </a:ln>
        </p:spPr>
      </p:sp>
      <p:sp>
        <p:nvSpPr>
          <p:cNvPr id="19" name="Text 16"/>
          <p:cNvSpPr txBox="1"/>
          <p:nvPr/>
        </p:nvSpPr>
        <p:spPr>
          <a:xfrm>
            <a:off x="868680" y="5102352"/>
            <a:ext cx="4800600" cy="292608"/>
          </a:xfrm>
          <a:prstGeom prst="rect">
            <a:avLst/>
          </a:prstGeom>
          <a:noFill/>
          <a:ln/>
        </p:spPr>
        <p:txBody>
          <a:bodyPr wrap="square" lIns="0" tIns="0" rIns="0" bIns="0" rtlCol="0" anchor="t"/>
          <a:lstStyle/>
          <a:p>
            <a:pPr indent="0" marL="0">
              <a:buNone/>
            </a:pPr>
            <a:r>
              <a:rPr lang="en-US" sz="1400" b="1" dirty="0">
                <a:solidFill>
                  <a:schemeClr val="tx1"/>
                </a:solidFill>
              </a:rPr>
              <a:t>Site context</a:t>
            </a:r>
            <a:endParaRPr lang="en-US" sz="1400" dirty="0"/>
          </a:p>
        </p:txBody>
      </p:sp>
      <p:sp>
        <p:nvSpPr>
          <p:cNvPr id="20" name="Text 17"/>
          <p:cNvSpPr txBox="1"/>
          <p:nvPr/>
        </p:nvSpPr>
        <p:spPr>
          <a:xfrm>
            <a:off x="868680" y="5431536"/>
            <a:ext cx="4800600" cy="292608"/>
          </a:xfrm>
          <a:prstGeom prst="rect">
            <a:avLst/>
          </a:prstGeom>
          <a:noFill/>
          <a:ln/>
        </p:spPr>
        <p:txBody>
          <a:bodyPr wrap="square" lIns="0" tIns="0" rIns="0" bIns="0" rtlCol="0" anchor="t"/>
          <a:lstStyle/>
          <a:p>
            <a:pPr indent="0" marL="0">
              <a:buNone/>
            </a:pPr>
            <a:r>
              <a:rPr lang="en-US" sz="1400" dirty="0">
                <a:solidFill>
                  <a:schemeClr val="accent4"/>
                </a:solidFill>
              </a:rPr>
              <a:t>Safety Cone, machinery, vehicle</a:t>
            </a:r>
            <a:endParaRPr lang="en-US" sz="1400" dirty="0"/>
          </a:p>
        </p:txBody>
      </p:sp>
      <p:sp>
        <p:nvSpPr>
          <p:cNvPr id="21" name="Text 18"/>
          <p:cNvSpPr txBox="1"/>
          <p:nvPr/>
        </p:nvSpPr>
        <p:spPr>
          <a:xfrm>
            <a:off x="6217920" y="1554480"/>
            <a:ext cx="5425135" cy="365760"/>
          </a:xfrm>
          <a:prstGeom prst="rect">
            <a:avLst/>
          </a:prstGeom>
          <a:noFill/>
          <a:ln/>
        </p:spPr>
        <p:txBody>
          <a:bodyPr wrap="square" lIns="0" tIns="0" rIns="0" bIns="0" rtlCol="0" anchor="t"/>
          <a:lstStyle/>
          <a:p>
            <a:pPr indent="0" marL="0">
              <a:buNone/>
            </a:pPr>
            <a:r>
              <a:rPr lang="en-US" sz="1800" b="1" dirty="0">
                <a:solidFill>
                  <a:schemeClr val="tx1"/>
                </a:solidFill>
              </a:rPr>
              <a:t>Rule per frame t</a:t>
            </a:r>
            <a:endParaRPr lang="en-US" sz="1800" dirty="0"/>
          </a:p>
        </p:txBody>
      </p:sp>
      <p:sp>
        <p:nvSpPr>
          <p:cNvPr id="22" name="panel"/>
          <p:cNvSpPr/>
          <p:nvPr/>
        </p:nvSpPr>
        <p:spPr>
          <a:xfrm>
            <a:off x="6217920" y="2103120"/>
            <a:ext cx="5425135" cy="1097280"/>
          </a:xfrm>
          <a:prstGeom prst="rect">
            <a:avLst/>
          </a:prstGeom>
          <a:solidFill>
            <a:schemeClr val="bg2"/>
          </a:solidFill>
          <a:ln w="12700">
            <a:solidFill>
              <a:schemeClr val="bg2"/>
            </a:solidFill>
            <a:prstDash val="solid"/>
          </a:ln>
        </p:spPr>
      </p:sp>
      <p:sp>
        <p:nvSpPr>
          <p:cNvPr id="23" name="Text 20"/>
          <p:cNvSpPr txBox="1"/>
          <p:nvPr/>
        </p:nvSpPr>
        <p:spPr>
          <a:xfrm>
            <a:off x="6446520" y="2212848"/>
            <a:ext cx="4967935" cy="256032"/>
          </a:xfrm>
          <a:prstGeom prst="rect">
            <a:avLst/>
          </a:prstGeom>
          <a:noFill/>
          <a:ln/>
        </p:spPr>
        <p:txBody>
          <a:bodyPr wrap="square" lIns="0" tIns="0" rIns="0" bIns="0" rtlCol="0" anchor="t"/>
          <a:lstStyle/>
          <a:p>
            <a:pPr indent="0" marL="0">
              <a:buNone/>
            </a:pPr>
            <a:r>
              <a:rPr lang="en-US" sz="1200" b="1" dirty="0">
                <a:solidFill>
                  <a:schemeClr val="accent4"/>
                </a:solidFill>
              </a:rPr>
              <a:t>Violations</a:t>
            </a:r>
            <a:endParaRPr lang="en-US" sz="1200" dirty="0"/>
          </a:p>
        </p:txBody>
      </p:sp>
      <p:sp>
        <p:nvSpPr>
          <p:cNvPr id="24" name="Text 21"/>
          <p:cNvSpPr txBox="1"/>
          <p:nvPr/>
        </p:nvSpPr>
        <p:spPr>
          <a:xfrm>
            <a:off x="6446520" y="2487168"/>
            <a:ext cx="4967935" cy="347472"/>
          </a:xfrm>
          <a:prstGeom prst="rect">
            <a:avLst/>
          </a:prstGeom>
          <a:noFill/>
          <a:ln/>
        </p:spPr>
        <p:txBody>
          <a:bodyPr wrap="square" lIns="0" tIns="0" rIns="0" bIns="0" rtlCol="0" anchor="t"/>
          <a:lstStyle/>
          <a:p>
            <a:pPr indent="0" marL="0">
              <a:buNone/>
            </a:pPr>
            <a:r>
              <a:rPr lang="en-US" sz="1700" b="1" dirty="0">
                <a:solidFill>
                  <a:schemeClr val="tx1"/>
                </a:solidFill>
              </a:rPr>
              <a:t>V_t = D_t ∩ {NO-Hardhat, NO-Safety Vest}</a:t>
            </a:r>
            <a:endParaRPr lang="en-US" sz="1700" dirty="0"/>
          </a:p>
        </p:txBody>
      </p:sp>
      <p:sp>
        <p:nvSpPr>
          <p:cNvPr id="25" name="Text 22"/>
          <p:cNvSpPr txBox="1"/>
          <p:nvPr/>
        </p:nvSpPr>
        <p:spPr>
          <a:xfrm>
            <a:off x="6446520" y="2852928"/>
            <a:ext cx="4967935" cy="256032"/>
          </a:xfrm>
          <a:prstGeom prst="rect">
            <a:avLst/>
          </a:prstGeom>
          <a:noFill/>
          <a:ln/>
        </p:spPr>
        <p:txBody>
          <a:bodyPr wrap="square" lIns="0" tIns="0" rIns="0" bIns="0" rtlCol="0" anchor="t"/>
          <a:lstStyle/>
          <a:p>
            <a:pPr indent="0" marL="0">
              <a:buNone/>
            </a:pPr>
            <a:r>
              <a:rPr lang="en-US" sz="1200" dirty="0">
                <a:solidFill>
                  <a:schemeClr val="accent4"/>
                </a:solidFill>
              </a:rPr>
              <a:t>D_t: set of classes detected in frame t</a:t>
            </a:r>
            <a:endParaRPr lang="en-US" sz="1200" dirty="0"/>
          </a:p>
        </p:txBody>
      </p:sp>
      <p:sp>
        <p:nvSpPr>
          <p:cNvPr id="26" name="panel"/>
          <p:cNvSpPr/>
          <p:nvPr/>
        </p:nvSpPr>
        <p:spPr>
          <a:xfrm>
            <a:off x="6217920" y="3364992"/>
            <a:ext cx="5425135" cy="1097280"/>
          </a:xfrm>
          <a:prstGeom prst="rect">
            <a:avLst/>
          </a:prstGeom>
          <a:solidFill>
            <a:schemeClr val="bg2"/>
          </a:solidFill>
          <a:ln w="12700">
            <a:solidFill>
              <a:schemeClr val="bg2"/>
            </a:solidFill>
            <a:prstDash val="solid"/>
          </a:ln>
        </p:spPr>
      </p:sp>
      <p:sp>
        <p:nvSpPr>
          <p:cNvPr id="27" name="Text 24"/>
          <p:cNvSpPr txBox="1"/>
          <p:nvPr/>
        </p:nvSpPr>
        <p:spPr>
          <a:xfrm>
            <a:off x="6446520" y="3474720"/>
            <a:ext cx="4967935" cy="256032"/>
          </a:xfrm>
          <a:prstGeom prst="rect">
            <a:avLst/>
          </a:prstGeom>
          <a:noFill/>
          <a:ln/>
        </p:spPr>
        <p:txBody>
          <a:bodyPr wrap="square" lIns="0" tIns="0" rIns="0" bIns="0" rtlCol="0" anchor="t"/>
          <a:lstStyle/>
          <a:p>
            <a:pPr indent="0" marL="0">
              <a:buNone/>
            </a:pPr>
            <a:r>
              <a:rPr lang="en-US" sz="1200" b="1" dirty="0">
                <a:solidFill>
                  <a:schemeClr val="accent4"/>
                </a:solidFill>
              </a:rPr>
              <a:t>Compliant frame</a:t>
            </a:r>
            <a:endParaRPr lang="en-US" sz="1200" dirty="0"/>
          </a:p>
        </p:txBody>
      </p:sp>
      <p:sp>
        <p:nvSpPr>
          <p:cNvPr id="28" name="Text 25"/>
          <p:cNvSpPr txBox="1"/>
          <p:nvPr/>
        </p:nvSpPr>
        <p:spPr>
          <a:xfrm>
            <a:off x="6446520" y="3749040"/>
            <a:ext cx="4967935" cy="347472"/>
          </a:xfrm>
          <a:prstGeom prst="rect">
            <a:avLst/>
          </a:prstGeom>
          <a:noFill/>
          <a:ln/>
        </p:spPr>
        <p:txBody>
          <a:bodyPr wrap="square" lIns="0" tIns="0" rIns="0" bIns="0" rtlCol="0" anchor="t"/>
          <a:lstStyle/>
          <a:p>
            <a:pPr indent="0" marL="0">
              <a:buNone/>
            </a:pPr>
            <a:r>
              <a:rPr lang="en-US" sz="1700" b="1" dirty="0">
                <a:solidFill>
                  <a:schemeClr val="tx1"/>
                </a:solidFill>
              </a:rPr>
              <a:t>c_t = 1 if p_t &gt; 0 and {Hardhat, Safety Vest} ⊆ D_t</a:t>
            </a:r>
            <a:endParaRPr lang="en-US" sz="1700" dirty="0"/>
          </a:p>
        </p:txBody>
      </p:sp>
      <p:sp>
        <p:nvSpPr>
          <p:cNvPr id="29" name="Text 26"/>
          <p:cNvSpPr txBox="1"/>
          <p:nvPr/>
        </p:nvSpPr>
        <p:spPr>
          <a:xfrm>
            <a:off x="6446520" y="4114800"/>
            <a:ext cx="4967935" cy="256032"/>
          </a:xfrm>
          <a:prstGeom prst="rect">
            <a:avLst/>
          </a:prstGeom>
          <a:noFill/>
          <a:ln/>
        </p:spPr>
        <p:txBody>
          <a:bodyPr wrap="square" lIns="0" tIns="0" rIns="0" bIns="0" rtlCol="0" anchor="t"/>
          <a:lstStyle/>
          <a:p>
            <a:pPr indent="0" marL="0">
              <a:buNone/>
            </a:pPr>
            <a:r>
              <a:rPr lang="en-US" sz="1200" dirty="0">
                <a:solidFill>
                  <a:schemeClr val="accent4"/>
                </a:solidFill>
              </a:rPr>
              <a:t>Otherwise c_t = 0; p_t: persons detected in frame t</a:t>
            </a:r>
            <a:endParaRPr lang="en-US" sz="1200" dirty="0"/>
          </a:p>
        </p:txBody>
      </p:sp>
      <p:sp>
        <p:nvSpPr>
          <p:cNvPr id="30" name="panel"/>
          <p:cNvSpPr/>
          <p:nvPr/>
        </p:nvSpPr>
        <p:spPr>
          <a:xfrm>
            <a:off x="6217920" y="4626864"/>
            <a:ext cx="5425135" cy="1097280"/>
          </a:xfrm>
          <a:prstGeom prst="rect">
            <a:avLst/>
          </a:prstGeom>
          <a:solidFill>
            <a:schemeClr val="bg2"/>
          </a:solidFill>
          <a:ln w="12700">
            <a:solidFill>
              <a:schemeClr val="bg2"/>
            </a:solidFill>
            <a:prstDash val="solid"/>
          </a:ln>
        </p:spPr>
      </p:sp>
      <p:sp>
        <p:nvSpPr>
          <p:cNvPr id="31" name="Text 28"/>
          <p:cNvSpPr txBox="1"/>
          <p:nvPr/>
        </p:nvSpPr>
        <p:spPr>
          <a:xfrm>
            <a:off x="6446520" y="4736592"/>
            <a:ext cx="4967935" cy="256032"/>
          </a:xfrm>
          <a:prstGeom prst="rect">
            <a:avLst/>
          </a:prstGeom>
          <a:noFill/>
          <a:ln/>
        </p:spPr>
        <p:txBody>
          <a:bodyPr wrap="square" lIns="0" tIns="0" rIns="0" bIns="0" rtlCol="0" anchor="t"/>
          <a:lstStyle/>
          <a:p>
            <a:pPr indent="0" marL="0">
              <a:buNone/>
            </a:pPr>
            <a:r>
              <a:rPr lang="en-US" sz="1200" b="1" dirty="0">
                <a:solidFill>
                  <a:schemeClr val="accent4"/>
                </a:solidFill>
              </a:rPr>
              <a:t>Session score</a:t>
            </a:r>
            <a:endParaRPr lang="en-US" sz="1200" dirty="0"/>
          </a:p>
        </p:txBody>
      </p:sp>
      <p:sp>
        <p:nvSpPr>
          <p:cNvPr id="32" name="Text 29"/>
          <p:cNvSpPr txBox="1"/>
          <p:nvPr/>
        </p:nvSpPr>
        <p:spPr>
          <a:xfrm>
            <a:off x="6446520" y="5010912"/>
            <a:ext cx="4967935" cy="347472"/>
          </a:xfrm>
          <a:prstGeom prst="rect">
            <a:avLst/>
          </a:prstGeom>
          <a:noFill/>
          <a:ln/>
        </p:spPr>
        <p:txBody>
          <a:bodyPr wrap="square" lIns="0" tIns="0" rIns="0" bIns="0" rtlCol="0" anchor="t"/>
          <a:lstStyle/>
          <a:p>
            <a:pPr indent="0" marL="0">
              <a:buNone/>
            </a:pPr>
            <a:r>
              <a:rPr lang="en-US" sz="1700" b="1" dirty="0">
                <a:solidFill>
                  <a:schemeClr val="tx1"/>
                </a:solidFill>
              </a:rPr>
              <a:t>S = 100 · Σ c_t / Σ p_t</a:t>
            </a:r>
            <a:endParaRPr lang="en-US" sz="1700" dirty="0"/>
          </a:p>
        </p:txBody>
      </p:sp>
      <p:sp>
        <p:nvSpPr>
          <p:cNvPr id="33" name="Text 30"/>
          <p:cNvSpPr txBox="1"/>
          <p:nvPr/>
        </p:nvSpPr>
        <p:spPr>
          <a:xfrm>
            <a:off x="6446520" y="5376672"/>
            <a:ext cx="4967935" cy="256032"/>
          </a:xfrm>
          <a:prstGeom prst="rect">
            <a:avLst/>
          </a:prstGeom>
          <a:noFill/>
          <a:ln/>
        </p:spPr>
        <p:txBody>
          <a:bodyPr wrap="square" lIns="0" tIns="0" rIns="0" bIns="0" rtlCol="0" anchor="t"/>
          <a:lstStyle/>
          <a:p>
            <a:pPr indent="0" marL="0">
              <a:buNone/>
            </a:pPr>
            <a:r>
              <a:rPr lang="en-US" sz="1200" dirty="0">
                <a:solidFill>
                  <a:schemeClr val="accent4"/>
                </a:solidFill>
              </a:rPr>
              <a:t>Frame-level approximation, shown on the Overview page</a:t>
            </a:r>
            <a:endParaRPr lang="en-US" sz="1200" dirty="0"/>
          </a:p>
        </p:txBody>
      </p:sp>
      <p:sp>
        <p:nvSpPr>
          <p:cNvPr id="34" name="Text 31"/>
          <p:cNvSpPr txBox="1"/>
          <p:nvPr/>
        </p:nvSpPr>
        <p:spPr>
          <a:xfrm>
            <a:off x="548640" y="6053328"/>
            <a:ext cx="11094415" cy="228600"/>
          </a:xfrm>
          <a:prstGeom prst="rect">
            <a:avLst/>
          </a:prstGeom>
          <a:noFill/>
          <a:ln/>
        </p:spPr>
        <p:txBody>
          <a:bodyPr wrap="square" lIns="0" tIns="0" rIns="0" bIns="0" rtlCol="0" anchor="t"/>
          <a:lstStyle/>
          <a:p>
            <a:pPr indent="0" marL="0">
              <a:buNone/>
            </a:pPr>
            <a:r>
              <a:rPr lang="en-US" sz="1000" dirty="0">
                <a:solidFill>
                  <a:schemeClr val="accent4"/>
                </a:solidFill>
              </a:rPr>
              <a:t>Class order from Backend/output/weights/ppe_data.yaml; rule in Backend/ppe_api/detection/classes.py and analysis.py.</a:t>
            </a:r>
            <a:endParaRPr lang="en-US" sz="1000" dirty="0"/>
          </a:p>
        </p:txBody>
      </p:sp>
      <p:sp>
        <p:nvSpPr>
          <p:cNvPr id="25" name="Slide Number Placeholder 0"/>
          <p:cNvSpPr>
            <a:spLocks noGrp="1"/>
          </p:cNvSpPr>
          <p:nvPr>
            <p:ph type="sldNum" sz="quarter" idx="4294967295"/>
          </p:nvPr>
        </p:nvSpPr>
        <p:spPr>
          <a:xfrm>
            <a:off x="11091672" y="640080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84048"/>
            <a:ext cx="11094415" cy="256032"/>
          </a:xfrm>
          <a:prstGeom prst="rect">
            <a:avLst/>
          </a:prstGeom>
          <a:noFill/>
          <a:ln/>
        </p:spPr>
        <p:txBody>
          <a:bodyPr wrap="square" lIns="0" tIns="0" rIns="0" bIns="0" rtlCol="0" anchor="t"/>
          <a:lstStyle/>
          <a:p>
            <a:pPr indent="0" marL="0">
              <a:buNone/>
            </a:pPr>
            <a:r>
              <a:rPr lang="en-US" sz="1100" b="1" spc="150" kern="0" dirty="0">
                <a:solidFill>
                  <a:schemeClr val="accent4"/>
                </a:solidFill>
              </a:rPr>
              <a:t>METHOD</a:t>
            </a:r>
            <a:endParaRPr lang="en-US" sz="1100" dirty="0"/>
          </a:p>
        </p:txBody>
      </p:sp>
      <p:sp>
        <p:nvSpPr>
          <p:cNvPr id="3" name="Text 0"/>
          <p:cNvSpPr/>
          <p:nvPr>
            <p:ph idx="100"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3600" b="1" dirty="0">
                <a:solidFill>
                  <a:schemeClr val="tx1"/>
                </a:solidFill>
              </a:rPr>
              <a:t>Temporal violation confirmation</a:t>
            </a:r>
            <a:endParaRPr lang="en-US" sz="3600" dirty="0"/>
          </a:p>
        </p:txBody>
      </p:sp>
      <p:sp>
        <p:nvSpPr>
          <p:cNvPr id="5" name="Text 2"/>
          <p:cNvSpPr txBox="1"/>
          <p:nvPr/>
        </p:nvSpPr>
        <p:spPr>
          <a:xfrm>
            <a:off x="548640" y="1554480"/>
            <a:ext cx="11094415" cy="411480"/>
          </a:xfrm>
          <a:prstGeom prst="rect">
            <a:avLst/>
          </a:prstGeom>
          <a:noFill/>
          <a:ln/>
        </p:spPr>
        <p:txBody>
          <a:bodyPr wrap="square" lIns="0" tIns="0" rIns="0" bIns="0" rtlCol="0" anchor="t"/>
          <a:lstStyle/>
          <a:p>
            <a:pPr indent="0" marL="0">
              <a:buNone/>
            </a:pPr>
            <a:r>
              <a:rPr lang="en-US" sz="2000" b="1" dirty="0">
                <a:solidFill>
                  <a:schemeClr val="tx1"/>
                </a:solidFill>
              </a:rPr>
              <a:t>v ∈ C_t  ⇔  v ∈ V_(t−k) for all k = 0, …, W−1,  with W = 5</a:t>
            </a:r>
            <a:endParaRPr lang="en-US" sz="2000" dirty="0"/>
          </a:p>
        </p:txBody>
      </p:sp>
      <p:sp>
        <p:nvSpPr>
          <p:cNvPr id="6" name="frame"/>
          <p:cNvSpPr/>
          <p:nvPr/>
        </p:nvSpPr>
        <p:spPr>
          <a:xfrm>
            <a:off x="548640" y="2468880"/>
            <a:ext cx="786384" cy="1097280"/>
          </a:xfrm>
          <a:prstGeom prst="rect">
            <a:avLst/>
          </a:prstGeom>
          <a:solidFill>
            <a:schemeClr val="accent2"/>
          </a:solidFill>
          <a:ln w="9525">
            <a:solidFill>
              <a:schemeClr val="accent2"/>
            </a:solidFill>
            <a:prstDash val="solid"/>
          </a:ln>
        </p:spPr>
      </p:sp>
      <p:sp>
        <p:nvSpPr>
          <p:cNvPr id="7" name="Text 4"/>
          <p:cNvSpPr txBox="1"/>
          <p:nvPr/>
        </p:nvSpPr>
        <p:spPr>
          <a:xfrm>
            <a:off x="548640" y="2651760"/>
            <a:ext cx="786384" cy="274320"/>
          </a:xfrm>
          <a:prstGeom prst="rect">
            <a:avLst/>
          </a:prstGeom>
          <a:noFill/>
          <a:ln/>
        </p:spPr>
        <p:txBody>
          <a:bodyPr wrap="square" lIns="0" tIns="0" rIns="0" bIns="0" rtlCol="0" anchor="t"/>
          <a:lstStyle/>
          <a:p>
            <a:pPr algn="ctr" indent="0" marL="0">
              <a:buNone/>
            </a:pPr>
            <a:r>
              <a:rPr lang="en-US" sz="1300" b="1" dirty="0">
                <a:solidFill>
                  <a:schemeClr val="bg1"/>
                </a:solidFill>
              </a:rPr>
              <a:t>t1</a:t>
            </a:r>
            <a:endParaRPr lang="en-US" sz="1300" dirty="0"/>
          </a:p>
        </p:txBody>
      </p:sp>
      <p:sp>
        <p:nvSpPr>
          <p:cNvPr id="8" name="Text 5"/>
          <p:cNvSpPr txBox="1"/>
          <p:nvPr/>
        </p:nvSpPr>
        <p:spPr>
          <a:xfrm>
            <a:off x="548640" y="3108960"/>
            <a:ext cx="786384" cy="274320"/>
          </a:xfrm>
          <a:prstGeom prst="rect">
            <a:avLst/>
          </a:prstGeom>
          <a:noFill/>
          <a:ln/>
        </p:spPr>
        <p:txBody>
          <a:bodyPr wrap="square" lIns="0" tIns="0" rIns="0" bIns="0" rtlCol="0" anchor="t"/>
          <a:lstStyle/>
          <a:p>
            <a:pPr algn="ctr" indent="0" marL="0">
              <a:buNone/>
            </a:pPr>
            <a:r>
              <a:rPr lang="en-US" sz="1000" dirty="0">
                <a:solidFill>
                  <a:schemeClr val="bg1"/>
                </a:solidFill>
              </a:rPr>
              <a:t>NO-Hardhat</a:t>
            </a:r>
            <a:endParaRPr lang="en-US" sz="1000" dirty="0"/>
          </a:p>
        </p:txBody>
      </p:sp>
      <p:sp>
        <p:nvSpPr>
          <p:cNvPr id="9" name="Text 6"/>
          <p:cNvSpPr txBox="1"/>
          <p:nvPr/>
        </p:nvSpPr>
        <p:spPr>
          <a:xfrm>
            <a:off x="548640" y="3675888"/>
            <a:ext cx="786384" cy="274320"/>
          </a:xfrm>
          <a:prstGeom prst="rect">
            <a:avLst/>
          </a:prstGeom>
          <a:noFill/>
          <a:ln/>
        </p:spPr>
        <p:txBody>
          <a:bodyPr wrap="square" lIns="0" tIns="0" rIns="0" bIns="0" rtlCol="0" anchor="t"/>
          <a:lstStyle/>
          <a:p>
            <a:pPr algn="ctr" indent="0" marL="0">
              <a:buNone/>
            </a:pPr>
            <a:r>
              <a:rPr lang="en-US" sz="1400" b="1" dirty="0">
                <a:solidFill>
                  <a:schemeClr val="accent4"/>
                </a:solidFill>
              </a:rPr>
              <a:t>1</a:t>
            </a:r>
            <a:endParaRPr lang="en-US" sz="1400" dirty="0"/>
          </a:p>
        </p:txBody>
      </p:sp>
      <p:sp>
        <p:nvSpPr>
          <p:cNvPr id="10" name="frame"/>
          <p:cNvSpPr/>
          <p:nvPr/>
        </p:nvSpPr>
        <p:spPr>
          <a:xfrm>
            <a:off x="1485734" y="2468880"/>
            <a:ext cx="786384" cy="1097280"/>
          </a:xfrm>
          <a:prstGeom prst="rect">
            <a:avLst/>
          </a:prstGeom>
          <a:solidFill>
            <a:schemeClr val="bg2"/>
          </a:solidFill>
          <a:ln w="9525">
            <a:solidFill>
              <a:schemeClr val="bg2"/>
            </a:solidFill>
            <a:prstDash val="solid"/>
          </a:ln>
        </p:spPr>
      </p:sp>
      <p:sp>
        <p:nvSpPr>
          <p:cNvPr id="11" name="Text 8"/>
          <p:cNvSpPr txBox="1"/>
          <p:nvPr/>
        </p:nvSpPr>
        <p:spPr>
          <a:xfrm>
            <a:off x="1485734" y="2651760"/>
            <a:ext cx="786384" cy="274320"/>
          </a:xfrm>
          <a:prstGeom prst="rect">
            <a:avLst/>
          </a:prstGeom>
          <a:noFill/>
          <a:ln/>
        </p:spPr>
        <p:txBody>
          <a:bodyPr wrap="square" lIns="0" tIns="0" rIns="0" bIns="0" rtlCol="0" anchor="t"/>
          <a:lstStyle/>
          <a:p>
            <a:pPr algn="ctr" indent="0" marL="0">
              <a:buNone/>
            </a:pPr>
            <a:r>
              <a:rPr lang="en-US" sz="1300" b="1" dirty="0">
                <a:solidFill>
                  <a:schemeClr val="accent4"/>
                </a:solidFill>
              </a:rPr>
              <a:t>t2</a:t>
            </a:r>
            <a:endParaRPr lang="en-US" sz="1300" dirty="0"/>
          </a:p>
        </p:txBody>
      </p:sp>
      <p:sp>
        <p:nvSpPr>
          <p:cNvPr id="12" name="Text 9"/>
          <p:cNvSpPr txBox="1"/>
          <p:nvPr/>
        </p:nvSpPr>
        <p:spPr>
          <a:xfrm>
            <a:off x="1485734" y="3108960"/>
            <a:ext cx="786384" cy="274320"/>
          </a:xfrm>
          <a:prstGeom prst="rect">
            <a:avLst/>
          </a:prstGeom>
          <a:noFill/>
          <a:ln/>
        </p:spPr>
        <p:txBody>
          <a:bodyPr wrap="square" lIns="0" tIns="0" rIns="0" bIns="0" rtlCol="0" anchor="t"/>
          <a:lstStyle/>
          <a:p>
            <a:pPr algn="ctr" indent="0" marL="0">
              <a:buNone/>
            </a:pPr>
            <a:r>
              <a:rPr lang="en-US" sz="1000" dirty="0">
                <a:solidFill>
                  <a:schemeClr val="accent4"/>
                </a:solidFill>
              </a:rPr>
              <a:t>clear</a:t>
            </a:r>
            <a:endParaRPr lang="en-US" sz="1000" dirty="0"/>
          </a:p>
        </p:txBody>
      </p:sp>
      <p:sp>
        <p:nvSpPr>
          <p:cNvPr id="13" name="Text 10"/>
          <p:cNvSpPr txBox="1"/>
          <p:nvPr/>
        </p:nvSpPr>
        <p:spPr>
          <a:xfrm>
            <a:off x="1485734" y="3675888"/>
            <a:ext cx="786384" cy="274320"/>
          </a:xfrm>
          <a:prstGeom prst="rect">
            <a:avLst/>
          </a:prstGeom>
          <a:noFill/>
          <a:ln/>
        </p:spPr>
        <p:txBody>
          <a:bodyPr wrap="square" lIns="0" tIns="0" rIns="0" bIns="0" rtlCol="0" anchor="t"/>
          <a:lstStyle/>
          <a:p>
            <a:pPr algn="ctr" indent="0" marL="0">
              <a:buNone/>
            </a:pPr>
            <a:r>
              <a:rPr lang="en-US" sz="1400" b="1" dirty="0">
                <a:solidFill>
                  <a:schemeClr val="accent4"/>
                </a:solidFill>
              </a:rPr>
              <a:t>0</a:t>
            </a:r>
            <a:endParaRPr lang="en-US" sz="1400" dirty="0"/>
          </a:p>
        </p:txBody>
      </p:sp>
      <p:sp>
        <p:nvSpPr>
          <p:cNvPr id="14" name="frame"/>
          <p:cNvSpPr/>
          <p:nvPr/>
        </p:nvSpPr>
        <p:spPr>
          <a:xfrm>
            <a:off x="2422827" y="2468880"/>
            <a:ext cx="786384" cy="1097280"/>
          </a:xfrm>
          <a:prstGeom prst="rect">
            <a:avLst/>
          </a:prstGeom>
          <a:solidFill>
            <a:schemeClr val="accent2"/>
          </a:solidFill>
          <a:ln w="9525">
            <a:solidFill>
              <a:schemeClr val="accent2"/>
            </a:solidFill>
            <a:prstDash val="solid"/>
          </a:ln>
        </p:spPr>
      </p:sp>
      <p:sp>
        <p:nvSpPr>
          <p:cNvPr id="15" name="Text 12"/>
          <p:cNvSpPr txBox="1"/>
          <p:nvPr/>
        </p:nvSpPr>
        <p:spPr>
          <a:xfrm>
            <a:off x="2422827" y="2651760"/>
            <a:ext cx="786384" cy="274320"/>
          </a:xfrm>
          <a:prstGeom prst="rect">
            <a:avLst/>
          </a:prstGeom>
          <a:noFill/>
          <a:ln/>
        </p:spPr>
        <p:txBody>
          <a:bodyPr wrap="square" lIns="0" tIns="0" rIns="0" bIns="0" rtlCol="0" anchor="t"/>
          <a:lstStyle/>
          <a:p>
            <a:pPr algn="ctr" indent="0" marL="0">
              <a:buNone/>
            </a:pPr>
            <a:r>
              <a:rPr lang="en-US" sz="1300" b="1" dirty="0">
                <a:solidFill>
                  <a:schemeClr val="bg1"/>
                </a:solidFill>
              </a:rPr>
              <a:t>t3</a:t>
            </a:r>
            <a:endParaRPr lang="en-US" sz="1300" dirty="0"/>
          </a:p>
        </p:txBody>
      </p:sp>
      <p:sp>
        <p:nvSpPr>
          <p:cNvPr id="16" name="Text 13"/>
          <p:cNvSpPr txBox="1"/>
          <p:nvPr/>
        </p:nvSpPr>
        <p:spPr>
          <a:xfrm>
            <a:off x="2422827" y="3108960"/>
            <a:ext cx="786384" cy="274320"/>
          </a:xfrm>
          <a:prstGeom prst="rect">
            <a:avLst/>
          </a:prstGeom>
          <a:noFill/>
          <a:ln/>
        </p:spPr>
        <p:txBody>
          <a:bodyPr wrap="square" lIns="0" tIns="0" rIns="0" bIns="0" rtlCol="0" anchor="t"/>
          <a:lstStyle/>
          <a:p>
            <a:pPr algn="ctr" indent="0" marL="0">
              <a:buNone/>
            </a:pPr>
            <a:r>
              <a:rPr lang="en-US" sz="1000" dirty="0">
                <a:solidFill>
                  <a:schemeClr val="bg1"/>
                </a:solidFill>
              </a:rPr>
              <a:t>NO-Hardhat</a:t>
            </a:r>
            <a:endParaRPr lang="en-US" sz="1000" dirty="0"/>
          </a:p>
        </p:txBody>
      </p:sp>
      <p:sp>
        <p:nvSpPr>
          <p:cNvPr id="17" name="Text 14"/>
          <p:cNvSpPr txBox="1"/>
          <p:nvPr/>
        </p:nvSpPr>
        <p:spPr>
          <a:xfrm>
            <a:off x="2422827" y="3675888"/>
            <a:ext cx="786384" cy="274320"/>
          </a:xfrm>
          <a:prstGeom prst="rect">
            <a:avLst/>
          </a:prstGeom>
          <a:noFill/>
          <a:ln/>
        </p:spPr>
        <p:txBody>
          <a:bodyPr wrap="square" lIns="0" tIns="0" rIns="0" bIns="0" rtlCol="0" anchor="t"/>
          <a:lstStyle/>
          <a:p>
            <a:pPr algn="ctr" indent="0" marL="0">
              <a:buNone/>
            </a:pPr>
            <a:r>
              <a:rPr lang="en-US" sz="1400" b="1" dirty="0">
                <a:solidFill>
                  <a:schemeClr val="accent4"/>
                </a:solidFill>
              </a:rPr>
              <a:t>1</a:t>
            </a:r>
            <a:endParaRPr lang="en-US" sz="1400" dirty="0"/>
          </a:p>
        </p:txBody>
      </p:sp>
      <p:sp>
        <p:nvSpPr>
          <p:cNvPr id="18" name="frame"/>
          <p:cNvSpPr/>
          <p:nvPr/>
        </p:nvSpPr>
        <p:spPr>
          <a:xfrm>
            <a:off x="3359921" y="2468880"/>
            <a:ext cx="786384" cy="1097280"/>
          </a:xfrm>
          <a:prstGeom prst="rect">
            <a:avLst/>
          </a:prstGeom>
          <a:solidFill>
            <a:schemeClr val="accent2"/>
          </a:solidFill>
          <a:ln w="9525">
            <a:solidFill>
              <a:schemeClr val="accent2"/>
            </a:solidFill>
            <a:prstDash val="solid"/>
          </a:ln>
        </p:spPr>
      </p:sp>
      <p:sp>
        <p:nvSpPr>
          <p:cNvPr id="19" name="Text 16"/>
          <p:cNvSpPr txBox="1"/>
          <p:nvPr/>
        </p:nvSpPr>
        <p:spPr>
          <a:xfrm>
            <a:off x="3359921" y="2651760"/>
            <a:ext cx="786384" cy="274320"/>
          </a:xfrm>
          <a:prstGeom prst="rect">
            <a:avLst/>
          </a:prstGeom>
          <a:noFill/>
          <a:ln/>
        </p:spPr>
        <p:txBody>
          <a:bodyPr wrap="square" lIns="0" tIns="0" rIns="0" bIns="0" rtlCol="0" anchor="t"/>
          <a:lstStyle/>
          <a:p>
            <a:pPr algn="ctr" indent="0" marL="0">
              <a:buNone/>
            </a:pPr>
            <a:r>
              <a:rPr lang="en-US" sz="1300" b="1" dirty="0">
                <a:solidFill>
                  <a:schemeClr val="bg1"/>
                </a:solidFill>
              </a:rPr>
              <a:t>t4</a:t>
            </a:r>
            <a:endParaRPr lang="en-US" sz="1300" dirty="0"/>
          </a:p>
        </p:txBody>
      </p:sp>
      <p:sp>
        <p:nvSpPr>
          <p:cNvPr id="20" name="Text 17"/>
          <p:cNvSpPr txBox="1"/>
          <p:nvPr/>
        </p:nvSpPr>
        <p:spPr>
          <a:xfrm>
            <a:off x="3359921" y="3108960"/>
            <a:ext cx="786384" cy="274320"/>
          </a:xfrm>
          <a:prstGeom prst="rect">
            <a:avLst/>
          </a:prstGeom>
          <a:noFill/>
          <a:ln/>
        </p:spPr>
        <p:txBody>
          <a:bodyPr wrap="square" lIns="0" tIns="0" rIns="0" bIns="0" rtlCol="0" anchor="t"/>
          <a:lstStyle/>
          <a:p>
            <a:pPr algn="ctr" indent="0" marL="0">
              <a:buNone/>
            </a:pPr>
            <a:r>
              <a:rPr lang="en-US" sz="1000" dirty="0">
                <a:solidFill>
                  <a:schemeClr val="bg1"/>
                </a:solidFill>
              </a:rPr>
              <a:t>NO-Hardhat</a:t>
            </a:r>
            <a:endParaRPr lang="en-US" sz="1000" dirty="0"/>
          </a:p>
        </p:txBody>
      </p:sp>
      <p:sp>
        <p:nvSpPr>
          <p:cNvPr id="21" name="Text 18"/>
          <p:cNvSpPr txBox="1"/>
          <p:nvPr/>
        </p:nvSpPr>
        <p:spPr>
          <a:xfrm>
            <a:off x="3359921" y="3675888"/>
            <a:ext cx="786384" cy="274320"/>
          </a:xfrm>
          <a:prstGeom prst="rect">
            <a:avLst/>
          </a:prstGeom>
          <a:noFill/>
          <a:ln/>
        </p:spPr>
        <p:txBody>
          <a:bodyPr wrap="square" lIns="0" tIns="0" rIns="0" bIns="0" rtlCol="0" anchor="t"/>
          <a:lstStyle/>
          <a:p>
            <a:pPr algn="ctr" indent="0" marL="0">
              <a:buNone/>
            </a:pPr>
            <a:r>
              <a:rPr lang="en-US" sz="1400" b="1" dirty="0">
                <a:solidFill>
                  <a:schemeClr val="accent4"/>
                </a:solidFill>
              </a:rPr>
              <a:t>2</a:t>
            </a:r>
            <a:endParaRPr lang="en-US" sz="1400" dirty="0"/>
          </a:p>
        </p:txBody>
      </p:sp>
      <p:sp>
        <p:nvSpPr>
          <p:cNvPr id="22" name="frame"/>
          <p:cNvSpPr/>
          <p:nvPr/>
        </p:nvSpPr>
        <p:spPr>
          <a:xfrm>
            <a:off x="4297015" y="2468880"/>
            <a:ext cx="786384" cy="1097280"/>
          </a:xfrm>
          <a:prstGeom prst="rect">
            <a:avLst/>
          </a:prstGeom>
          <a:solidFill>
            <a:schemeClr val="accent2"/>
          </a:solidFill>
          <a:ln w="9525">
            <a:solidFill>
              <a:schemeClr val="accent2"/>
            </a:solidFill>
            <a:prstDash val="solid"/>
          </a:ln>
        </p:spPr>
      </p:sp>
      <p:sp>
        <p:nvSpPr>
          <p:cNvPr id="23" name="Text 20"/>
          <p:cNvSpPr txBox="1"/>
          <p:nvPr/>
        </p:nvSpPr>
        <p:spPr>
          <a:xfrm>
            <a:off x="4297015" y="2651760"/>
            <a:ext cx="786384" cy="274320"/>
          </a:xfrm>
          <a:prstGeom prst="rect">
            <a:avLst/>
          </a:prstGeom>
          <a:noFill/>
          <a:ln/>
        </p:spPr>
        <p:txBody>
          <a:bodyPr wrap="square" lIns="0" tIns="0" rIns="0" bIns="0" rtlCol="0" anchor="t"/>
          <a:lstStyle/>
          <a:p>
            <a:pPr algn="ctr" indent="0" marL="0">
              <a:buNone/>
            </a:pPr>
            <a:r>
              <a:rPr lang="en-US" sz="1300" b="1" dirty="0">
                <a:solidFill>
                  <a:schemeClr val="bg1"/>
                </a:solidFill>
              </a:rPr>
              <a:t>t5</a:t>
            </a:r>
            <a:endParaRPr lang="en-US" sz="1300" dirty="0"/>
          </a:p>
        </p:txBody>
      </p:sp>
      <p:sp>
        <p:nvSpPr>
          <p:cNvPr id="24" name="Text 21"/>
          <p:cNvSpPr txBox="1"/>
          <p:nvPr/>
        </p:nvSpPr>
        <p:spPr>
          <a:xfrm>
            <a:off x="4297015" y="3108960"/>
            <a:ext cx="786384" cy="274320"/>
          </a:xfrm>
          <a:prstGeom prst="rect">
            <a:avLst/>
          </a:prstGeom>
          <a:noFill/>
          <a:ln/>
        </p:spPr>
        <p:txBody>
          <a:bodyPr wrap="square" lIns="0" tIns="0" rIns="0" bIns="0" rtlCol="0" anchor="t"/>
          <a:lstStyle/>
          <a:p>
            <a:pPr algn="ctr" indent="0" marL="0">
              <a:buNone/>
            </a:pPr>
            <a:r>
              <a:rPr lang="en-US" sz="1000" dirty="0">
                <a:solidFill>
                  <a:schemeClr val="bg1"/>
                </a:solidFill>
              </a:rPr>
              <a:t>NO-Hardhat</a:t>
            </a:r>
            <a:endParaRPr lang="en-US" sz="1000" dirty="0"/>
          </a:p>
        </p:txBody>
      </p:sp>
      <p:sp>
        <p:nvSpPr>
          <p:cNvPr id="25" name="Text 22"/>
          <p:cNvSpPr txBox="1"/>
          <p:nvPr/>
        </p:nvSpPr>
        <p:spPr>
          <a:xfrm>
            <a:off x="4297015" y="3675888"/>
            <a:ext cx="786384" cy="274320"/>
          </a:xfrm>
          <a:prstGeom prst="rect">
            <a:avLst/>
          </a:prstGeom>
          <a:noFill/>
          <a:ln/>
        </p:spPr>
        <p:txBody>
          <a:bodyPr wrap="square" lIns="0" tIns="0" rIns="0" bIns="0" rtlCol="0" anchor="t"/>
          <a:lstStyle/>
          <a:p>
            <a:pPr algn="ctr" indent="0" marL="0">
              <a:buNone/>
            </a:pPr>
            <a:r>
              <a:rPr lang="en-US" sz="1400" b="1" dirty="0">
                <a:solidFill>
                  <a:schemeClr val="accent4"/>
                </a:solidFill>
              </a:rPr>
              <a:t>3</a:t>
            </a:r>
            <a:endParaRPr lang="en-US" sz="1400" dirty="0"/>
          </a:p>
        </p:txBody>
      </p:sp>
      <p:sp>
        <p:nvSpPr>
          <p:cNvPr id="26" name="frame"/>
          <p:cNvSpPr/>
          <p:nvPr/>
        </p:nvSpPr>
        <p:spPr>
          <a:xfrm>
            <a:off x="5234109" y="2468880"/>
            <a:ext cx="786384" cy="1097280"/>
          </a:xfrm>
          <a:prstGeom prst="rect">
            <a:avLst/>
          </a:prstGeom>
          <a:solidFill>
            <a:schemeClr val="accent2"/>
          </a:solidFill>
          <a:ln w="9525">
            <a:solidFill>
              <a:schemeClr val="accent2"/>
            </a:solidFill>
            <a:prstDash val="solid"/>
          </a:ln>
        </p:spPr>
      </p:sp>
      <p:sp>
        <p:nvSpPr>
          <p:cNvPr id="27" name="Text 24"/>
          <p:cNvSpPr txBox="1"/>
          <p:nvPr/>
        </p:nvSpPr>
        <p:spPr>
          <a:xfrm>
            <a:off x="5234109" y="2651760"/>
            <a:ext cx="786384" cy="274320"/>
          </a:xfrm>
          <a:prstGeom prst="rect">
            <a:avLst/>
          </a:prstGeom>
          <a:noFill/>
          <a:ln/>
        </p:spPr>
        <p:txBody>
          <a:bodyPr wrap="square" lIns="0" tIns="0" rIns="0" bIns="0" rtlCol="0" anchor="t"/>
          <a:lstStyle/>
          <a:p>
            <a:pPr algn="ctr" indent="0" marL="0">
              <a:buNone/>
            </a:pPr>
            <a:r>
              <a:rPr lang="en-US" sz="1300" b="1" dirty="0">
                <a:solidFill>
                  <a:schemeClr val="bg1"/>
                </a:solidFill>
              </a:rPr>
              <a:t>t6</a:t>
            </a:r>
            <a:endParaRPr lang="en-US" sz="1300" dirty="0"/>
          </a:p>
        </p:txBody>
      </p:sp>
      <p:sp>
        <p:nvSpPr>
          <p:cNvPr id="28" name="Text 25"/>
          <p:cNvSpPr txBox="1"/>
          <p:nvPr/>
        </p:nvSpPr>
        <p:spPr>
          <a:xfrm>
            <a:off x="5234109" y="3108960"/>
            <a:ext cx="786384" cy="274320"/>
          </a:xfrm>
          <a:prstGeom prst="rect">
            <a:avLst/>
          </a:prstGeom>
          <a:noFill/>
          <a:ln/>
        </p:spPr>
        <p:txBody>
          <a:bodyPr wrap="square" lIns="0" tIns="0" rIns="0" bIns="0" rtlCol="0" anchor="t"/>
          <a:lstStyle/>
          <a:p>
            <a:pPr algn="ctr" indent="0" marL="0">
              <a:buNone/>
            </a:pPr>
            <a:r>
              <a:rPr lang="en-US" sz="1000" dirty="0">
                <a:solidFill>
                  <a:schemeClr val="bg1"/>
                </a:solidFill>
              </a:rPr>
              <a:t>NO-Hardhat</a:t>
            </a:r>
            <a:endParaRPr lang="en-US" sz="1000" dirty="0"/>
          </a:p>
        </p:txBody>
      </p:sp>
      <p:sp>
        <p:nvSpPr>
          <p:cNvPr id="29" name="Text 26"/>
          <p:cNvSpPr txBox="1"/>
          <p:nvPr/>
        </p:nvSpPr>
        <p:spPr>
          <a:xfrm>
            <a:off x="5234109" y="3675888"/>
            <a:ext cx="786384" cy="274320"/>
          </a:xfrm>
          <a:prstGeom prst="rect">
            <a:avLst/>
          </a:prstGeom>
          <a:noFill/>
          <a:ln/>
        </p:spPr>
        <p:txBody>
          <a:bodyPr wrap="square" lIns="0" tIns="0" rIns="0" bIns="0" rtlCol="0" anchor="t"/>
          <a:lstStyle/>
          <a:p>
            <a:pPr algn="ctr" indent="0" marL="0">
              <a:buNone/>
            </a:pPr>
            <a:r>
              <a:rPr lang="en-US" sz="1400" b="1" dirty="0">
                <a:solidFill>
                  <a:schemeClr val="accent4"/>
                </a:solidFill>
              </a:rPr>
              <a:t>4</a:t>
            </a:r>
            <a:endParaRPr lang="en-US" sz="1400" dirty="0"/>
          </a:p>
        </p:txBody>
      </p:sp>
      <p:sp>
        <p:nvSpPr>
          <p:cNvPr id="30" name="frame"/>
          <p:cNvSpPr/>
          <p:nvPr/>
        </p:nvSpPr>
        <p:spPr>
          <a:xfrm>
            <a:off x="6171202" y="2468880"/>
            <a:ext cx="786384" cy="1097280"/>
          </a:xfrm>
          <a:prstGeom prst="rect">
            <a:avLst/>
          </a:prstGeom>
          <a:solidFill>
            <a:schemeClr val="accent2"/>
          </a:solidFill>
          <a:ln w="38100">
            <a:solidFill>
              <a:schemeClr val="accent1"/>
            </a:solidFill>
            <a:prstDash val="solid"/>
          </a:ln>
        </p:spPr>
      </p:sp>
      <p:sp>
        <p:nvSpPr>
          <p:cNvPr id="31" name="Text 28"/>
          <p:cNvSpPr txBox="1"/>
          <p:nvPr/>
        </p:nvSpPr>
        <p:spPr>
          <a:xfrm>
            <a:off x="6171202" y="2651760"/>
            <a:ext cx="786384" cy="274320"/>
          </a:xfrm>
          <a:prstGeom prst="rect">
            <a:avLst/>
          </a:prstGeom>
          <a:noFill/>
          <a:ln/>
        </p:spPr>
        <p:txBody>
          <a:bodyPr wrap="square" lIns="0" tIns="0" rIns="0" bIns="0" rtlCol="0" anchor="t"/>
          <a:lstStyle/>
          <a:p>
            <a:pPr algn="ctr" indent="0" marL="0">
              <a:buNone/>
            </a:pPr>
            <a:r>
              <a:rPr lang="en-US" sz="1300" b="1" dirty="0">
                <a:solidFill>
                  <a:schemeClr val="bg1"/>
                </a:solidFill>
              </a:rPr>
              <a:t>t7</a:t>
            </a:r>
            <a:endParaRPr lang="en-US" sz="1300" dirty="0"/>
          </a:p>
        </p:txBody>
      </p:sp>
      <p:sp>
        <p:nvSpPr>
          <p:cNvPr id="32" name="Text 29"/>
          <p:cNvSpPr txBox="1"/>
          <p:nvPr/>
        </p:nvSpPr>
        <p:spPr>
          <a:xfrm>
            <a:off x="6171202" y="3108960"/>
            <a:ext cx="786384" cy="274320"/>
          </a:xfrm>
          <a:prstGeom prst="rect">
            <a:avLst/>
          </a:prstGeom>
          <a:noFill/>
          <a:ln/>
        </p:spPr>
        <p:txBody>
          <a:bodyPr wrap="square" lIns="0" tIns="0" rIns="0" bIns="0" rtlCol="0" anchor="t"/>
          <a:lstStyle/>
          <a:p>
            <a:pPr algn="ctr" indent="0" marL="0">
              <a:buNone/>
            </a:pPr>
            <a:r>
              <a:rPr lang="en-US" sz="1000" dirty="0">
                <a:solidFill>
                  <a:schemeClr val="bg1"/>
                </a:solidFill>
              </a:rPr>
              <a:t>NO-Hardhat</a:t>
            </a:r>
            <a:endParaRPr lang="en-US" sz="1000" dirty="0"/>
          </a:p>
        </p:txBody>
      </p:sp>
      <p:sp>
        <p:nvSpPr>
          <p:cNvPr id="33" name="Text 30"/>
          <p:cNvSpPr txBox="1"/>
          <p:nvPr/>
        </p:nvSpPr>
        <p:spPr>
          <a:xfrm>
            <a:off x="6171202" y="3675888"/>
            <a:ext cx="786384" cy="274320"/>
          </a:xfrm>
          <a:prstGeom prst="rect">
            <a:avLst/>
          </a:prstGeom>
          <a:noFill/>
          <a:ln/>
        </p:spPr>
        <p:txBody>
          <a:bodyPr wrap="square" lIns="0" tIns="0" rIns="0" bIns="0" rtlCol="0" anchor="t"/>
          <a:lstStyle/>
          <a:p>
            <a:pPr algn="ctr" indent="0" marL="0">
              <a:buNone/>
            </a:pPr>
            <a:r>
              <a:rPr lang="en-US" sz="1400" b="1" dirty="0">
                <a:solidFill>
                  <a:schemeClr val="accent2"/>
                </a:solidFill>
              </a:rPr>
              <a:t>5</a:t>
            </a:r>
            <a:endParaRPr lang="en-US" sz="1400" dirty="0"/>
          </a:p>
        </p:txBody>
      </p:sp>
      <p:sp>
        <p:nvSpPr>
          <p:cNvPr id="34" name="frame"/>
          <p:cNvSpPr/>
          <p:nvPr/>
        </p:nvSpPr>
        <p:spPr>
          <a:xfrm>
            <a:off x="7108296" y="2468880"/>
            <a:ext cx="786384" cy="1097280"/>
          </a:xfrm>
          <a:prstGeom prst="rect">
            <a:avLst/>
          </a:prstGeom>
          <a:solidFill>
            <a:schemeClr val="accent2"/>
          </a:solidFill>
          <a:ln w="9525">
            <a:solidFill>
              <a:schemeClr val="accent2"/>
            </a:solidFill>
            <a:prstDash val="solid"/>
          </a:ln>
        </p:spPr>
      </p:sp>
      <p:sp>
        <p:nvSpPr>
          <p:cNvPr id="35" name="Text 32"/>
          <p:cNvSpPr txBox="1"/>
          <p:nvPr/>
        </p:nvSpPr>
        <p:spPr>
          <a:xfrm>
            <a:off x="7108296" y="2651760"/>
            <a:ext cx="786384" cy="274320"/>
          </a:xfrm>
          <a:prstGeom prst="rect">
            <a:avLst/>
          </a:prstGeom>
          <a:noFill/>
          <a:ln/>
        </p:spPr>
        <p:txBody>
          <a:bodyPr wrap="square" lIns="0" tIns="0" rIns="0" bIns="0" rtlCol="0" anchor="t"/>
          <a:lstStyle/>
          <a:p>
            <a:pPr algn="ctr" indent="0" marL="0">
              <a:buNone/>
            </a:pPr>
            <a:r>
              <a:rPr lang="en-US" sz="1300" b="1" dirty="0">
                <a:solidFill>
                  <a:schemeClr val="bg1"/>
                </a:solidFill>
              </a:rPr>
              <a:t>t8</a:t>
            </a:r>
            <a:endParaRPr lang="en-US" sz="1300" dirty="0"/>
          </a:p>
        </p:txBody>
      </p:sp>
      <p:sp>
        <p:nvSpPr>
          <p:cNvPr id="36" name="Text 33"/>
          <p:cNvSpPr txBox="1"/>
          <p:nvPr/>
        </p:nvSpPr>
        <p:spPr>
          <a:xfrm>
            <a:off x="7108296" y="3108960"/>
            <a:ext cx="786384" cy="274320"/>
          </a:xfrm>
          <a:prstGeom prst="rect">
            <a:avLst/>
          </a:prstGeom>
          <a:noFill/>
          <a:ln/>
        </p:spPr>
        <p:txBody>
          <a:bodyPr wrap="square" lIns="0" tIns="0" rIns="0" bIns="0" rtlCol="0" anchor="t"/>
          <a:lstStyle/>
          <a:p>
            <a:pPr algn="ctr" indent="0" marL="0">
              <a:buNone/>
            </a:pPr>
            <a:r>
              <a:rPr lang="en-US" sz="1000" dirty="0">
                <a:solidFill>
                  <a:schemeClr val="bg1"/>
                </a:solidFill>
              </a:rPr>
              <a:t>NO-Hardhat</a:t>
            </a:r>
            <a:endParaRPr lang="en-US" sz="1000" dirty="0"/>
          </a:p>
        </p:txBody>
      </p:sp>
      <p:sp>
        <p:nvSpPr>
          <p:cNvPr id="37" name="Text 34"/>
          <p:cNvSpPr txBox="1"/>
          <p:nvPr/>
        </p:nvSpPr>
        <p:spPr>
          <a:xfrm>
            <a:off x="7108296" y="3675888"/>
            <a:ext cx="786384" cy="274320"/>
          </a:xfrm>
          <a:prstGeom prst="rect">
            <a:avLst/>
          </a:prstGeom>
          <a:noFill/>
          <a:ln/>
        </p:spPr>
        <p:txBody>
          <a:bodyPr wrap="square" lIns="0" tIns="0" rIns="0" bIns="0" rtlCol="0" anchor="t"/>
          <a:lstStyle/>
          <a:p>
            <a:pPr algn="ctr" indent="0" marL="0">
              <a:buNone/>
            </a:pPr>
            <a:r>
              <a:rPr lang="en-US" sz="1400" b="1" dirty="0">
                <a:solidFill>
                  <a:schemeClr val="accent2"/>
                </a:solidFill>
              </a:rPr>
              <a:t>6</a:t>
            </a:r>
            <a:endParaRPr lang="en-US" sz="1400" dirty="0"/>
          </a:p>
        </p:txBody>
      </p:sp>
      <p:sp>
        <p:nvSpPr>
          <p:cNvPr id="38" name="frame"/>
          <p:cNvSpPr/>
          <p:nvPr/>
        </p:nvSpPr>
        <p:spPr>
          <a:xfrm>
            <a:off x="8045390" y="2468880"/>
            <a:ext cx="786384" cy="1097280"/>
          </a:xfrm>
          <a:prstGeom prst="rect">
            <a:avLst/>
          </a:prstGeom>
          <a:solidFill>
            <a:schemeClr val="accent2"/>
          </a:solidFill>
          <a:ln w="9525">
            <a:solidFill>
              <a:schemeClr val="accent2"/>
            </a:solidFill>
            <a:prstDash val="solid"/>
          </a:ln>
        </p:spPr>
      </p:sp>
      <p:sp>
        <p:nvSpPr>
          <p:cNvPr id="39" name="Text 36"/>
          <p:cNvSpPr txBox="1"/>
          <p:nvPr/>
        </p:nvSpPr>
        <p:spPr>
          <a:xfrm>
            <a:off x="8045390" y="2651760"/>
            <a:ext cx="786384" cy="274320"/>
          </a:xfrm>
          <a:prstGeom prst="rect">
            <a:avLst/>
          </a:prstGeom>
          <a:noFill/>
          <a:ln/>
        </p:spPr>
        <p:txBody>
          <a:bodyPr wrap="square" lIns="0" tIns="0" rIns="0" bIns="0" rtlCol="0" anchor="t"/>
          <a:lstStyle/>
          <a:p>
            <a:pPr algn="ctr" indent="0" marL="0">
              <a:buNone/>
            </a:pPr>
            <a:r>
              <a:rPr lang="en-US" sz="1300" b="1" dirty="0">
                <a:solidFill>
                  <a:schemeClr val="bg1"/>
                </a:solidFill>
              </a:rPr>
              <a:t>t9</a:t>
            </a:r>
            <a:endParaRPr lang="en-US" sz="1300" dirty="0"/>
          </a:p>
        </p:txBody>
      </p:sp>
      <p:sp>
        <p:nvSpPr>
          <p:cNvPr id="40" name="Text 37"/>
          <p:cNvSpPr txBox="1"/>
          <p:nvPr/>
        </p:nvSpPr>
        <p:spPr>
          <a:xfrm>
            <a:off x="8045390" y="3108960"/>
            <a:ext cx="786384" cy="274320"/>
          </a:xfrm>
          <a:prstGeom prst="rect">
            <a:avLst/>
          </a:prstGeom>
          <a:noFill/>
          <a:ln/>
        </p:spPr>
        <p:txBody>
          <a:bodyPr wrap="square" lIns="0" tIns="0" rIns="0" bIns="0" rtlCol="0" anchor="t"/>
          <a:lstStyle/>
          <a:p>
            <a:pPr algn="ctr" indent="0" marL="0">
              <a:buNone/>
            </a:pPr>
            <a:r>
              <a:rPr lang="en-US" sz="1000" dirty="0">
                <a:solidFill>
                  <a:schemeClr val="bg1"/>
                </a:solidFill>
              </a:rPr>
              <a:t>NO-Hardhat</a:t>
            </a:r>
            <a:endParaRPr lang="en-US" sz="1000" dirty="0"/>
          </a:p>
        </p:txBody>
      </p:sp>
      <p:sp>
        <p:nvSpPr>
          <p:cNvPr id="41" name="Text 38"/>
          <p:cNvSpPr txBox="1"/>
          <p:nvPr/>
        </p:nvSpPr>
        <p:spPr>
          <a:xfrm>
            <a:off x="8045390" y="3675888"/>
            <a:ext cx="786384" cy="274320"/>
          </a:xfrm>
          <a:prstGeom prst="rect">
            <a:avLst/>
          </a:prstGeom>
          <a:noFill/>
          <a:ln/>
        </p:spPr>
        <p:txBody>
          <a:bodyPr wrap="square" lIns="0" tIns="0" rIns="0" bIns="0" rtlCol="0" anchor="t"/>
          <a:lstStyle/>
          <a:p>
            <a:pPr algn="ctr" indent="0" marL="0">
              <a:buNone/>
            </a:pPr>
            <a:r>
              <a:rPr lang="en-US" sz="1400" b="1" dirty="0">
                <a:solidFill>
                  <a:schemeClr val="accent2"/>
                </a:solidFill>
              </a:rPr>
              <a:t>7</a:t>
            </a:r>
            <a:endParaRPr lang="en-US" sz="1400" dirty="0"/>
          </a:p>
        </p:txBody>
      </p:sp>
      <p:sp>
        <p:nvSpPr>
          <p:cNvPr id="42" name="frame"/>
          <p:cNvSpPr/>
          <p:nvPr/>
        </p:nvSpPr>
        <p:spPr>
          <a:xfrm>
            <a:off x="8982484" y="2468880"/>
            <a:ext cx="786384" cy="1097280"/>
          </a:xfrm>
          <a:prstGeom prst="rect">
            <a:avLst/>
          </a:prstGeom>
          <a:solidFill>
            <a:schemeClr val="bg2"/>
          </a:solidFill>
          <a:ln w="9525">
            <a:solidFill>
              <a:schemeClr val="bg2"/>
            </a:solidFill>
            <a:prstDash val="solid"/>
          </a:ln>
        </p:spPr>
      </p:sp>
      <p:sp>
        <p:nvSpPr>
          <p:cNvPr id="43" name="Text 40"/>
          <p:cNvSpPr txBox="1"/>
          <p:nvPr/>
        </p:nvSpPr>
        <p:spPr>
          <a:xfrm>
            <a:off x="8982484" y="2651760"/>
            <a:ext cx="786384" cy="274320"/>
          </a:xfrm>
          <a:prstGeom prst="rect">
            <a:avLst/>
          </a:prstGeom>
          <a:noFill/>
          <a:ln/>
        </p:spPr>
        <p:txBody>
          <a:bodyPr wrap="square" lIns="0" tIns="0" rIns="0" bIns="0" rtlCol="0" anchor="t"/>
          <a:lstStyle/>
          <a:p>
            <a:pPr algn="ctr" indent="0" marL="0">
              <a:buNone/>
            </a:pPr>
            <a:r>
              <a:rPr lang="en-US" sz="1300" b="1" dirty="0">
                <a:solidFill>
                  <a:schemeClr val="accent4"/>
                </a:solidFill>
              </a:rPr>
              <a:t>t10</a:t>
            </a:r>
            <a:endParaRPr lang="en-US" sz="1300" dirty="0"/>
          </a:p>
        </p:txBody>
      </p:sp>
      <p:sp>
        <p:nvSpPr>
          <p:cNvPr id="44" name="Text 41"/>
          <p:cNvSpPr txBox="1"/>
          <p:nvPr/>
        </p:nvSpPr>
        <p:spPr>
          <a:xfrm>
            <a:off x="8982484" y="3108960"/>
            <a:ext cx="786384" cy="274320"/>
          </a:xfrm>
          <a:prstGeom prst="rect">
            <a:avLst/>
          </a:prstGeom>
          <a:noFill/>
          <a:ln/>
        </p:spPr>
        <p:txBody>
          <a:bodyPr wrap="square" lIns="0" tIns="0" rIns="0" bIns="0" rtlCol="0" anchor="t"/>
          <a:lstStyle/>
          <a:p>
            <a:pPr algn="ctr" indent="0" marL="0">
              <a:buNone/>
            </a:pPr>
            <a:r>
              <a:rPr lang="en-US" sz="1000" dirty="0">
                <a:solidFill>
                  <a:schemeClr val="accent4"/>
                </a:solidFill>
              </a:rPr>
              <a:t>clear</a:t>
            </a:r>
            <a:endParaRPr lang="en-US" sz="1000" dirty="0"/>
          </a:p>
        </p:txBody>
      </p:sp>
      <p:sp>
        <p:nvSpPr>
          <p:cNvPr id="45" name="Text 42"/>
          <p:cNvSpPr txBox="1"/>
          <p:nvPr/>
        </p:nvSpPr>
        <p:spPr>
          <a:xfrm>
            <a:off x="8982484" y="3675888"/>
            <a:ext cx="786384" cy="274320"/>
          </a:xfrm>
          <a:prstGeom prst="rect">
            <a:avLst/>
          </a:prstGeom>
          <a:noFill/>
          <a:ln/>
        </p:spPr>
        <p:txBody>
          <a:bodyPr wrap="square" lIns="0" tIns="0" rIns="0" bIns="0" rtlCol="0" anchor="t"/>
          <a:lstStyle/>
          <a:p>
            <a:pPr algn="ctr" indent="0" marL="0">
              <a:buNone/>
            </a:pPr>
            <a:r>
              <a:rPr lang="en-US" sz="1400" b="1" dirty="0">
                <a:solidFill>
                  <a:schemeClr val="accent4"/>
                </a:solidFill>
              </a:rPr>
              <a:t>0</a:t>
            </a:r>
            <a:endParaRPr lang="en-US" sz="1400" dirty="0"/>
          </a:p>
        </p:txBody>
      </p:sp>
      <p:sp>
        <p:nvSpPr>
          <p:cNvPr id="46" name="frame"/>
          <p:cNvSpPr/>
          <p:nvPr/>
        </p:nvSpPr>
        <p:spPr>
          <a:xfrm>
            <a:off x="9919577" y="2468880"/>
            <a:ext cx="786384" cy="1097280"/>
          </a:xfrm>
          <a:prstGeom prst="rect">
            <a:avLst/>
          </a:prstGeom>
          <a:solidFill>
            <a:schemeClr val="bg2"/>
          </a:solidFill>
          <a:ln w="9525">
            <a:solidFill>
              <a:schemeClr val="bg2"/>
            </a:solidFill>
            <a:prstDash val="solid"/>
          </a:ln>
        </p:spPr>
      </p:sp>
      <p:sp>
        <p:nvSpPr>
          <p:cNvPr id="47" name="Text 44"/>
          <p:cNvSpPr txBox="1"/>
          <p:nvPr/>
        </p:nvSpPr>
        <p:spPr>
          <a:xfrm>
            <a:off x="9919577" y="2651760"/>
            <a:ext cx="786384" cy="274320"/>
          </a:xfrm>
          <a:prstGeom prst="rect">
            <a:avLst/>
          </a:prstGeom>
          <a:noFill/>
          <a:ln/>
        </p:spPr>
        <p:txBody>
          <a:bodyPr wrap="square" lIns="0" tIns="0" rIns="0" bIns="0" rtlCol="0" anchor="t"/>
          <a:lstStyle/>
          <a:p>
            <a:pPr algn="ctr" indent="0" marL="0">
              <a:buNone/>
            </a:pPr>
            <a:r>
              <a:rPr lang="en-US" sz="1300" b="1" dirty="0">
                <a:solidFill>
                  <a:schemeClr val="accent4"/>
                </a:solidFill>
              </a:rPr>
              <a:t>t11</a:t>
            </a:r>
            <a:endParaRPr lang="en-US" sz="1300" dirty="0"/>
          </a:p>
        </p:txBody>
      </p:sp>
      <p:sp>
        <p:nvSpPr>
          <p:cNvPr id="48" name="Text 45"/>
          <p:cNvSpPr txBox="1"/>
          <p:nvPr/>
        </p:nvSpPr>
        <p:spPr>
          <a:xfrm>
            <a:off x="9919577" y="3108960"/>
            <a:ext cx="786384" cy="274320"/>
          </a:xfrm>
          <a:prstGeom prst="rect">
            <a:avLst/>
          </a:prstGeom>
          <a:noFill/>
          <a:ln/>
        </p:spPr>
        <p:txBody>
          <a:bodyPr wrap="square" lIns="0" tIns="0" rIns="0" bIns="0" rtlCol="0" anchor="t"/>
          <a:lstStyle/>
          <a:p>
            <a:pPr algn="ctr" indent="0" marL="0">
              <a:buNone/>
            </a:pPr>
            <a:r>
              <a:rPr lang="en-US" sz="1000" dirty="0">
                <a:solidFill>
                  <a:schemeClr val="accent4"/>
                </a:solidFill>
              </a:rPr>
              <a:t>clear</a:t>
            </a:r>
            <a:endParaRPr lang="en-US" sz="1000" dirty="0"/>
          </a:p>
        </p:txBody>
      </p:sp>
      <p:sp>
        <p:nvSpPr>
          <p:cNvPr id="49" name="Text 46"/>
          <p:cNvSpPr txBox="1"/>
          <p:nvPr/>
        </p:nvSpPr>
        <p:spPr>
          <a:xfrm>
            <a:off x="9919577" y="3675888"/>
            <a:ext cx="786384" cy="274320"/>
          </a:xfrm>
          <a:prstGeom prst="rect">
            <a:avLst/>
          </a:prstGeom>
          <a:noFill/>
          <a:ln/>
        </p:spPr>
        <p:txBody>
          <a:bodyPr wrap="square" lIns="0" tIns="0" rIns="0" bIns="0" rtlCol="0" anchor="t"/>
          <a:lstStyle/>
          <a:p>
            <a:pPr algn="ctr" indent="0" marL="0">
              <a:buNone/>
            </a:pPr>
            <a:r>
              <a:rPr lang="en-US" sz="1400" b="1" dirty="0">
                <a:solidFill>
                  <a:schemeClr val="accent4"/>
                </a:solidFill>
              </a:rPr>
              <a:t>0</a:t>
            </a:r>
            <a:endParaRPr lang="en-US" sz="1400" dirty="0"/>
          </a:p>
        </p:txBody>
      </p:sp>
      <p:sp>
        <p:nvSpPr>
          <p:cNvPr id="50" name="frame"/>
          <p:cNvSpPr/>
          <p:nvPr/>
        </p:nvSpPr>
        <p:spPr>
          <a:xfrm>
            <a:off x="10856671" y="2468880"/>
            <a:ext cx="786384" cy="1097280"/>
          </a:xfrm>
          <a:prstGeom prst="rect">
            <a:avLst/>
          </a:prstGeom>
          <a:solidFill>
            <a:schemeClr val="accent2"/>
          </a:solidFill>
          <a:ln w="9525">
            <a:solidFill>
              <a:schemeClr val="accent2"/>
            </a:solidFill>
            <a:prstDash val="solid"/>
          </a:ln>
        </p:spPr>
      </p:sp>
      <p:sp>
        <p:nvSpPr>
          <p:cNvPr id="51" name="Text 48"/>
          <p:cNvSpPr txBox="1"/>
          <p:nvPr/>
        </p:nvSpPr>
        <p:spPr>
          <a:xfrm>
            <a:off x="10856671" y="2651760"/>
            <a:ext cx="786384" cy="274320"/>
          </a:xfrm>
          <a:prstGeom prst="rect">
            <a:avLst/>
          </a:prstGeom>
          <a:noFill/>
          <a:ln/>
        </p:spPr>
        <p:txBody>
          <a:bodyPr wrap="square" lIns="0" tIns="0" rIns="0" bIns="0" rtlCol="0" anchor="t"/>
          <a:lstStyle/>
          <a:p>
            <a:pPr algn="ctr" indent="0" marL="0">
              <a:buNone/>
            </a:pPr>
            <a:r>
              <a:rPr lang="en-US" sz="1300" b="1" dirty="0">
                <a:solidFill>
                  <a:schemeClr val="bg1"/>
                </a:solidFill>
              </a:rPr>
              <a:t>t12</a:t>
            </a:r>
            <a:endParaRPr lang="en-US" sz="1300" dirty="0"/>
          </a:p>
        </p:txBody>
      </p:sp>
      <p:sp>
        <p:nvSpPr>
          <p:cNvPr id="52" name="Text 49"/>
          <p:cNvSpPr txBox="1"/>
          <p:nvPr/>
        </p:nvSpPr>
        <p:spPr>
          <a:xfrm>
            <a:off x="10856671" y="3108960"/>
            <a:ext cx="786384" cy="274320"/>
          </a:xfrm>
          <a:prstGeom prst="rect">
            <a:avLst/>
          </a:prstGeom>
          <a:noFill/>
          <a:ln/>
        </p:spPr>
        <p:txBody>
          <a:bodyPr wrap="square" lIns="0" tIns="0" rIns="0" bIns="0" rtlCol="0" anchor="t"/>
          <a:lstStyle/>
          <a:p>
            <a:pPr algn="ctr" indent="0" marL="0">
              <a:buNone/>
            </a:pPr>
            <a:r>
              <a:rPr lang="en-US" sz="1000" dirty="0">
                <a:solidFill>
                  <a:schemeClr val="bg1"/>
                </a:solidFill>
              </a:rPr>
              <a:t>NO-Hardhat</a:t>
            </a:r>
            <a:endParaRPr lang="en-US" sz="1000" dirty="0"/>
          </a:p>
        </p:txBody>
      </p:sp>
      <p:sp>
        <p:nvSpPr>
          <p:cNvPr id="53" name="Text 50"/>
          <p:cNvSpPr txBox="1"/>
          <p:nvPr/>
        </p:nvSpPr>
        <p:spPr>
          <a:xfrm>
            <a:off x="10856671" y="3675888"/>
            <a:ext cx="786384" cy="274320"/>
          </a:xfrm>
          <a:prstGeom prst="rect">
            <a:avLst/>
          </a:prstGeom>
          <a:noFill/>
          <a:ln/>
        </p:spPr>
        <p:txBody>
          <a:bodyPr wrap="square" lIns="0" tIns="0" rIns="0" bIns="0" rtlCol="0" anchor="t"/>
          <a:lstStyle/>
          <a:p>
            <a:pPr algn="ctr" indent="0" marL="0">
              <a:buNone/>
            </a:pPr>
            <a:r>
              <a:rPr lang="en-US" sz="1400" b="1" dirty="0">
                <a:solidFill>
                  <a:schemeClr val="accent4"/>
                </a:solidFill>
              </a:rPr>
              <a:t>1</a:t>
            </a:r>
            <a:endParaRPr lang="en-US" sz="1400" dirty="0"/>
          </a:p>
        </p:txBody>
      </p:sp>
      <p:sp>
        <p:nvSpPr>
          <p:cNvPr id="54" name="Text 51"/>
          <p:cNvSpPr txBox="1"/>
          <p:nvPr/>
        </p:nvSpPr>
        <p:spPr>
          <a:xfrm>
            <a:off x="548640" y="4023360"/>
            <a:ext cx="3657600" cy="256032"/>
          </a:xfrm>
          <a:prstGeom prst="rect">
            <a:avLst/>
          </a:prstGeom>
          <a:noFill/>
          <a:ln/>
        </p:spPr>
        <p:txBody>
          <a:bodyPr wrap="square" lIns="0" tIns="0" rIns="0" bIns="0" rtlCol="0" anchor="t"/>
          <a:lstStyle/>
          <a:p>
            <a:pPr indent="0" marL="0">
              <a:buNone/>
            </a:pPr>
            <a:r>
              <a:rPr lang="en-US" sz="1100" dirty="0">
                <a:solidFill>
                  <a:schemeClr val="accent4"/>
                </a:solidFill>
              </a:rPr>
              <a:t>Consecutive frames with the violation</a:t>
            </a:r>
            <a:endParaRPr lang="en-US" sz="1100" dirty="0"/>
          </a:p>
        </p:txBody>
      </p:sp>
      <p:sp>
        <p:nvSpPr>
          <p:cNvPr id="55" name="Text 52"/>
          <p:cNvSpPr txBox="1"/>
          <p:nvPr/>
        </p:nvSpPr>
        <p:spPr>
          <a:xfrm>
            <a:off x="3976642" y="4023360"/>
            <a:ext cx="5212080" cy="256032"/>
          </a:xfrm>
          <a:prstGeom prst="rect">
            <a:avLst/>
          </a:prstGeom>
          <a:noFill/>
          <a:ln/>
        </p:spPr>
        <p:txBody>
          <a:bodyPr wrap="square" lIns="0" tIns="0" rIns="0" bIns="0" rtlCol="0" anchor="t"/>
          <a:lstStyle/>
          <a:p>
            <a:pPr algn="ctr" indent="0" marL="0">
              <a:buNone/>
            </a:pPr>
            <a:r>
              <a:rPr lang="en-US" sz="1200" b="1" dirty="0">
                <a:solidFill>
                  <a:schemeClr val="accent5"/>
                </a:solidFill>
              </a:rPr>
              <a:t>t7: incident confirmed, snapshot saved, 2 s cooldown starts</a:t>
            </a:r>
            <a:endParaRPr lang="en-US" sz="1200" dirty="0"/>
          </a:p>
        </p:txBody>
      </p:sp>
      <p:sp>
        <p:nvSpPr>
          <p:cNvPr id="56" name="rule"/>
          <p:cNvSpPr/>
          <p:nvPr/>
        </p:nvSpPr>
        <p:spPr>
          <a:xfrm>
            <a:off x="548640" y="4572000"/>
            <a:ext cx="3515258" cy="0"/>
          </a:xfrm>
          <a:prstGeom prst="line">
            <a:avLst/>
          </a:prstGeom>
          <a:noFill/>
          <a:ln w="9525">
            <a:solidFill>
              <a:schemeClr val="tx1"/>
            </a:solidFill>
            <a:prstDash val="solid"/>
          </a:ln>
        </p:spPr>
      </p:sp>
      <p:sp>
        <p:nvSpPr>
          <p:cNvPr id="57" name="Text 54"/>
          <p:cNvSpPr txBox="1"/>
          <p:nvPr/>
        </p:nvSpPr>
        <p:spPr>
          <a:xfrm>
            <a:off x="548640" y="4709160"/>
            <a:ext cx="3515258" cy="365760"/>
          </a:xfrm>
          <a:prstGeom prst="rect">
            <a:avLst/>
          </a:prstGeom>
          <a:noFill/>
          <a:ln/>
        </p:spPr>
        <p:txBody>
          <a:bodyPr wrap="square" lIns="0" tIns="0" rIns="0" bIns="0" rtlCol="0" anchor="t"/>
          <a:lstStyle/>
          <a:p>
            <a:pPr indent="0" marL="0">
              <a:buNone/>
            </a:pPr>
            <a:r>
              <a:rPr lang="en-US" sz="1800" b="1" dirty="0">
                <a:solidFill>
                  <a:schemeClr val="tx1"/>
                </a:solidFill>
              </a:rPr>
              <a:t>Suppresses transient errors</a:t>
            </a:r>
            <a:endParaRPr lang="en-US" sz="1800" dirty="0"/>
          </a:p>
        </p:txBody>
      </p:sp>
      <p:sp>
        <p:nvSpPr>
          <p:cNvPr id="58" name="Text 55"/>
          <p:cNvSpPr txBox="1"/>
          <p:nvPr/>
        </p:nvSpPr>
        <p:spPr>
          <a:xfrm>
            <a:off x="548640" y="5120640"/>
            <a:ext cx="3515258" cy="777240"/>
          </a:xfrm>
          <a:prstGeom prst="rect">
            <a:avLst/>
          </a:prstGeom>
          <a:noFill/>
          <a:ln/>
        </p:spPr>
        <p:txBody>
          <a:bodyPr wrap="square" lIns="0" tIns="0" rIns="0" bIns="0" rtlCol="0" anchor="t"/>
          <a:lstStyle/>
          <a:p>
            <a:pPr indent="0" marL="0">
              <a:buNone/>
            </a:pPr>
            <a:r>
              <a:rPr lang="en-US" sz="1400" dirty="0">
                <a:solidFill>
                  <a:schemeClr val="accent4"/>
                </a:solidFill>
              </a:rPr>
              <a:t>A misclassification that lasts fewer than five consecutive frames raises no incident.</a:t>
            </a:r>
            <a:endParaRPr lang="en-US" sz="1400" dirty="0"/>
          </a:p>
        </p:txBody>
      </p:sp>
      <p:sp>
        <p:nvSpPr>
          <p:cNvPr id="59" name="rule"/>
          <p:cNvSpPr/>
          <p:nvPr/>
        </p:nvSpPr>
        <p:spPr>
          <a:xfrm>
            <a:off x="4338218" y="4572000"/>
            <a:ext cx="3515258" cy="0"/>
          </a:xfrm>
          <a:prstGeom prst="line">
            <a:avLst/>
          </a:prstGeom>
          <a:noFill/>
          <a:ln w="9525">
            <a:solidFill>
              <a:schemeClr val="tx1"/>
            </a:solidFill>
            <a:prstDash val="solid"/>
          </a:ln>
        </p:spPr>
      </p:sp>
      <p:sp>
        <p:nvSpPr>
          <p:cNvPr id="60" name="Text 57"/>
          <p:cNvSpPr txBox="1"/>
          <p:nvPr/>
        </p:nvSpPr>
        <p:spPr>
          <a:xfrm>
            <a:off x="4338218" y="4709160"/>
            <a:ext cx="3515258" cy="365760"/>
          </a:xfrm>
          <a:prstGeom prst="rect">
            <a:avLst/>
          </a:prstGeom>
          <a:noFill/>
          <a:ln/>
        </p:spPr>
        <p:txBody>
          <a:bodyPr wrap="square" lIns="0" tIns="0" rIns="0" bIns="0" rtlCol="0" anchor="t"/>
          <a:lstStyle/>
          <a:p>
            <a:pPr indent="0" marL="0">
              <a:buNone/>
            </a:pPr>
            <a:r>
              <a:rPr lang="en-US" sz="1800" b="1" dirty="0">
                <a:solidFill>
                  <a:schemeClr val="tx1"/>
                </a:solidFill>
              </a:rPr>
              <a:t>Cooldown</a:t>
            </a:r>
            <a:endParaRPr lang="en-US" sz="1800" dirty="0"/>
          </a:p>
        </p:txBody>
      </p:sp>
      <p:sp>
        <p:nvSpPr>
          <p:cNvPr id="61" name="Text 58"/>
          <p:cNvSpPr txBox="1"/>
          <p:nvPr/>
        </p:nvSpPr>
        <p:spPr>
          <a:xfrm>
            <a:off x="4338218" y="5120640"/>
            <a:ext cx="3515258" cy="777240"/>
          </a:xfrm>
          <a:prstGeom prst="rect">
            <a:avLst/>
          </a:prstGeom>
          <a:noFill/>
          <a:ln/>
        </p:spPr>
        <p:txBody>
          <a:bodyPr wrap="square" lIns="0" tIns="0" rIns="0" bIns="0" rtlCol="0" anchor="t"/>
          <a:lstStyle/>
          <a:p>
            <a:pPr indent="0" marL="0">
              <a:buNone/>
            </a:pPr>
            <a:r>
              <a:rPr lang="en-US" sz="1400" dirty="0">
                <a:solidFill>
                  <a:schemeClr val="accent4"/>
                </a:solidFill>
              </a:rPr>
              <a:t>A 2 s cooldown stops a burst of duplicate incidents for one continuing event.</a:t>
            </a:r>
            <a:endParaRPr lang="en-US" sz="1400" dirty="0"/>
          </a:p>
        </p:txBody>
      </p:sp>
      <p:sp>
        <p:nvSpPr>
          <p:cNvPr id="62" name="rule"/>
          <p:cNvSpPr/>
          <p:nvPr/>
        </p:nvSpPr>
        <p:spPr>
          <a:xfrm>
            <a:off x="8127797" y="4572000"/>
            <a:ext cx="3515258" cy="0"/>
          </a:xfrm>
          <a:prstGeom prst="line">
            <a:avLst/>
          </a:prstGeom>
          <a:noFill/>
          <a:ln w="9525">
            <a:solidFill>
              <a:schemeClr val="tx1"/>
            </a:solidFill>
            <a:prstDash val="solid"/>
          </a:ln>
        </p:spPr>
      </p:sp>
      <p:sp>
        <p:nvSpPr>
          <p:cNvPr id="63" name="Text 60"/>
          <p:cNvSpPr txBox="1"/>
          <p:nvPr/>
        </p:nvSpPr>
        <p:spPr>
          <a:xfrm>
            <a:off x="8127797" y="4709160"/>
            <a:ext cx="3515258" cy="365760"/>
          </a:xfrm>
          <a:prstGeom prst="rect">
            <a:avLst/>
          </a:prstGeom>
          <a:noFill/>
          <a:ln/>
        </p:spPr>
        <p:txBody>
          <a:bodyPr wrap="square" lIns="0" tIns="0" rIns="0" bIns="0" rtlCol="0" anchor="t"/>
          <a:lstStyle/>
          <a:p>
            <a:pPr indent="0" marL="0">
              <a:buNone/>
            </a:pPr>
            <a:r>
              <a:rPr lang="en-US" sz="1800" b="1" dirty="0">
                <a:solidFill>
                  <a:schemeClr val="tx1"/>
                </a:solidFill>
              </a:rPr>
              <a:t>Known limit</a:t>
            </a:r>
            <a:endParaRPr lang="en-US" sz="1800" dirty="0"/>
          </a:p>
        </p:txBody>
      </p:sp>
      <p:sp>
        <p:nvSpPr>
          <p:cNvPr id="64" name="Text 61"/>
          <p:cNvSpPr txBox="1"/>
          <p:nvPr/>
        </p:nvSpPr>
        <p:spPr>
          <a:xfrm>
            <a:off x="8127797" y="5120640"/>
            <a:ext cx="3515258" cy="777240"/>
          </a:xfrm>
          <a:prstGeom prst="rect">
            <a:avLst/>
          </a:prstGeom>
          <a:noFill/>
          <a:ln/>
        </p:spPr>
        <p:txBody>
          <a:bodyPr wrap="square" lIns="0" tIns="0" rIns="0" bIns="0" rtlCol="0" anchor="t"/>
          <a:lstStyle/>
          <a:p>
            <a:pPr indent="0" marL="0">
              <a:buNone/>
            </a:pPr>
            <a:r>
              <a:rPr lang="en-US" sz="1400" dirty="0">
                <a:solidFill>
                  <a:schemeClr val="accent4"/>
                </a:solidFill>
              </a:rPr>
              <a:t>Errors that persist across frames are not corrected; per-worker tracking is future work.</a:t>
            </a:r>
            <a:endParaRPr lang="en-US" sz="1400" dirty="0"/>
          </a:p>
        </p:txBody>
      </p:sp>
      <p:sp>
        <p:nvSpPr>
          <p:cNvPr id="25" name="Slide Number Placeholder 0"/>
          <p:cNvSpPr>
            <a:spLocks noGrp="1"/>
          </p:cNvSpPr>
          <p:nvPr>
            <p:ph type="sldNum" sz="quarter" idx="4294967295"/>
          </p:nvPr>
        </p:nvSpPr>
        <p:spPr>
          <a:xfrm>
            <a:off x="11091672" y="640080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84048"/>
            <a:ext cx="11094415" cy="256032"/>
          </a:xfrm>
          <a:prstGeom prst="rect">
            <a:avLst/>
          </a:prstGeom>
          <a:noFill/>
          <a:ln/>
        </p:spPr>
        <p:txBody>
          <a:bodyPr wrap="square" lIns="0" tIns="0" rIns="0" bIns="0" rtlCol="0" anchor="t"/>
          <a:lstStyle/>
          <a:p>
            <a:pPr indent="0" marL="0">
              <a:buNone/>
            </a:pPr>
            <a:r>
              <a:rPr lang="en-US" sz="1100" b="1" spc="150" kern="0" dirty="0">
                <a:solidFill>
                  <a:schemeClr val="accent4"/>
                </a:solidFill>
              </a:rPr>
              <a:t>METHOD</a:t>
            </a:r>
            <a:endParaRPr lang="en-US" sz="1100" dirty="0"/>
          </a:p>
        </p:txBody>
      </p:sp>
      <p:sp>
        <p:nvSpPr>
          <p:cNvPr id="3" name="Text 0"/>
          <p:cNvSpPr/>
          <p:nvPr>
            <p:ph idx="100"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3600" b="1" dirty="0">
                <a:solidFill>
                  <a:schemeClr val="tx1"/>
                </a:solidFill>
              </a:rPr>
              <a:t>Detector: YOLO11m</a:t>
            </a:r>
            <a:endParaRPr lang="en-US" sz="3600" dirty="0"/>
          </a:p>
        </p:txBody>
      </p:sp>
      <p:sp>
        <p:nvSpPr>
          <p:cNvPr id="5" name="block"/>
          <p:cNvSpPr/>
          <p:nvPr/>
        </p:nvSpPr>
        <p:spPr>
          <a:xfrm>
            <a:off x="548640" y="1554480"/>
            <a:ext cx="2468880" cy="1417320"/>
          </a:xfrm>
          <a:prstGeom prst="rect">
            <a:avLst/>
          </a:prstGeom>
          <a:solidFill>
            <a:schemeClr val="bg2"/>
          </a:solidFill>
          <a:ln w="12700">
            <a:solidFill>
              <a:schemeClr val="bg2"/>
            </a:solidFill>
            <a:prstDash val="solid"/>
          </a:ln>
        </p:spPr>
      </p:sp>
      <p:sp>
        <p:nvSpPr>
          <p:cNvPr id="6" name="Text 3"/>
          <p:cNvSpPr txBox="1"/>
          <p:nvPr/>
        </p:nvSpPr>
        <p:spPr>
          <a:xfrm>
            <a:off x="749808" y="1719072"/>
            <a:ext cx="2066544" cy="365760"/>
          </a:xfrm>
          <a:prstGeom prst="rect">
            <a:avLst/>
          </a:prstGeom>
          <a:noFill/>
          <a:ln/>
        </p:spPr>
        <p:txBody>
          <a:bodyPr wrap="square" lIns="0" tIns="0" rIns="0" bIns="0" rtlCol="0" anchor="t"/>
          <a:lstStyle/>
          <a:p>
            <a:pPr indent="0" marL="0">
              <a:buNone/>
            </a:pPr>
            <a:r>
              <a:rPr lang="en-US" sz="1700" b="1" dirty="0">
                <a:solidFill>
                  <a:schemeClr val="tx1"/>
                </a:solidFill>
              </a:rPr>
              <a:t>Input</a:t>
            </a:r>
            <a:endParaRPr lang="en-US" sz="1700" dirty="0"/>
          </a:p>
        </p:txBody>
      </p:sp>
      <p:sp>
        <p:nvSpPr>
          <p:cNvPr id="7" name="Text 4"/>
          <p:cNvSpPr txBox="1"/>
          <p:nvPr/>
        </p:nvSpPr>
        <p:spPr>
          <a:xfrm>
            <a:off x="749808" y="2148840"/>
            <a:ext cx="2066544" cy="731520"/>
          </a:xfrm>
          <a:prstGeom prst="rect">
            <a:avLst/>
          </a:prstGeom>
          <a:noFill/>
          <a:ln/>
        </p:spPr>
        <p:txBody>
          <a:bodyPr wrap="square" lIns="0" tIns="0" rIns="0" bIns="0" rtlCol="0" anchor="t"/>
          <a:lstStyle/>
          <a:p>
            <a:pPr indent="0" marL="0">
              <a:buNone/>
            </a:pPr>
            <a:r>
              <a:rPr lang="en-US" sz="1300" dirty="0">
                <a:solidFill>
                  <a:schemeClr val="tx1"/>
                </a:solidFill>
              </a:rPr>
              <a:t>640 × 640 RGB image</a:t>
            </a:r>
            <a:endParaRPr lang="en-US" sz="1300" dirty="0"/>
          </a:p>
        </p:txBody>
      </p:sp>
      <p:sp>
        <p:nvSpPr>
          <p:cNvPr id="8" name="arrow"/>
          <p:cNvSpPr/>
          <p:nvPr/>
        </p:nvSpPr>
        <p:spPr>
          <a:xfrm>
            <a:off x="3063240" y="2267712"/>
            <a:ext cx="314858" cy="0"/>
          </a:xfrm>
          <a:prstGeom prst="line">
            <a:avLst/>
          </a:prstGeom>
          <a:noFill/>
          <a:ln w="19050">
            <a:solidFill>
              <a:schemeClr val="accent4"/>
            </a:solidFill>
            <a:prstDash val="solid"/>
            <a:tailEnd type="triangle"/>
          </a:ln>
        </p:spPr>
      </p:sp>
      <p:sp>
        <p:nvSpPr>
          <p:cNvPr id="9" name="block"/>
          <p:cNvSpPr/>
          <p:nvPr/>
        </p:nvSpPr>
        <p:spPr>
          <a:xfrm>
            <a:off x="3423818" y="1554480"/>
            <a:ext cx="2468880" cy="1417320"/>
          </a:xfrm>
          <a:prstGeom prst="rect">
            <a:avLst/>
          </a:prstGeom>
          <a:solidFill>
            <a:schemeClr val="tx1"/>
          </a:solidFill>
          <a:ln w="12700">
            <a:solidFill>
              <a:schemeClr val="tx1"/>
            </a:solidFill>
            <a:prstDash val="solid"/>
          </a:ln>
        </p:spPr>
      </p:sp>
      <p:sp>
        <p:nvSpPr>
          <p:cNvPr id="10" name="Text 7"/>
          <p:cNvSpPr txBox="1"/>
          <p:nvPr/>
        </p:nvSpPr>
        <p:spPr>
          <a:xfrm>
            <a:off x="3624986" y="1719072"/>
            <a:ext cx="2066544" cy="365760"/>
          </a:xfrm>
          <a:prstGeom prst="rect">
            <a:avLst/>
          </a:prstGeom>
          <a:noFill/>
          <a:ln/>
        </p:spPr>
        <p:txBody>
          <a:bodyPr wrap="square" lIns="0" tIns="0" rIns="0" bIns="0" rtlCol="0" anchor="t"/>
          <a:lstStyle/>
          <a:p>
            <a:pPr indent="0" marL="0">
              <a:buNone/>
            </a:pPr>
            <a:r>
              <a:rPr lang="en-US" sz="1700" b="1" dirty="0">
                <a:solidFill>
                  <a:schemeClr val="accent1"/>
                </a:solidFill>
              </a:rPr>
              <a:t>Backbone</a:t>
            </a:r>
            <a:endParaRPr lang="en-US" sz="1700" dirty="0"/>
          </a:p>
        </p:txBody>
      </p:sp>
      <p:sp>
        <p:nvSpPr>
          <p:cNvPr id="11" name="Text 8"/>
          <p:cNvSpPr txBox="1"/>
          <p:nvPr/>
        </p:nvSpPr>
        <p:spPr>
          <a:xfrm>
            <a:off x="3624986" y="2148840"/>
            <a:ext cx="2066544" cy="731520"/>
          </a:xfrm>
          <a:prstGeom prst="rect">
            <a:avLst/>
          </a:prstGeom>
          <a:noFill/>
          <a:ln/>
        </p:spPr>
        <p:txBody>
          <a:bodyPr wrap="square" lIns="0" tIns="0" rIns="0" bIns="0" rtlCol="0" anchor="t"/>
          <a:lstStyle/>
          <a:p>
            <a:pPr indent="0" marL="0">
              <a:buNone/>
            </a:pPr>
            <a:r>
              <a:rPr lang="en-US" sz="1300" dirty="0">
                <a:solidFill>
                  <a:schemeClr val="bg1"/>
                </a:solidFill>
              </a:rPr>
              <a:t>Conv, C3k2 blocks, SPPF [14], C2PSA attention</a:t>
            </a:r>
            <a:endParaRPr lang="en-US" sz="1300" dirty="0"/>
          </a:p>
        </p:txBody>
      </p:sp>
      <p:sp>
        <p:nvSpPr>
          <p:cNvPr id="12" name="arrow"/>
          <p:cNvSpPr/>
          <p:nvPr/>
        </p:nvSpPr>
        <p:spPr>
          <a:xfrm>
            <a:off x="5938418" y="2267712"/>
            <a:ext cx="314858" cy="0"/>
          </a:xfrm>
          <a:prstGeom prst="line">
            <a:avLst/>
          </a:prstGeom>
          <a:noFill/>
          <a:ln w="19050">
            <a:solidFill>
              <a:schemeClr val="accent4"/>
            </a:solidFill>
            <a:prstDash val="solid"/>
            <a:tailEnd type="triangle"/>
          </a:ln>
        </p:spPr>
      </p:sp>
      <p:sp>
        <p:nvSpPr>
          <p:cNvPr id="13" name="block"/>
          <p:cNvSpPr/>
          <p:nvPr/>
        </p:nvSpPr>
        <p:spPr>
          <a:xfrm>
            <a:off x="6298997" y="1554480"/>
            <a:ext cx="2468880" cy="1417320"/>
          </a:xfrm>
          <a:prstGeom prst="rect">
            <a:avLst/>
          </a:prstGeom>
          <a:solidFill>
            <a:schemeClr val="tx1"/>
          </a:solidFill>
          <a:ln w="12700">
            <a:solidFill>
              <a:schemeClr val="tx1"/>
            </a:solidFill>
            <a:prstDash val="solid"/>
          </a:ln>
        </p:spPr>
      </p:sp>
      <p:sp>
        <p:nvSpPr>
          <p:cNvPr id="14" name="Text 11"/>
          <p:cNvSpPr txBox="1"/>
          <p:nvPr/>
        </p:nvSpPr>
        <p:spPr>
          <a:xfrm>
            <a:off x="6500165" y="1719072"/>
            <a:ext cx="2066544" cy="365760"/>
          </a:xfrm>
          <a:prstGeom prst="rect">
            <a:avLst/>
          </a:prstGeom>
          <a:noFill/>
          <a:ln/>
        </p:spPr>
        <p:txBody>
          <a:bodyPr wrap="square" lIns="0" tIns="0" rIns="0" bIns="0" rtlCol="0" anchor="t"/>
          <a:lstStyle/>
          <a:p>
            <a:pPr indent="0" marL="0">
              <a:buNone/>
            </a:pPr>
            <a:r>
              <a:rPr lang="en-US" sz="1700" b="1" dirty="0">
                <a:solidFill>
                  <a:schemeClr val="accent1"/>
                </a:solidFill>
              </a:rPr>
              <a:t>Neck</a:t>
            </a:r>
            <a:endParaRPr lang="en-US" sz="1700" dirty="0"/>
          </a:p>
        </p:txBody>
      </p:sp>
      <p:sp>
        <p:nvSpPr>
          <p:cNvPr id="15" name="Text 12"/>
          <p:cNvSpPr txBox="1"/>
          <p:nvPr/>
        </p:nvSpPr>
        <p:spPr>
          <a:xfrm>
            <a:off x="6500165" y="2148840"/>
            <a:ext cx="2066544" cy="731520"/>
          </a:xfrm>
          <a:prstGeom prst="rect">
            <a:avLst/>
          </a:prstGeom>
          <a:noFill/>
          <a:ln/>
        </p:spPr>
        <p:txBody>
          <a:bodyPr wrap="square" lIns="0" tIns="0" rIns="0" bIns="0" rtlCol="0" anchor="t"/>
          <a:lstStyle/>
          <a:p>
            <a:pPr indent="0" marL="0">
              <a:buNone/>
            </a:pPr>
            <a:r>
              <a:rPr lang="en-US" sz="1300" dirty="0">
                <a:solidFill>
                  <a:schemeClr val="bg1"/>
                </a:solidFill>
              </a:rPr>
              <a:t>Top-down and bottom-up fusion [15, 16]</a:t>
            </a:r>
            <a:endParaRPr lang="en-US" sz="1300" dirty="0"/>
          </a:p>
        </p:txBody>
      </p:sp>
      <p:sp>
        <p:nvSpPr>
          <p:cNvPr id="16" name="arrow"/>
          <p:cNvSpPr/>
          <p:nvPr/>
        </p:nvSpPr>
        <p:spPr>
          <a:xfrm>
            <a:off x="8813597" y="2267712"/>
            <a:ext cx="314858" cy="0"/>
          </a:xfrm>
          <a:prstGeom prst="line">
            <a:avLst/>
          </a:prstGeom>
          <a:noFill/>
          <a:ln w="19050">
            <a:solidFill>
              <a:schemeClr val="accent4"/>
            </a:solidFill>
            <a:prstDash val="solid"/>
            <a:tailEnd type="triangle"/>
          </a:ln>
        </p:spPr>
      </p:sp>
      <p:sp>
        <p:nvSpPr>
          <p:cNvPr id="17" name="block"/>
          <p:cNvSpPr/>
          <p:nvPr/>
        </p:nvSpPr>
        <p:spPr>
          <a:xfrm>
            <a:off x="9174175" y="1554480"/>
            <a:ext cx="2468880" cy="1417320"/>
          </a:xfrm>
          <a:prstGeom prst="rect">
            <a:avLst/>
          </a:prstGeom>
          <a:solidFill>
            <a:schemeClr val="accent1"/>
          </a:solidFill>
          <a:ln w="12700">
            <a:solidFill>
              <a:schemeClr val="accent1"/>
            </a:solidFill>
            <a:prstDash val="solid"/>
          </a:ln>
        </p:spPr>
      </p:sp>
      <p:sp>
        <p:nvSpPr>
          <p:cNvPr id="18" name="Text 15"/>
          <p:cNvSpPr txBox="1"/>
          <p:nvPr/>
        </p:nvSpPr>
        <p:spPr>
          <a:xfrm>
            <a:off x="9375343" y="1719072"/>
            <a:ext cx="2066544" cy="365760"/>
          </a:xfrm>
          <a:prstGeom prst="rect">
            <a:avLst/>
          </a:prstGeom>
          <a:noFill/>
          <a:ln/>
        </p:spPr>
        <p:txBody>
          <a:bodyPr wrap="square" lIns="0" tIns="0" rIns="0" bIns="0" rtlCol="0" anchor="t"/>
          <a:lstStyle/>
          <a:p>
            <a:pPr indent="0" marL="0">
              <a:buNone/>
            </a:pPr>
            <a:r>
              <a:rPr lang="en-US" sz="1700" b="1" dirty="0">
                <a:solidFill>
                  <a:schemeClr val="tx1"/>
                </a:solidFill>
              </a:rPr>
              <a:t>Head</a:t>
            </a:r>
            <a:endParaRPr lang="en-US" sz="1700" dirty="0"/>
          </a:p>
        </p:txBody>
      </p:sp>
      <p:sp>
        <p:nvSpPr>
          <p:cNvPr id="19" name="Text 16"/>
          <p:cNvSpPr txBox="1"/>
          <p:nvPr/>
        </p:nvSpPr>
        <p:spPr>
          <a:xfrm>
            <a:off x="9375343" y="2148840"/>
            <a:ext cx="2066544" cy="731520"/>
          </a:xfrm>
          <a:prstGeom prst="rect">
            <a:avLst/>
          </a:prstGeom>
          <a:noFill/>
          <a:ln/>
        </p:spPr>
        <p:txBody>
          <a:bodyPr wrap="square" lIns="0" tIns="0" rIns="0" bIns="0" rtlCol="0" anchor="t"/>
          <a:lstStyle/>
          <a:p>
            <a:pPr indent="0" marL="0">
              <a:buNone/>
            </a:pPr>
            <a:r>
              <a:rPr lang="en-US" sz="1300" dirty="0">
                <a:solidFill>
                  <a:schemeClr val="tx1"/>
                </a:solidFill>
              </a:rPr>
              <a:t>Anchor-free, decoupled box and class at strides 8, 16, 32</a:t>
            </a:r>
            <a:endParaRPr lang="en-US" sz="1300" dirty="0"/>
          </a:p>
        </p:txBody>
      </p:sp>
      <p:sp>
        <p:nvSpPr>
          <p:cNvPr id="20" name="Text 17"/>
          <p:cNvSpPr txBox="1"/>
          <p:nvPr/>
        </p:nvSpPr>
        <p:spPr>
          <a:xfrm>
            <a:off x="548640" y="3383280"/>
            <a:ext cx="2567864" cy="566928"/>
          </a:xfrm>
          <a:prstGeom prst="rect">
            <a:avLst/>
          </a:prstGeom>
          <a:noFill/>
          <a:ln/>
        </p:spPr>
        <p:txBody>
          <a:bodyPr wrap="square" lIns="0" tIns="0" rIns="0" bIns="0" rtlCol="0" anchor="t"/>
          <a:lstStyle/>
          <a:p>
            <a:pPr indent="0" marL="0">
              <a:buNone/>
            </a:pPr>
            <a:r>
              <a:rPr lang="en-US" sz="3200" b="1" dirty="0">
                <a:solidFill>
                  <a:schemeClr val="accent5"/>
                </a:solidFill>
              </a:rPr>
              <a:t>20.06 M</a:t>
            </a:r>
            <a:endParaRPr lang="en-US" sz="3200" dirty="0"/>
          </a:p>
        </p:txBody>
      </p:sp>
      <p:sp>
        <p:nvSpPr>
          <p:cNvPr id="21" name="Text 18"/>
          <p:cNvSpPr txBox="1"/>
          <p:nvPr/>
        </p:nvSpPr>
        <p:spPr>
          <a:xfrm>
            <a:off x="548640" y="3968496"/>
            <a:ext cx="2567864" cy="457200"/>
          </a:xfrm>
          <a:prstGeom prst="rect">
            <a:avLst/>
          </a:prstGeom>
          <a:noFill/>
          <a:ln/>
        </p:spPr>
        <p:txBody>
          <a:bodyPr wrap="square" lIns="0" tIns="0" rIns="0" bIns="0" rtlCol="0" anchor="t"/>
          <a:lstStyle/>
          <a:p>
            <a:pPr indent="0" marL="0">
              <a:buNone/>
            </a:pPr>
            <a:r>
              <a:rPr lang="en-US" sz="1300" dirty="0">
                <a:solidFill>
                  <a:schemeClr val="accent4"/>
                </a:solidFill>
              </a:rPr>
              <a:t>parameters</a:t>
            </a:r>
            <a:endParaRPr lang="en-US" sz="1300" dirty="0"/>
          </a:p>
        </p:txBody>
      </p:sp>
      <p:sp>
        <p:nvSpPr>
          <p:cNvPr id="22" name="Text 19"/>
          <p:cNvSpPr txBox="1"/>
          <p:nvPr/>
        </p:nvSpPr>
        <p:spPr>
          <a:xfrm>
            <a:off x="3390824" y="3383280"/>
            <a:ext cx="2567864" cy="566928"/>
          </a:xfrm>
          <a:prstGeom prst="rect">
            <a:avLst/>
          </a:prstGeom>
          <a:noFill/>
          <a:ln/>
        </p:spPr>
        <p:txBody>
          <a:bodyPr wrap="square" lIns="0" tIns="0" rIns="0" bIns="0" rtlCol="0" anchor="t"/>
          <a:lstStyle/>
          <a:p>
            <a:pPr indent="0" marL="0">
              <a:buNone/>
            </a:pPr>
            <a:r>
              <a:rPr lang="en-US" sz="3200" b="1" dirty="0">
                <a:solidFill>
                  <a:schemeClr val="accent5"/>
                </a:solidFill>
              </a:rPr>
              <a:t>68.3</a:t>
            </a:r>
            <a:endParaRPr lang="en-US" sz="3200" dirty="0"/>
          </a:p>
        </p:txBody>
      </p:sp>
      <p:sp>
        <p:nvSpPr>
          <p:cNvPr id="23" name="Text 20"/>
          <p:cNvSpPr txBox="1"/>
          <p:nvPr/>
        </p:nvSpPr>
        <p:spPr>
          <a:xfrm>
            <a:off x="3390824" y="3968496"/>
            <a:ext cx="2567864" cy="457200"/>
          </a:xfrm>
          <a:prstGeom prst="rect">
            <a:avLst/>
          </a:prstGeom>
          <a:noFill/>
          <a:ln/>
        </p:spPr>
        <p:txBody>
          <a:bodyPr wrap="square" lIns="0" tIns="0" rIns="0" bIns="0" rtlCol="0" anchor="t"/>
          <a:lstStyle/>
          <a:p>
            <a:pPr indent="0" marL="0">
              <a:buNone/>
            </a:pPr>
            <a:r>
              <a:rPr lang="en-US" sz="1300" dirty="0">
                <a:solidFill>
                  <a:schemeClr val="accent4"/>
                </a:solidFill>
              </a:rPr>
              <a:t>GFLOPs at 640 px</a:t>
            </a:r>
            <a:endParaRPr lang="en-US" sz="1300" dirty="0"/>
          </a:p>
        </p:txBody>
      </p:sp>
      <p:sp>
        <p:nvSpPr>
          <p:cNvPr id="24" name="Text 21"/>
          <p:cNvSpPr txBox="1"/>
          <p:nvPr/>
        </p:nvSpPr>
        <p:spPr>
          <a:xfrm>
            <a:off x="6233008" y="3383280"/>
            <a:ext cx="2567864" cy="566928"/>
          </a:xfrm>
          <a:prstGeom prst="rect">
            <a:avLst/>
          </a:prstGeom>
          <a:noFill/>
          <a:ln/>
        </p:spPr>
        <p:txBody>
          <a:bodyPr wrap="square" lIns="0" tIns="0" rIns="0" bIns="0" rtlCol="0" anchor="t"/>
          <a:lstStyle/>
          <a:p>
            <a:pPr indent="0" marL="0">
              <a:buNone/>
            </a:pPr>
            <a:r>
              <a:rPr lang="en-US" sz="3200" b="1" dirty="0">
                <a:solidFill>
                  <a:schemeClr val="accent5"/>
                </a:solidFill>
              </a:rPr>
              <a:t>231</a:t>
            </a:r>
            <a:endParaRPr lang="en-US" sz="3200" dirty="0"/>
          </a:p>
        </p:txBody>
      </p:sp>
      <p:sp>
        <p:nvSpPr>
          <p:cNvPr id="25" name="Text 22"/>
          <p:cNvSpPr txBox="1"/>
          <p:nvPr/>
        </p:nvSpPr>
        <p:spPr>
          <a:xfrm>
            <a:off x="6233008" y="3968496"/>
            <a:ext cx="2567864" cy="457200"/>
          </a:xfrm>
          <a:prstGeom prst="rect">
            <a:avLst/>
          </a:prstGeom>
          <a:noFill/>
          <a:ln/>
        </p:spPr>
        <p:txBody>
          <a:bodyPr wrap="square" lIns="0" tIns="0" rIns="0" bIns="0" rtlCol="0" anchor="t"/>
          <a:lstStyle/>
          <a:p>
            <a:pPr indent="0" marL="0">
              <a:buNone/>
            </a:pPr>
            <a:r>
              <a:rPr lang="en-US" sz="1300" dirty="0">
                <a:solidFill>
                  <a:schemeClr val="accent4"/>
                </a:solidFill>
              </a:rPr>
              <a:t>layers (125 after fusion)</a:t>
            </a:r>
            <a:endParaRPr lang="en-US" sz="1300" dirty="0"/>
          </a:p>
        </p:txBody>
      </p:sp>
      <p:sp>
        <p:nvSpPr>
          <p:cNvPr id="26" name="Text 23"/>
          <p:cNvSpPr txBox="1"/>
          <p:nvPr/>
        </p:nvSpPr>
        <p:spPr>
          <a:xfrm>
            <a:off x="9075191" y="3383280"/>
            <a:ext cx="2567864" cy="566928"/>
          </a:xfrm>
          <a:prstGeom prst="rect">
            <a:avLst/>
          </a:prstGeom>
          <a:noFill/>
          <a:ln/>
        </p:spPr>
        <p:txBody>
          <a:bodyPr wrap="square" lIns="0" tIns="0" rIns="0" bIns="0" rtlCol="0" anchor="t"/>
          <a:lstStyle/>
          <a:p>
            <a:pPr indent="0" marL="0">
              <a:buNone/>
            </a:pPr>
            <a:r>
              <a:rPr lang="en-US" sz="3200" b="1" dirty="0">
                <a:solidFill>
                  <a:schemeClr val="accent5"/>
                </a:solidFill>
              </a:rPr>
              <a:t>649 / 649</a:t>
            </a:r>
            <a:endParaRPr lang="en-US" sz="3200" dirty="0"/>
          </a:p>
        </p:txBody>
      </p:sp>
      <p:sp>
        <p:nvSpPr>
          <p:cNvPr id="27" name="Text 24"/>
          <p:cNvSpPr txBox="1"/>
          <p:nvPr/>
        </p:nvSpPr>
        <p:spPr>
          <a:xfrm>
            <a:off x="9075191" y="3968496"/>
            <a:ext cx="2567864" cy="457200"/>
          </a:xfrm>
          <a:prstGeom prst="rect">
            <a:avLst/>
          </a:prstGeom>
          <a:noFill/>
          <a:ln/>
        </p:spPr>
        <p:txBody>
          <a:bodyPr wrap="square" lIns="0" tIns="0" rIns="0" bIns="0" rtlCol="0" anchor="t"/>
          <a:lstStyle/>
          <a:p>
            <a:pPr indent="0" marL="0">
              <a:buNone/>
            </a:pPr>
            <a:r>
              <a:rPr lang="en-US" sz="1300" dirty="0">
                <a:solidFill>
                  <a:schemeClr val="accent4"/>
                </a:solidFill>
              </a:rPr>
              <a:t>pretrained tensors transferred</a:t>
            </a:r>
            <a:endParaRPr lang="en-US" sz="1300" dirty="0"/>
          </a:p>
        </p:txBody>
      </p:sp>
      <p:sp>
        <p:nvSpPr>
          <p:cNvPr id="28" name="panel"/>
          <p:cNvSpPr/>
          <p:nvPr/>
        </p:nvSpPr>
        <p:spPr>
          <a:xfrm>
            <a:off x="548640" y="4572000"/>
            <a:ext cx="11094415" cy="1325880"/>
          </a:xfrm>
          <a:prstGeom prst="rect">
            <a:avLst/>
          </a:prstGeom>
          <a:solidFill>
            <a:schemeClr val="bg2"/>
          </a:solidFill>
          <a:ln w="12700">
            <a:solidFill>
              <a:schemeClr val="bg2"/>
            </a:solidFill>
            <a:prstDash val="solid"/>
          </a:ln>
        </p:spPr>
      </p:sp>
      <p:sp>
        <p:nvSpPr>
          <p:cNvPr id="29" name="Text 26"/>
          <p:cNvSpPr txBox="1"/>
          <p:nvPr/>
        </p:nvSpPr>
        <p:spPr>
          <a:xfrm>
            <a:off x="822960" y="4709160"/>
            <a:ext cx="10545775" cy="411480"/>
          </a:xfrm>
          <a:prstGeom prst="rect">
            <a:avLst/>
          </a:prstGeom>
          <a:noFill/>
          <a:ln/>
        </p:spPr>
        <p:txBody>
          <a:bodyPr wrap="square" lIns="0" tIns="0" rIns="0" bIns="0" rtlCol="0" anchor="ctr"/>
          <a:lstStyle/>
          <a:p>
            <a:pPr indent="0" marL="0">
              <a:buNone/>
            </a:pPr>
            <a:r>
              <a:rPr lang="en-US" sz="1800" b="1" dirty="0">
                <a:solidFill>
                  <a:schemeClr val="accent4"/>
                </a:solidFill>
              </a:rPr>
              <a:t>Training objective   </a:t>
            </a:r>
            <a:pPr indent="0" marL="0">
              <a:buNone/>
            </a:pPr>
            <a:r>
              <a:rPr lang="en-US" sz="1800" b="1" dirty="0">
                <a:solidFill>
                  <a:schemeClr val="tx1"/>
                </a:solidFill>
              </a:rPr>
              <a:t>L = 7.5 · L_box + 0.5 · L_cls + 1.5 · L_dfl</a:t>
            </a:r>
            <a:endParaRPr lang="en-US" sz="1800" dirty="0"/>
          </a:p>
        </p:txBody>
      </p:sp>
      <p:sp>
        <p:nvSpPr>
          <p:cNvPr id="30" name="Text 27"/>
          <p:cNvSpPr txBox="1"/>
          <p:nvPr/>
        </p:nvSpPr>
        <p:spPr>
          <a:xfrm>
            <a:off x="822960" y="5166360"/>
            <a:ext cx="10545775" cy="640080"/>
          </a:xfrm>
          <a:prstGeom prst="rect">
            <a:avLst/>
          </a:prstGeom>
          <a:noFill/>
          <a:ln/>
        </p:spPr>
        <p:txBody>
          <a:bodyPr wrap="square" lIns="0" tIns="0" rIns="0" bIns="0" rtlCol="0" anchor="t"/>
          <a:lstStyle/>
          <a:p>
            <a:pPr indent="0" marL="0">
              <a:buNone/>
            </a:pPr>
            <a:r>
              <a:rPr lang="en-US" sz="1300" dirty="0">
                <a:solidFill>
                  <a:schemeClr val="accent4"/>
                </a:solidFill>
              </a:rPr>
              <a:t>Box regression, classification and distribution focal loss. Initialised from COCO [13]; the head was resized from 80 to 10 classes with its Person row taken from COCO. Ultralytics YOLO11 [12].</a:t>
            </a:r>
            <a:endParaRPr lang="en-US" sz="1300" dirty="0"/>
          </a:p>
        </p:txBody>
      </p:sp>
      <p:sp>
        <p:nvSpPr>
          <p:cNvPr id="25" name="Slide Number Placeholder 0"/>
          <p:cNvSpPr>
            <a:spLocks noGrp="1"/>
          </p:cNvSpPr>
          <p:nvPr>
            <p:ph type="sldNum" sz="quarter" idx="4294967295"/>
          </p:nvPr>
        </p:nvSpPr>
        <p:spPr>
          <a:xfrm>
            <a:off x="11091672" y="640080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84048"/>
            <a:ext cx="11094415" cy="256032"/>
          </a:xfrm>
          <a:prstGeom prst="rect">
            <a:avLst/>
          </a:prstGeom>
          <a:noFill/>
          <a:ln/>
        </p:spPr>
        <p:txBody>
          <a:bodyPr wrap="square" lIns="0" tIns="0" rIns="0" bIns="0" rtlCol="0" anchor="t"/>
          <a:lstStyle/>
          <a:p>
            <a:pPr indent="0" marL="0">
              <a:buNone/>
            </a:pPr>
            <a:r>
              <a:rPr lang="en-US" sz="1100" b="1" spc="150" kern="0" dirty="0">
                <a:solidFill>
                  <a:schemeClr val="accent4"/>
                </a:solidFill>
              </a:rPr>
              <a:t>EXPERIMENTAL SETUP</a:t>
            </a:r>
            <a:endParaRPr lang="en-US" sz="1100" dirty="0"/>
          </a:p>
        </p:txBody>
      </p:sp>
      <p:sp>
        <p:nvSpPr>
          <p:cNvPr id="3" name="Text 0"/>
          <p:cNvSpPr/>
          <p:nvPr>
            <p:ph idx="100"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3600" b="1" dirty="0">
                <a:solidFill>
                  <a:schemeClr val="tx1"/>
                </a:solidFill>
              </a:rPr>
              <a:t>Dataset and stratified split</a:t>
            </a:r>
            <a:endParaRPr lang="en-US" sz="36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4297680" cy="914400"/>
        </p:xfrm>
        <a:graphic>
          <a:graphicData uri="http://schemas.openxmlformats.org/drawingml/2006/table">
            <a:tbl>
              <a:tblPr/>
              <a:tblGrid>
                <a:gridCol w="1463040"/>
                <a:gridCol w="914400"/>
                <a:gridCol w="914400"/>
                <a:gridCol w="1005840"/>
              </a:tblGrid>
              <a:tr h="384048">
                <a:tc>
                  <a:txBody>
                    <a:bodyPr/>
                    <a:lstStyle/>
                    <a:p>
                      <a:pPr algn="l" indent="0" marL="0">
                        <a:buNone/>
                      </a:pPr>
                      <a:r>
                        <a:rPr lang="en-US" sz="1400" b="1" dirty="0">
                          <a:solidFill>
                            <a:schemeClr val="bg1"/>
                          </a:solidFill>
                        </a:rPr>
                        <a:t>Split</a:t>
                      </a:r>
                      <a:endParaRPr lang="en-US" sz="1400" dirty="0"/>
                    </a:p>
                  </a:txBody>
                  <a:tcPr marL="76200" marR="76200" marT="25400" marB="25400" anchor="ctr">
                    <a:lnL w="0" cap="flat" cmpd="sng" algn="ctr">
                      <a:noFill/>
                    </a:lnL>
                    <a:lnR w="0" cap="flat" cmpd="sng" algn="ctr">
                      <a:noFill/>
                    </a:lnR>
                    <a:lnT w="0" cap="flat" cmpd="sng" algn="ctr">
                      <a:noFill/>
                    </a:lnT>
                    <a:lnB w="0" cap="flat" cmpd="sng" algn="ctr">
                      <a:noFill/>
                    </a:lnB>
                    <a:solidFill>
                      <a:schemeClr val="tx1"/>
                    </a:solidFill>
                  </a:tcPr>
                </a:tc>
                <a:tc>
                  <a:txBody>
                    <a:bodyPr/>
                    <a:lstStyle/>
                    <a:p>
                      <a:pPr algn="r" indent="0" marL="0">
                        <a:buNone/>
                      </a:pPr>
                      <a:r>
                        <a:rPr lang="en-US" sz="1400" b="1" dirty="0">
                          <a:solidFill>
                            <a:schemeClr val="bg1"/>
                          </a:solidFill>
                        </a:rPr>
                        <a:t>Images</a:t>
                      </a:r>
                      <a:endParaRPr lang="en-US" sz="1400" dirty="0"/>
                    </a:p>
                  </a:txBody>
                  <a:tcPr marL="76200" marR="76200" marT="25400" marB="25400" anchor="ctr">
                    <a:lnL w="0" cap="flat" cmpd="sng" algn="ctr">
                      <a:noFill/>
                    </a:lnL>
                    <a:lnR w="0" cap="flat" cmpd="sng" algn="ctr">
                      <a:noFill/>
                    </a:lnR>
                    <a:lnT w="0" cap="flat" cmpd="sng" algn="ctr">
                      <a:noFill/>
                    </a:lnT>
                    <a:lnB w="0" cap="flat" cmpd="sng" algn="ctr">
                      <a:noFill/>
                    </a:lnB>
                    <a:solidFill>
                      <a:schemeClr val="tx1"/>
                    </a:solidFill>
                  </a:tcPr>
                </a:tc>
                <a:tc>
                  <a:txBody>
                    <a:bodyPr/>
                    <a:lstStyle/>
                    <a:p>
                      <a:pPr algn="r" indent="0" marL="0">
                        <a:buNone/>
                      </a:pPr>
                      <a:r>
                        <a:rPr lang="en-US" sz="1400" b="1" dirty="0">
                          <a:solidFill>
                            <a:schemeClr val="bg1"/>
                          </a:solidFill>
                        </a:rPr>
                        <a:t>Share</a:t>
                      </a:r>
                      <a:endParaRPr lang="en-US" sz="1400" dirty="0"/>
                    </a:p>
                  </a:txBody>
                  <a:tcPr marL="76200" marR="76200" marT="25400" marB="25400" anchor="ctr">
                    <a:lnL w="0" cap="flat" cmpd="sng" algn="ctr">
                      <a:noFill/>
                    </a:lnL>
                    <a:lnR w="0" cap="flat" cmpd="sng" algn="ctr">
                      <a:noFill/>
                    </a:lnR>
                    <a:lnT w="0" cap="flat" cmpd="sng" algn="ctr">
                      <a:noFill/>
                    </a:lnT>
                    <a:lnB w="0" cap="flat" cmpd="sng" algn="ctr">
                      <a:noFill/>
                    </a:lnB>
                    <a:solidFill>
                      <a:schemeClr val="tx1"/>
                    </a:solidFill>
                  </a:tcPr>
                </a:tc>
                <a:tc>
                  <a:txBody>
                    <a:bodyPr/>
                    <a:lstStyle/>
                    <a:p>
                      <a:pPr algn="r" indent="0" marL="0">
                        <a:buNone/>
                      </a:pPr>
                      <a:r>
                        <a:rPr lang="en-US" sz="1400" b="1" dirty="0">
                          <a:solidFill>
                            <a:schemeClr val="bg1"/>
                          </a:solidFill>
                        </a:rPr>
                        <a:t>Boxes</a:t>
                      </a:r>
                      <a:endParaRPr lang="en-US" sz="1400" dirty="0"/>
                    </a:p>
                  </a:txBody>
                  <a:tcPr marL="76200" marR="76200" marT="25400" marB="25400" anchor="ctr">
                    <a:lnL w="0" cap="flat" cmpd="sng" algn="ctr">
                      <a:noFill/>
                    </a:lnL>
                    <a:lnR w="0" cap="flat" cmpd="sng" algn="ctr">
                      <a:noFill/>
                    </a:lnR>
                    <a:lnT w="0" cap="flat" cmpd="sng" algn="ctr">
                      <a:noFill/>
                    </a:lnT>
                    <a:lnB w="0" cap="flat" cmpd="sng" algn="ctr">
                      <a:noFill/>
                    </a:lnB>
                    <a:solidFill>
                      <a:schemeClr val="tx1"/>
                    </a:solidFill>
                  </a:tcPr>
                </a:tc>
              </a:tr>
              <a:tr h="384048">
                <a:tc>
                  <a:txBody>
                    <a:bodyPr/>
                    <a:lstStyle/>
                    <a:p>
                      <a:pPr indent="0" marL="0">
                        <a:buNone/>
                      </a:pPr>
                      <a:r>
                        <a:rPr lang="en-US" sz="1400" dirty="0">
                          <a:solidFill>
                            <a:schemeClr val="tx1"/>
                          </a:solidFill>
                        </a:rPr>
                        <a:t>Train</a:t>
                      </a:r>
                      <a:endParaRPr lang="en-US" sz="14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algn="r" indent="0" marL="0">
                        <a:buNone/>
                      </a:pPr>
                      <a:r>
                        <a:rPr lang="en-US" sz="1400" dirty="0">
                          <a:solidFill>
                            <a:schemeClr val="tx1"/>
                          </a:solidFill>
                        </a:rPr>
                        <a:t>2,240</a:t>
                      </a:r>
                      <a:endParaRPr lang="en-US" sz="14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algn="r" indent="0" marL="0">
                        <a:buNone/>
                      </a:pPr>
                      <a:r>
                        <a:rPr lang="en-US" sz="1400" dirty="0">
                          <a:solidFill>
                            <a:schemeClr val="tx1"/>
                          </a:solidFill>
                        </a:rPr>
                        <a:t>80%</a:t>
                      </a:r>
                      <a:endParaRPr lang="en-US" sz="14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algn="r" indent="0" marL="0">
                        <a:buNone/>
                      </a:pPr>
                      <a:r>
                        <a:rPr lang="en-US" sz="1400" dirty="0">
                          <a:solidFill>
                            <a:schemeClr val="tx1"/>
                          </a:solidFill>
                        </a:rPr>
                        <a:t>30,684</a:t>
                      </a:r>
                      <a:endParaRPr lang="en-US" sz="14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r>
              <a:tr h="384048">
                <a:tc>
                  <a:txBody>
                    <a:bodyPr/>
                    <a:lstStyle/>
                    <a:p>
                      <a:pPr indent="0" marL="0">
                        <a:buNone/>
                      </a:pPr>
                      <a:r>
                        <a:rPr lang="en-US" sz="1400" dirty="0">
                          <a:solidFill>
                            <a:schemeClr val="tx1"/>
                          </a:solidFill>
                        </a:rPr>
                        <a:t>Validation</a:t>
                      </a:r>
                      <a:endParaRPr lang="en-US" sz="14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algn="r" indent="0" marL="0">
                        <a:buNone/>
                      </a:pPr>
                      <a:r>
                        <a:rPr lang="en-US" sz="1400" dirty="0">
                          <a:solidFill>
                            <a:schemeClr val="tx1"/>
                          </a:solidFill>
                        </a:rPr>
                        <a:t>280</a:t>
                      </a:r>
                      <a:endParaRPr lang="en-US" sz="14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algn="r" indent="0" marL="0">
                        <a:buNone/>
                      </a:pPr>
                      <a:r>
                        <a:rPr lang="en-US" sz="1400" dirty="0">
                          <a:solidFill>
                            <a:schemeClr val="tx1"/>
                          </a:solidFill>
                        </a:rPr>
                        <a:t>10%</a:t>
                      </a:r>
                      <a:endParaRPr lang="en-US" sz="14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algn="r" indent="0" marL="0">
                        <a:buNone/>
                      </a:pPr>
                      <a:r>
                        <a:rPr lang="en-US" sz="1400" dirty="0">
                          <a:solidFill>
                            <a:schemeClr val="tx1"/>
                          </a:solidFill>
                        </a:rPr>
                        <a:t>3,554</a:t>
                      </a:r>
                      <a:endParaRPr lang="en-US" sz="14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r>
              <a:tr h="384048">
                <a:tc>
                  <a:txBody>
                    <a:bodyPr/>
                    <a:lstStyle/>
                    <a:p>
                      <a:pPr indent="0" marL="0">
                        <a:buNone/>
                      </a:pPr>
                      <a:r>
                        <a:rPr lang="en-US" sz="1400" dirty="0">
                          <a:solidFill>
                            <a:schemeClr val="tx1"/>
                          </a:solidFill>
                        </a:rPr>
                        <a:t>Test</a:t>
                      </a:r>
                      <a:endParaRPr lang="en-US" sz="14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algn="r" indent="0" marL="0">
                        <a:buNone/>
                      </a:pPr>
                      <a:r>
                        <a:rPr lang="en-US" sz="1400" dirty="0">
                          <a:solidFill>
                            <a:schemeClr val="tx1"/>
                          </a:solidFill>
                        </a:rPr>
                        <a:t>281</a:t>
                      </a:r>
                      <a:endParaRPr lang="en-US" sz="14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algn="r" indent="0" marL="0">
                        <a:buNone/>
                      </a:pPr>
                      <a:r>
                        <a:rPr lang="en-US" sz="1400" dirty="0">
                          <a:solidFill>
                            <a:schemeClr val="tx1"/>
                          </a:solidFill>
                        </a:rPr>
                        <a:t>10%</a:t>
                      </a:r>
                      <a:endParaRPr lang="en-US" sz="14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algn="r" indent="0" marL="0">
                        <a:buNone/>
                      </a:pPr>
                      <a:r>
                        <a:rPr lang="en-US" sz="1400" dirty="0">
                          <a:solidFill>
                            <a:schemeClr val="tx1"/>
                          </a:solidFill>
                        </a:rPr>
                        <a:t>4,114</a:t>
                      </a:r>
                      <a:endParaRPr lang="en-US" sz="14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r>
              <a:tr h="384048">
                <a:tc>
                  <a:txBody>
                    <a:bodyPr/>
                    <a:lstStyle/>
                    <a:p>
                      <a:pPr indent="0" marL="0">
                        <a:buNone/>
                      </a:pPr>
                      <a:r>
                        <a:rPr lang="en-US" sz="1400" b="1" dirty="0">
                          <a:solidFill>
                            <a:schemeClr val="tx1"/>
                          </a:solidFill>
                        </a:rPr>
                        <a:t>Total</a:t>
                      </a:r>
                      <a:endParaRPr lang="en-US" sz="14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algn="r" indent="0" marL="0">
                        <a:buNone/>
                      </a:pPr>
                      <a:r>
                        <a:rPr lang="en-US" sz="1400" b="1" dirty="0">
                          <a:solidFill>
                            <a:schemeClr val="tx1"/>
                          </a:solidFill>
                        </a:rPr>
                        <a:t>2,801</a:t>
                      </a:r>
                      <a:endParaRPr lang="en-US" sz="14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algn="r" indent="0" marL="0">
                        <a:buNone/>
                      </a:pPr>
                      <a:r>
                        <a:rPr lang="en-US" sz="1400" b="1" dirty="0">
                          <a:solidFill>
                            <a:schemeClr val="tx1"/>
                          </a:solidFill>
                        </a:rPr>
                        <a:t>100%</a:t>
                      </a:r>
                      <a:endParaRPr lang="en-US" sz="14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algn="r" indent="0" marL="0">
                        <a:buNone/>
                      </a:pPr>
                      <a:r>
                        <a:rPr lang="en-US" sz="1400" b="1" dirty="0">
                          <a:solidFill>
                            <a:schemeClr val="tx1"/>
                          </a:solidFill>
                        </a:rPr>
                        <a:t>38,352</a:t>
                      </a:r>
                      <a:endParaRPr lang="en-US" sz="14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r>
            </a:tbl>
          </a:graphicData>
        </a:graphic>
      </p:graphicFrame>
      <p:sp>
        <p:nvSpPr>
          <p:cNvPr id="6" name="Text 2"/>
          <p:cNvSpPr txBox="1"/>
          <p:nvPr/>
        </p:nvSpPr>
        <p:spPr>
          <a:xfrm>
            <a:off x="548640" y="3840480"/>
            <a:ext cx="4297680" cy="365760"/>
          </a:xfrm>
          <a:prstGeom prst="rect">
            <a:avLst/>
          </a:prstGeom>
          <a:noFill/>
          <a:ln/>
        </p:spPr>
        <p:txBody>
          <a:bodyPr wrap="square" lIns="0" tIns="0" rIns="0" bIns="0" rtlCol="0" anchor="t"/>
          <a:lstStyle/>
          <a:p>
            <a:pPr indent="0" marL="0">
              <a:buNone/>
            </a:pPr>
            <a:r>
              <a:rPr lang="en-US" sz="1800" b="1" dirty="0">
                <a:solidFill>
                  <a:schemeClr val="tx1"/>
                </a:solidFill>
              </a:rPr>
              <a:t>How the split was made</a:t>
            </a:r>
            <a:endParaRPr lang="en-US" sz="1800" dirty="0"/>
          </a:p>
        </p:txBody>
      </p:sp>
      <p:sp>
        <p:nvSpPr>
          <p:cNvPr id="7" name="Text 3"/>
          <p:cNvSpPr txBox="1"/>
          <p:nvPr/>
        </p:nvSpPr>
        <p:spPr>
          <a:xfrm>
            <a:off x="548640" y="4297680"/>
            <a:ext cx="274320" cy="292608"/>
          </a:xfrm>
          <a:prstGeom prst="rect">
            <a:avLst/>
          </a:prstGeom>
          <a:noFill/>
          <a:ln/>
        </p:spPr>
        <p:txBody>
          <a:bodyPr wrap="square" lIns="0" tIns="0" rIns="0" bIns="0" rtlCol="0" anchor="t"/>
          <a:lstStyle/>
          <a:p>
            <a:pPr indent="0" marL="0">
              <a:buNone/>
            </a:pPr>
            <a:r>
              <a:rPr lang="en-US" sz="1400" b="1" dirty="0">
                <a:solidFill>
                  <a:schemeClr val="accent5"/>
                </a:solidFill>
              </a:rPr>
              <a:t>1</a:t>
            </a:r>
            <a:endParaRPr lang="en-US" sz="1400" dirty="0"/>
          </a:p>
        </p:txBody>
      </p:sp>
      <p:sp>
        <p:nvSpPr>
          <p:cNvPr id="8" name="Text 4"/>
          <p:cNvSpPr txBox="1"/>
          <p:nvPr/>
        </p:nvSpPr>
        <p:spPr>
          <a:xfrm>
            <a:off x="868680" y="4297680"/>
            <a:ext cx="3977640" cy="292608"/>
          </a:xfrm>
          <a:prstGeom prst="rect">
            <a:avLst/>
          </a:prstGeom>
          <a:noFill/>
          <a:ln/>
        </p:spPr>
        <p:txBody>
          <a:bodyPr wrap="square" lIns="0" tIns="0" rIns="0" bIns="0" rtlCol="0" anchor="t"/>
          <a:lstStyle/>
          <a:p>
            <a:pPr indent="0" marL="0">
              <a:buNone/>
            </a:pPr>
            <a:r>
              <a:rPr lang="en-US" sz="1400" dirty="0">
                <a:solidFill>
                  <a:schemeClr val="tx1"/>
                </a:solidFill>
              </a:rPr>
              <a:t>Pool the original train, valid and test folders</a:t>
            </a:r>
            <a:endParaRPr lang="en-US" sz="1400" dirty="0"/>
          </a:p>
        </p:txBody>
      </p:sp>
      <p:sp>
        <p:nvSpPr>
          <p:cNvPr id="9" name="Text 5"/>
          <p:cNvSpPr txBox="1"/>
          <p:nvPr/>
        </p:nvSpPr>
        <p:spPr>
          <a:xfrm>
            <a:off x="548640" y="4663440"/>
            <a:ext cx="274320" cy="292608"/>
          </a:xfrm>
          <a:prstGeom prst="rect">
            <a:avLst/>
          </a:prstGeom>
          <a:noFill/>
          <a:ln/>
        </p:spPr>
        <p:txBody>
          <a:bodyPr wrap="square" lIns="0" tIns="0" rIns="0" bIns="0" rtlCol="0" anchor="t"/>
          <a:lstStyle/>
          <a:p>
            <a:pPr indent="0" marL="0">
              <a:buNone/>
            </a:pPr>
            <a:r>
              <a:rPr lang="en-US" sz="1400" b="1" dirty="0">
                <a:solidFill>
                  <a:schemeClr val="accent5"/>
                </a:solidFill>
              </a:rPr>
              <a:t>2</a:t>
            </a:r>
            <a:endParaRPr lang="en-US" sz="1400" dirty="0"/>
          </a:p>
        </p:txBody>
      </p:sp>
      <p:sp>
        <p:nvSpPr>
          <p:cNvPr id="10" name="Text 6"/>
          <p:cNvSpPr txBox="1"/>
          <p:nvPr/>
        </p:nvSpPr>
        <p:spPr>
          <a:xfrm>
            <a:off x="868680" y="4663440"/>
            <a:ext cx="3977640" cy="292608"/>
          </a:xfrm>
          <a:prstGeom prst="rect">
            <a:avLst/>
          </a:prstGeom>
          <a:noFill/>
          <a:ln/>
        </p:spPr>
        <p:txBody>
          <a:bodyPr wrap="square" lIns="0" tIns="0" rIns="0" bIns="0" rtlCol="0" anchor="t"/>
          <a:lstStyle/>
          <a:p>
            <a:pPr indent="0" marL="0">
              <a:buNone/>
            </a:pPr>
            <a:r>
              <a:rPr lang="en-US" sz="1400" dirty="0">
                <a:solidFill>
                  <a:schemeClr val="tx1"/>
                </a:solidFill>
              </a:rPr>
              <a:t>Label each image by its dominant class</a:t>
            </a:r>
            <a:endParaRPr lang="en-US" sz="1400" dirty="0"/>
          </a:p>
        </p:txBody>
      </p:sp>
      <p:sp>
        <p:nvSpPr>
          <p:cNvPr id="11" name="Text 7"/>
          <p:cNvSpPr txBox="1"/>
          <p:nvPr/>
        </p:nvSpPr>
        <p:spPr>
          <a:xfrm>
            <a:off x="548640" y="5029200"/>
            <a:ext cx="274320" cy="292608"/>
          </a:xfrm>
          <a:prstGeom prst="rect">
            <a:avLst/>
          </a:prstGeom>
          <a:noFill/>
          <a:ln/>
        </p:spPr>
        <p:txBody>
          <a:bodyPr wrap="square" lIns="0" tIns="0" rIns="0" bIns="0" rtlCol="0" anchor="t"/>
          <a:lstStyle/>
          <a:p>
            <a:pPr indent="0" marL="0">
              <a:buNone/>
            </a:pPr>
            <a:r>
              <a:rPr lang="en-US" sz="1400" b="1" dirty="0">
                <a:solidFill>
                  <a:schemeClr val="accent5"/>
                </a:solidFill>
              </a:rPr>
              <a:t>3</a:t>
            </a:r>
            <a:endParaRPr lang="en-US" sz="1400" dirty="0"/>
          </a:p>
        </p:txBody>
      </p:sp>
      <p:sp>
        <p:nvSpPr>
          <p:cNvPr id="12" name="Text 8"/>
          <p:cNvSpPr txBox="1"/>
          <p:nvPr/>
        </p:nvSpPr>
        <p:spPr>
          <a:xfrm>
            <a:off x="868680" y="5029200"/>
            <a:ext cx="3977640" cy="292608"/>
          </a:xfrm>
          <a:prstGeom prst="rect">
            <a:avLst/>
          </a:prstGeom>
          <a:noFill/>
          <a:ln/>
        </p:spPr>
        <p:txBody>
          <a:bodyPr wrap="square" lIns="0" tIns="0" rIns="0" bIns="0" rtlCol="0" anchor="t"/>
          <a:lstStyle/>
          <a:p>
            <a:pPr indent="0" marL="0">
              <a:buNone/>
            </a:pPr>
            <a:r>
              <a:rPr lang="en-US" sz="1400" dirty="0">
                <a:solidFill>
                  <a:schemeClr val="tx1"/>
                </a:solidFill>
              </a:rPr>
              <a:t>Merge groups under five images into background</a:t>
            </a:r>
            <a:endParaRPr lang="en-US" sz="1400" dirty="0"/>
          </a:p>
        </p:txBody>
      </p:sp>
      <p:sp>
        <p:nvSpPr>
          <p:cNvPr id="13" name="Text 9"/>
          <p:cNvSpPr txBox="1"/>
          <p:nvPr/>
        </p:nvSpPr>
        <p:spPr>
          <a:xfrm>
            <a:off x="548640" y="5394960"/>
            <a:ext cx="274320" cy="292608"/>
          </a:xfrm>
          <a:prstGeom prst="rect">
            <a:avLst/>
          </a:prstGeom>
          <a:noFill/>
          <a:ln/>
        </p:spPr>
        <p:txBody>
          <a:bodyPr wrap="square" lIns="0" tIns="0" rIns="0" bIns="0" rtlCol="0" anchor="t"/>
          <a:lstStyle/>
          <a:p>
            <a:pPr indent="0" marL="0">
              <a:buNone/>
            </a:pPr>
            <a:r>
              <a:rPr lang="en-US" sz="1400" b="1" dirty="0">
                <a:solidFill>
                  <a:schemeClr val="accent5"/>
                </a:solidFill>
              </a:rPr>
              <a:t>4</a:t>
            </a:r>
            <a:endParaRPr lang="en-US" sz="1400" dirty="0"/>
          </a:p>
        </p:txBody>
      </p:sp>
      <p:sp>
        <p:nvSpPr>
          <p:cNvPr id="14" name="Text 10"/>
          <p:cNvSpPr txBox="1"/>
          <p:nvPr/>
        </p:nvSpPr>
        <p:spPr>
          <a:xfrm>
            <a:off x="868680" y="5394960"/>
            <a:ext cx="3977640" cy="292608"/>
          </a:xfrm>
          <a:prstGeom prst="rect">
            <a:avLst/>
          </a:prstGeom>
          <a:noFill/>
          <a:ln/>
        </p:spPr>
        <p:txBody>
          <a:bodyPr wrap="square" lIns="0" tIns="0" rIns="0" bIns="0" rtlCol="0" anchor="t"/>
          <a:lstStyle/>
          <a:p>
            <a:pPr indent="0" marL="0">
              <a:buNone/>
            </a:pPr>
            <a:r>
              <a:rPr lang="en-US" sz="1400" dirty="0">
                <a:solidFill>
                  <a:schemeClr val="tx1"/>
                </a:solidFill>
              </a:rPr>
              <a:t>Stratified 80/10/10 split with seed 42</a:t>
            </a:r>
            <a:endParaRPr lang="en-US" sz="1400" dirty="0"/>
          </a:p>
        </p:txBody>
      </p:sp>
      <p:graphicFrame>
        <p:nvGraphicFramePr>
          <p:cNvPr id="15" name="Chart 0" descr=""/>
          <p:cNvGraphicFramePr/>
          <p:nvPr/>
        </p:nvGraphicFramePr>
        <p:xfrm>
          <a:off x="5394960" y="1417320"/>
          <a:ext cx="6248095" cy="4480560"/>
        </p:xfrm>
        <a:graphic xmlns:a="http://schemas.openxmlformats.org/drawingml/2006/main">
          <a:graphicData uri="http://schemas.openxmlformats.org/drawingml/2006/chart">
            <c:chart xmlns:c="http://schemas.openxmlformats.org/drawingml/2006/chart" r:id="rId1"/>
          </a:graphicData>
        </a:graphic>
      </p:graphicFrame>
      <p:sp>
        <p:nvSpPr>
          <p:cNvPr id="16" name="Text 11"/>
          <p:cNvSpPr txBox="1"/>
          <p:nvPr/>
        </p:nvSpPr>
        <p:spPr>
          <a:xfrm>
            <a:off x="548640" y="6053328"/>
            <a:ext cx="11094415" cy="228600"/>
          </a:xfrm>
          <a:prstGeom prst="rect">
            <a:avLst/>
          </a:prstGeom>
          <a:noFill/>
          <a:ln/>
        </p:spPr>
        <p:txBody>
          <a:bodyPr wrap="square" lIns="0" tIns="0" rIns="0" bIns="0" rtlCol="0" anchor="t"/>
          <a:lstStyle/>
          <a:p>
            <a:pPr indent="0" marL="0">
              <a:buNone/>
            </a:pPr>
            <a:r>
              <a:rPr lang="en-US" sz="1000" dirty="0">
                <a:solidFill>
                  <a:schemeClr val="accent4"/>
                </a:solidFill>
              </a:rPr>
              <a:t>Dataset [17]; counts from Backend/output/metrics/class_distribution.csv.</a:t>
            </a:r>
            <a:endParaRPr lang="en-US" sz="1000" dirty="0"/>
          </a:p>
        </p:txBody>
      </p:sp>
      <p:sp>
        <p:nvSpPr>
          <p:cNvPr id="25" name="Slide Number Placeholder 0"/>
          <p:cNvSpPr>
            <a:spLocks noGrp="1"/>
          </p:cNvSpPr>
          <p:nvPr>
            <p:ph type="sldNum" sz="quarter" idx="4294967295"/>
          </p:nvPr>
        </p:nvSpPr>
        <p:spPr>
          <a:xfrm>
            <a:off x="11091672" y="640080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84048"/>
            <a:ext cx="11094415" cy="256032"/>
          </a:xfrm>
          <a:prstGeom prst="rect">
            <a:avLst/>
          </a:prstGeom>
          <a:noFill/>
          <a:ln/>
        </p:spPr>
        <p:txBody>
          <a:bodyPr wrap="square" lIns="0" tIns="0" rIns="0" bIns="0" rtlCol="0" anchor="t"/>
          <a:lstStyle/>
          <a:p>
            <a:pPr indent="0" marL="0">
              <a:buNone/>
            </a:pPr>
            <a:r>
              <a:rPr lang="en-US" sz="1100" b="1" spc="150" kern="0" dirty="0">
                <a:solidFill>
                  <a:schemeClr val="accent4"/>
                </a:solidFill>
              </a:rPr>
              <a:t>EXPERIMENTAL SETUP</a:t>
            </a:r>
            <a:endParaRPr lang="en-US" sz="1100" dirty="0"/>
          </a:p>
        </p:txBody>
      </p:sp>
      <p:sp>
        <p:nvSpPr>
          <p:cNvPr id="3" name="Text 0"/>
          <p:cNvSpPr/>
          <p:nvPr>
            <p:ph idx="100"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3600" b="1" dirty="0">
                <a:solidFill>
                  <a:schemeClr val="tx1"/>
                </a:solidFill>
              </a:rPr>
              <a:t>Training setup</a:t>
            </a:r>
            <a:endParaRPr lang="en-US" sz="3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6309360" cy="914400"/>
        </p:xfrm>
        <a:graphic>
          <a:graphicData uri="http://schemas.openxmlformats.org/drawingml/2006/table">
            <a:tbl>
              <a:tblPr/>
              <a:tblGrid>
                <a:gridCol w="1325880"/>
                <a:gridCol w="1600200"/>
                <a:gridCol w="1463040"/>
                <a:gridCol w="1920240"/>
              </a:tblGrid>
              <a:tr h="393192">
                <a:tc>
                  <a:txBody>
                    <a:bodyPr/>
                    <a:lstStyle/>
                    <a:p>
                      <a:pPr algn="l" indent="0" marL="0">
                        <a:buNone/>
                      </a:pPr>
                      <a:r>
                        <a:rPr lang="en-US" sz="1300" b="1" dirty="0">
                          <a:solidFill>
                            <a:schemeClr val="bg1"/>
                          </a:solidFill>
                        </a:rPr>
                        <a:t>Setting</a:t>
                      </a:r>
                      <a:endParaRPr lang="en-US" sz="1300" dirty="0"/>
                    </a:p>
                  </a:txBody>
                  <a:tcPr marL="76200" marR="76200" marT="25400" marB="25400" anchor="ctr">
                    <a:lnL w="0" cap="flat" cmpd="sng" algn="ctr">
                      <a:noFill/>
                    </a:lnL>
                    <a:lnR w="0" cap="flat" cmpd="sng" algn="ctr">
                      <a:noFill/>
                    </a:lnR>
                    <a:lnT w="0" cap="flat" cmpd="sng" algn="ctr">
                      <a:noFill/>
                    </a:lnT>
                    <a:lnB w="0" cap="flat" cmpd="sng" algn="ctr">
                      <a:noFill/>
                    </a:lnB>
                    <a:solidFill>
                      <a:schemeClr val="tx1"/>
                    </a:solidFill>
                  </a:tcPr>
                </a:tc>
                <a:tc>
                  <a:txBody>
                    <a:bodyPr/>
                    <a:lstStyle/>
                    <a:p>
                      <a:pPr algn="l" indent="0" marL="0">
                        <a:buNone/>
                      </a:pPr>
                      <a:r>
                        <a:rPr lang="en-US" sz="1300" b="1" dirty="0">
                          <a:solidFill>
                            <a:schemeClr val="bg1"/>
                          </a:solidFill>
                        </a:rPr>
                        <a:t>Value</a:t>
                      </a:r>
                      <a:endParaRPr lang="en-US" sz="1300" dirty="0"/>
                    </a:p>
                  </a:txBody>
                  <a:tcPr marL="76200" marR="76200" marT="25400" marB="25400" anchor="ctr">
                    <a:lnL w="0" cap="flat" cmpd="sng" algn="ctr">
                      <a:noFill/>
                    </a:lnL>
                    <a:lnR w="0" cap="flat" cmpd="sng" algn="ctr">
                      <a:noFill/>
                    </a:lnR>
                    <a:lnT w="0" cap="flat" cmpd="sng" algn="ctr">
                      <a:noFill/>
                    </a:lnT>
                    <a:lnB w="0" cap="flat" cmpd="sng" algn="ctr">
                      <a:noFill/>
                    </a:lnB>
                    <a:solidFill>
                      <a:schemeClr val="tx1"/>
                    </a:solidFill>
                  </a:tcPr>
                </a:tc>
                <a:tc>
                  <a:txBody>
                    <a:bodyPr/>
                    <a:lstStyle/>
                    <a:p>
                      <a:pPr algn="l" indent="0" marL="0">
                        <a:buNone/>
                      </a:pPr>
                      <a:r>
                        <a:rPr lang="en-US" sz="1300" b="1" dirty="0">
                          <a:solidFill>
                            <a:schemeClr val="bg1"/>
                          </a:solidFill>
                        </a:rPr>
                        <a:t>Setting</a:t>
                      </a:r>
                      <a:endParaRPr lang="en-US" sz="1300" dirty="0"/>
                    </a:p>
                  </a:txBody>
                  <a:tcPr marL="76200" marR="76200" marT="25400" marB="25400" anchor="ctr">
                    <a:lnL w="0" cap="flat" cmpd="sng" algn="ctr">
                      <a:noFill/>
                    </a:lnL>
                    <a:lnR w="0" cap="flat" cmpd="sng" algn="ctr">
                      <a:noFill/>
                    </a:lnR>
                    <a:lnT w="0" cap="flat" cmpd="sng" algn="ctr">
                      <a:noFill/>
                    </a:lnT>
                    <a:lnB w="0" cap="flat" cmpd="sng" algn="ctr">
                      <a:noFill/>
                    </a:lnB>
                    <a:solidFill>
                      <a:schemeClr val="tx1"/>
                    </a:solidFill>
                  </a:tcPr>
                </a:tc>
                <a:tc>
                  <a:txBody>
                    <a:bodyPr/>
                    <a:lstStyle/>
                    <a:p>
                      <a:pPr algn="l" indent="0" marL="0">
                        <a:buNone/>
                      </a:pPr>
                      <a:r>
                        <a:rPr lang="en-US" sz="1300" b="1" dirty="0">
                          <a:solidFill>
                            <a:schemeClr val="bg1"/>
                          </a:solidFill>
                        </a:rPr>
                        <a:t>Value</a:t>
                      </a:r>
                      <a:endParaRPr lang="en-US" sz="1300" dirty="0"/>
                    </a:p>
                  </a:txBody>
                  <a:tcPr marL="76200" marR="76200" marT="25400" marB="25400" anchor="ctr">
                    <a:lnL w="0" cap="flat" cmpd="sng" algn="ctr">
                      <a:noFill/>
                    </a:lnL>
                    <a:lnR w="0" cap="flat" cmpd="sng" algn="ctr">
                      <a:noFill/>
                    </a:lnR>
                    <a:lnT w="0" cap="flat" cmpd="sng" algn="ctr">
                      <a:noFill/>
                    </a:lnT>
                    <a:lnB w="0" cap="flat" cmpd="sng" algn="ctr">
                      <a:noFill/>
                    </a:lnB>
                    <a:solidFill>
                      <a:schemeClr val="tx1"/>
                    </a:solidFill>
                  </a:tcPr>
                </a:tc>
              </a:tr>
              <a:tr h="393192">
                <a:tc>
                  <a:txBody>
                    <a:bodyPr/>
                    <a:lstStyle/>
                    <a:p>
                      <a:pPr indent="0" marL="0">
                        <a:buNone/>
                      </a:pPr>
                      <a:r>
                        <a:rPr lang="en-US" sz="1300" dirty="0">
                          <a:solidFill>
                            <a:schemeClr val="accent4"/>
                          </a:solidFill>
                        </a:rPr>
                        <a:t>Input size</a:t>
                      </a:r>
                      <a:endParaRPr lang="en-US" sz="13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indent="0" marL="0">
                        <a:buNone/>
                      </a:pPr>
                      <a:r>
                        <a:rPr lang="en-US" sz="1300" dirty="0">
                          <a:solidFill>
                            <a:schemeClr val="tx1"/>
                          </a:solidFill>
                        </a:rPr>
                        <a:t>640 px</a:t>
                      </a:r>
                      <a:endParaRPr lang="en-US" sz="13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indent="0" marL="0">
                        <a:buNone/>
                      </a:pPr>
                      <a:r>
                        <a:rPr lang="en-US" sz="1300" dirty="0">
                          <a:solidFill>
                            <a:schemeClr val="accent4"/>
                          </a:solidFill>
                        </a:rPr>
                        <a:t>Optimiser</a:t>
                      </a:r>
                      <a:endParaRPr lang="en-US" sz="13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indent="0" marL="0">
                        <a:buNone/>
                      </a:pPr>
                      <a:r>
                        <a:rPr lang="en-US" sz="1300" dirty="0">
                          <a:solidFill>
                            <a:schemeClr val="tx1"/>
                          </a:solidFill>
                        </a:rPr>
                        <a:t>SGD, momentum 0.937</a:t>
                      </a:r>
                      <a:endParaRPr lang="en-US" sz="13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r>
              <a:tr h="393192">
                <a:tc>
                  <a:txBody>
                    <a:bodyPr/>
                    <a:lstStyle/>
                    <a:p>
                      <a:pPr indent="0" marL="0">
                        <a:buNone/>
                      </a:pPr>
                      <a:r>
                        <a:rPr lang="en-US" sz="1300" dirty="0">
                          <a:solidFill>
                            <a:schemeClr val="accent4"/>
                          </a:solidFill>
                        </a:rPr>
                        <a:t>Batch size</a:t>
                      </a:r>
                      <a:endParaRPr lang="en-US" sz="13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indent="0" marL="0">
                        <a:buNone/>
                      </a:pPr>
                      <a:r>
                        <a:rPr lang="en-US" sz="1300" dirty="0">
                          <a:solidFill>
                            <a:schemeClr val="tx1"/>
                          </a:solidFill>
                        </a:rPr>
                        <a:t>32 (16 per GPU)</a:t>
                      </a:r>
                      <a:endParaRPr lang="en-US" sz="13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indent="0" marL="0">
                        <a:buNone/>
                      </a:pPr>
                      <a:r>
                        <a:rPr lang="en-US" sz="1300" dirty="0">
                          <a:solidFill>
                            <a:schemeClr val="accent4"/>
                          </a:solidFill>
                        </a:rPr>
                        <a:t>Learning rate</a:t>
                      </a:r>
                      <a:endParaRPr lang="en-US" sz="13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indent="0" marL="0">
                        <a:buNone/>
                      </a:pPr>
                      <a:r>
                        <a:rPr lang="en-US" sz="1300" dirty="0">
                          <a:solidFill>
                            <a:schemeClr val="tx1"/>
                          </a:solidFill>
                        </a:rPr>
                        <a:t>0.01, cosine to 0.01×</a:t>
                      </a:r>
                      <a:endParaRPr lang="en-US" sz="13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r>
              <a:tr h="393192">
                <a:tc>
                  <a:txBody>
                    <a:bodyPr/>
                    <a:lstStyle/>
                    <a:p>
                      <a:pPr indent="0" marL="0">
                        <a:buNone/>
                      </a:pPr>
                      <a:r>
                        <a:rPr lang="en-US" sz="1300" dirty="0">
                          <a:solidFill>
                            <a:schemeClr val="accent4"/>
                          </a:solidFill>
                        </a:rPr>
                        <a:t>Time budget</a:t>
                      </a:r>
                      <a:endParaRPr lang="en-US" sz="13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indent="0" marL="0">
                        <a:buNone/>
                      </a:pPr>
                      <a:r>
                        <a:rPr lang="en-US" sz="1300" dirty="0">
                          <a:solidFill>
                            <a:schemeClr val="tx1"/>
                          </a:solidFill>
                        </a:rPr>
                        <a:t>0.70 h</a:t>
                      </a:r>
                      <a:endParaRPr lang="en-US" sz="13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indent="0" marL="0">
                        <a:buNone/>
                      </a:pPr>
                      <a:r>
                        <a:rPr lang="en-US" sz="1300" dirty="0">
                          <a:solidFill>
                            <a:schemeClr val="accent4"/>
                          </a:solidFill>
                        </a:rPr>
                        <a:t>Warm-up</a:t>
                      </a:r>
                      <a:endParaRPr lang="en-US" sz="13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indent="0" marL="0">
                        <a:buNone/>
                      </a:pPr>
                      <a:r>
                        <a:rPr lang="en-US" sz="1300" dirty="0">
                          <a:solidFill>
                            <a:schemeClr val="tx1"/>
                          </a:solidFill>
                        </a:rPr>
                        <a:t>3 epochs</a:t>
                      </a:r>
                      <a:endParaRPr lang="en-US" sz="13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r>
              <a:tr h="393192">
                <a:tc>
                  <a:txBody>
                    <a:bodyPr/>
                    <a:lstStyle/>
                    <a:p>
                      <a:pPr indent="0" marL="0">
                        <a:buNone/>
                      </a:pPr>
                      <a:r>
                        <a:rPr lang="en-US" sz="1300" dirty="0">
                          <a:solidFill>
                            <a:schemeClr val="accent4"/>
                          </a:solidFill>
                        </a:rPr>
                        <a:t>Epoch limit</a:t>
                      </a:r>
                      <a:endParaRPr lang="en-US" sz="13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indent="0" marL="0">
                        <a:buNone/>
                      </a:pPr>
                      <a:r>
                        <a:rPr lang="en-US" sz="1300" dirty="0">
                          <a:solidFill>
                            <a:schemeClr val="tx1"/>
                          </a:solidFill>
                        </a:rPr>
                        <a:t>200 (upper bound)</a:t>
                      </a:r>
                      <a:endParaRPr lang="en-US" sz="13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indent="0" marL="0">
                        <a:buNone/>
                      </a:pPr>
                      <a:r>
                        <a:rPr lang="en-US" sz="1300" dirty="0">
                          <a:solidFill>
                            <a:schemeClr val="accent4"/>
                          </a:solidFill>
                        </a:rPr>
                        <a:t>Weight decay</a:t>
                      </a:r>
                      <a:endParaRPr lang="en-US" sz="13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indent="0" marL="0">
                        <a:buNone/>
                      </a:pPr>
                      <a:r>
                        <a:rPr lang="en-US" sz="1300" dirty="0">
                          <a:solidFill>
                            <a:schemeClr val="tx1"/>
                          </a:solidFill>
                        </a:rPr>
                        <a:t>0.0005</a:t>
                      </a:r>
                      <a:endParaRPr lang="en-US" sz="13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r>
              <a:tr h="393192">
                <a:tc>
                  <a:txBody>
                    <a:bodyPr/>
                    <a:lstStyle/>
                    <a:p>
                      <a:pPr indent="0" marL="0">
                        <a:buNone/>
                      </a:pPr>
                      <a:r>
                        <a:rPr lang="en-US" sz="1300" dirty="0">
                          <a:solidFill>
                            <a:schemeClr val="accent4"/>
                          </a:solidFill>
                        </a:rPr>
                        <a:t>Mosaic</a:t>
                      </a:r>
                      <a:endParaRPr lang="en-US" sz="13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indent="0" marL="0">
                        <a:buNone/>
                      </a:pPr>
                      <a:r>
                        <a:rPr lang="en-US" sz="1300" dirty="0">
                          <a:solidFill>
                            <a:schemeClr val="tx1"/>
                          </a:solidFill>
                        </a:rPr>
                        <a:t>1.0, off for last 10</a:t>
                      </a:r>
                      <a:endParaRPr lang="en-US" sz="13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indent="0" marL="0">
                        <a:buNone/>
                      </a:pPr>
                      <a:r>
                        <a:rPr lang="en-US" sz="1300" dirty="0">
                          <a:solidFill>
                            <a:schemeClr val="accent4"/>
                          </a:solidFill>
                        </a:rPr>
                        <a:t>Mixup / copy-paste</a:t>
                      </a:r>
                      <a:endParaRPr lang="en-US" sz="13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indent="0" marL="0">
                        <a:buNone/>
                      </a:pPr>
                      <a:r>
                        <a:rPr lang="en-US" sz="1300" dirty="0">
                          <a:solidFill>
                            <a:schemeClr val="tx1"/>
                          </a:solidFill>
                        </a:rPr>
                        <a:t>0.1 / 0.1</a:t>
                      </a:r>
                      <a:endParaRPr lang="en-US" sz="13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r>
              <a:tr h="393192">
                <a:tc>
                  <a:txBody>
                    <a:bodyPr/>
                    <a:lstStyle/>
                    <a:p>
                      <a:pPr indent="0" marL="0">
                        <a:buNone/>
                      </a:pPr>
                      <a:r>
                        <a:rPr lang="en-US" sz="1300" dirty="0">
                          <a:solidFill>
                            <a:schemeClr val="accent4"/>
                          </a:solidFill>
                        </a:rPr>
                        <a:t>Rotation / shear</a:t>
                      </a:r>
                      <a:endParaRPr lang="en-US" sz="13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indent="0" marL="0">
                        <a:buNone/>
                      </a:pPr>
                      <a:r>
                        <a:rPr lang="en-US" sz="1300" dirty="0">
                          <a:solidFill>
                            <a:schemeClr val="tx1"/>
                          </a:solidFill>
                        </a:rPr>
                        <a:t>5° / 2°</a:t>
                      </a:r>
                      <a:endParaRPr lang="en-US" sz="13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indent="0" marL="0">
                        <a:buNone/>
                      </a:pPr>
                      <a:r>
                        <a:rPr lang="en-US" sz="1300" dirty="0">
                          <a:solidFill>
                            <a:schemeClr val="accent4"/>
                          </a:solidFill>
                        </a:rPr>
                        <a:t>Scale / translate</a:t>
                      </a:r>
                      <a:endParaRPr lang="en-US" sz="13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indent="0" marL="0">
                        <a:buNone/>
                      </a:pPr>
                      <a:r>
                        <a:rPr lang="en-US" sz="1300" dirty="0">
                          <a:solidFill>
                            <a:schemeClr val="tx1"/>
                          </a:solidFill>
                        </a:rPr>
                        <a:t>0.5 / 0.1</a:t>
                      </a:r>
                      <a:endParaRPr lang="en-US" sz="13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r>
              <a:tr h="393192">
                <a:tc>
                  <a:txBody>
                    <a:bodyPr/>
                    <a:lstStyle/>
                    <a:p>
                      <a:pPr indent="0" marL="0">
                        <a:buNone/>
                      </a:pPr>
                      <a:r>
                        <a:rPr lang="en-US" sz="1300" dirty="0">
                          <a:solidFill>
                            <a:schemeClr val="accent4"/>
                          </a:solidFill>
                        </a:rPr>
                        <a:t>HSV (h, s, v)</a:t>
                      </a:r>
                      <a:endParaRPr lang="en-US" sz="13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indent="0" marL="0">
                        <a:buNone/>
                      </a:pPr>
                      <a:r>
                        <a:rPr lang="en-US" sz="1300" dirty="0">
                          <a:solidFill>
                            <a:schemeClr val="tx1"/>
                          </a:solidFill>
                        </a:rPr>
                        <a:t>0.015, 0.7, 0.4</a:t>
                      </a:r>
                      <a:endParaRPr lang="en-US" sz="13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indent="0" marL="0">
                        <a:buNone/>
                      </a:pPr>
                      <a:r>
                        <a:rPr lang="en-US" sz="1300" dirty="0">
                          <a:solidFill>
                            <a:schemeClr val="accent4"/>
                          </a:solidFill>
                        </a:rPr>
                        <a:t>Horizontal flip</a:t>
                      </a:r>
                      <a:endParaRPr lang="en-US" sz="13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indent="0" marL="0">
                        <a:buNone/>
                      </a:pPr>
                      <a:r>
                        <a:rPr lang="en-US" sz="1300" dirty="0">
                          <a:solidFill>
                            <a:schemeClr val="tx1"/>
                          </a:solidFill>
                        </a:rPr>
                        <a:t>0.5</a:t>
                      </a:r>
                      <a:endParaRPr lang="en-US" sz="13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r>
              <a:tr h="393192">
                <a:tc>
                  <a:txBody>
                    <a:bodyPr/>
                    <a:lstStyle/>
                    <a:p>
                      <a:pPr indent="0" marL="0">
                        <a:buNone/>
                      </a:pPr>
                      <a:r>
                        <a:rPr lang="en-US" sz="1300" dirty="0">
                          <a:solidFill>
                            <a:schemeClr val="accent4"/>
                          </a:solidFill>
                        </a:rPr>
                        <a:t>Precision</a:t>
                      </a:r>
                      <a:endParaRPr lang="en-US" sz="13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indent="0" marL="0">
                        <a:buNone/>
                      </a:pPr>
                      <a:r>
                        <a:rPr lang="en-US" sz="1300" dirty="0">
                          <a:solidFill>
                            <a:schemeClr val="tx1"/>
                          </a:solidFill>
                        </a:rPr>
                        <a:t>Mixed (AMP)</a:t>
                      </a:r>
                      <a:endParaRPr lang="en-US" sz="13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indent="0" marL="0">
                        <a:buNone/>
                      </a:pPr>
                      <a:r>
                        <a:rPr lang="en-US" sz="1300" dirty="0">
                          <a:solidFill>
                            <a:schemeClr val="accent4"/>
                          </a:solidFill>
                        </a:rPr>
                        <a:t>Seed</a:t>
                      </a:r>
                      <a:endParaRPr lang="en-US" sz="13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indent="0" marL="0">
                        <a:buNone/>
                      </a:pPr>
                      <a:r>
                        <a:rPr lang="en-US" sz="1300" dirty="0">
                          <a:solidFill>
                            <a:schemeClr val="tx1"/>
                          </a:solidFill>
                        </a:rPr>
                        <a:t>42</a:t>
                      </a:r>
                      <a:endParaRPr lang="en-US" sz="13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r>
            </a:tbl>
          </a:graphicData>
        </a:graphic>
      </p:graphicFrame>
      <p:sp>
        <p:nvSpPr>
          <p:cNvPr id="6" name="Text 2"/>
          <p:cNvSpPr txBox="1"/>
          <p:nvPr/>
        </p:nvSpPr>
        <p:spPr>
          <a:xfrm>
            <a:off x="548640" y="6053328"/>
            <a:ext cx="11094415" cy="228600"/>
          </a:xfrm>
          <a:prstGeom prst="rect">
            <a:avLst/>
          </a:prstGeom>
          <a:noFill/>
          <a:ln/>
        </p:spPr>
        <p:txBody>
          <a:bodyPr wrap="square" lIns="0" tIns="0" rIns="0" bIns="0" rtlCol="0" anchor="t"/>
          <a:lstStyle/>
          <a:p>
            <a:pPr indent="0" marL="0">
              <a:buNone/>
            </a:pPr>
            <a:r>
              <a:rPr lang="en-US" sz="1000" dirty="0">
                <a:solidFill>
                  <a:schemeClr val="accent4"/>
                </a:solidFill>
              </a:rPr>
              <a:t>Values recorded in Backend/output/logs/train.log. DDP [18]; Ultralytics 8.4.171, PyTorch 2.10.0, CUDA 12.8 [12].</a:t>
            </a:r>
            <a:endParaRPr lang="en-US" sz="1000" dirty="0"/>
          </a:p>
        </p:txBody>
      </p:sp>
      <p:sp>
        <p:nvSpPr>
          <p:cNvPr id="7" name="rule"/>
          <p:cNvSpPr/>
          <p:nvPr/>
        </p:nvSpPr>
        <p:spPr>
          <a:xfrm>
            <a:off x="7406640" y="1554480"/>
            <a:ext cx="1981048" cy="0"/>
          </a:xfrm>
          <a:prstGeom prst="line">
            <a:avLst/>
          </a:prstGeom>
          <a:noFill/>
          <a:ln w="9525">
            <a:solidFill>
              <a:schemeClr val="tx1"/>
            </a:solidFill>
            <a:prstDash val="solid"/>
          </a:ln>
        </p:spPr>
      </p:sp>
      <p:sp>
        <p:nvSpPr>
          <p:cNvPr id="8" name="Text 4"/>
          <p:cNvSpPr txBox="1"/>
          <p:nvPr/>
        </p:nvSpPr>
        <p:spPr>
          <a:xfrm>
            <a:off x="7406640" y="1664208"/>
            <a:ext cx="1981048" cy="566928"/>
          </a:xfrm>
          <a:prstGeom prst="rect">
            <a:avLst/>
          </a:prstGeom>
          <a:noFill/>
          <a:ln/>
        </p:spPr>
        <p:txBody>
          <a:bodyPr wrap="square" lIns="0" tIns="0" rIns="0" bIns="0" rtlCol="0" anchor="t"/>
          <a:lstStyle/>
          <a:p>
            <a:pPr indent="0" marL="0">
              <a:buNone/>
            </a:pPr>
            <a:r>
              <a:rPr lang="en-US" sz="3200" b="1" dirty="0">
                <a:solidFill>
                  <a:schemeClr val="tx1"/>
                </a:solidFill>
              </a:rPr>
              <a:t>75</a:t>
            </a:r>
            <a:endParaRPr lang="en-US" sz="3200" dirty="0"/>
          </a:p>
        </p:txBody>
      </p:sp>
      <p:sp>
        <p:nvSpPr>
          <p:cNvPr id="9" name="Text 5"/>
          <p:cNvSpPr txBox="1"/>
          <p:nvPr/>
        </p:nvSpPr>
        <p:spPr>
          <a:xfrm>
            <a:off x="7406640" y="2249424"/>
            <a:ext cx="1981048" cy="457200"/>
          </a:xfrm>
          <a:prstGeom prst="rect">
            <a:avLst/>
          </a:prstGeom>
          <a:noFill/>
          <a:ln/>
        </p:spPr>
        <p:txBody>
          <a:bodyPr wrap="square" lIns="0" tIns="0" rIns="0" bIns="0" rtlCol="0" anchor="t"/>
          <a:lstStyle/>
          <a:p>
            <a:pPr indent="0" marL="0">
              <a:buNone/>
            </a:pPr>
            <a:r>
              <a:rPr lang="en-US" sz="1300" dirty="0">
                <a:solidFill>
                  <a:schemeClr val="accent4"/>
                </a:solidFill>
              </a:rPr>
              <a:t>epochs in 0.701 h</a:t>
            </a:r>
            <a:endParaRPr lang="en-US" sz="1300" dirty="0"/>
          </a:p>
        </p:txBody>
      </p:sp>
      <p:sp>
        <p:nvSpPr>
          <p:cNvPr id="10" name="rule"/>
          <p:cNvSpPr/>
          <p:nvPr/>
        </p:nvSpPr>
        <p:spPr>
          <a:xfrm>
            <a:off x="9662008" y="1554480"/>
            <a:ext cx="1981048" cy="0"/>
          </a:xfrm>
          <a:prstGeom prst="line">
            <a:avLst/>
          </a:prstGeom>
          <a:noFill/>
          <a:ln w="9525">
            <a:solidFill>
              <a:schemeClr val="tx1"/>
            </a:solidFill>
            <a:prstDash val="solid"/>
          </a:ln>
        </p:spPr>
      </p:sp>
      <p:sp>
        <p:nvSpPr>
          <p:cNvPr id="11" name="Text 7"/>
          <p:cNvSpPr txBox="1"/>
          <p:nvPr/>
        </p:nvSpPr>
        <p:spPr>
          <a:xfrm>
            <a:off x="9662008" y="1664208"/>
            <a:ext cx="1981048" cy="566928"/>
          </a:xfrm>
          <a:prstGeom prst="rect">
            <a:avLst/>
          </a:prstGeom>
          <a:noFill/>
          <a:ln/>
        </p:spPr>
        <p:txBody>
          <a:bodyPr wrap="square" lIns="0" tIns="0" rIns="0" bIns="0" rtlCol="0" anchor="t"/>
          <a:lstStyle/>
          <a:p>
            <a:pPr indent="0" marL="0">
              <a:buNone/>
            </a:pPr>
            <a:r>
              <a:rPr lang="en-US" sz="3200" b="1" dirty="0">
                <a:solidFill>
                  <a:schemeClr val="tx1"/>
                </a:solidFill>
              </a:rPr>
              <a:t>72</a:t>
            </a:r>
            <a:endParaRPr lang="en-US" sz="3200" dirty="0"/>
          </a:p>
        </p:txBody>
      </p:sp>
      <p:sp>
        <p:nvSpPr>
          <p:cNvPr id="12" name="Text 8"/>
          <p:cNvSpPr txBox="1"/>
          <p:nvPr/>
        </p:nvSpPr>
        <p:spPr>
          <a:xfrm>
            <a:off x="9662008" y="2249424"/>
            <a:ext cx="1981048" cy="457200"/>
          </a:xfrm>
          <a:prstGeom prst="rect">
            <a:avLst/>
          </a:prstGeom>
          <a:noFill/>
          <a:ln/>
        </p:spPr>
        <p:txBody>
          <a:bodyPr wrap="square" lIns="0" tIns="0" rIns="0" bIns="0" rtlCol="0" anchor="t"/>
          <a:lstStyle/>
          <a:p>
            <a:pPr indent="0" marL="0">
              <a:buNone/>
            </a:pPr>
            <a:r>
              <a:rPr lang="en-US" sz="1300" dirty="0">
                <a:solidFill>
                  <a:schemeClr val="accent4"/>
                </a:solidFill>
              </a:rPr>
              <a:t>best epoch</a:t>
            </a:r>
            <a:endParaRPr lang="en-US" sz="1300" dirty="0"/>
          </a:p>
        </p:txBody>
      </p:sp>
      <p:sp>
        <p:nvSpPr>
          <p:cNvPr id="13" name="rule"/>
          <p:cNvSpPr/>
          <p:nvPr/>
        </p:nvSpPr>
        <p:spPr>
          <a:xfrm>
            <a:off x="7406640" y="2788920"/>
            <a:ext cx="1981048" cy="0"/>
          </a:xfrm>
          <a:prstGeom prst="line">
            <a:avLst/>
          </a:prstGeom>
          <a:noFill/>
          <a:ln w="9525">
            <a:solidFill>
              <a:schemeClr val="tx1"/>
            </a:solidFill>
            <a:prstDash val="solid"/>
          </a:ln>
        </p:spPr>
      </p:sp>
      <p:sp>
        <p:nvSpPr>
          <p:cNvPr id="14" name="Text 10"/>
          <p:cNvSpPr txBox="1"/>
          <p:nvPr/>
        </p:nvSpPr>
        <p:spPr>
          <a:xfrm>
            <a:off x="7406640" y="2898648"/>
            <a:ext cx="1981048" cy="566928"/>
          </a:xfrm>
          <a:prstGeom prst="rect">
            <a:avLst/>
          </a:prstGeom>
          <a:noFill/>
          <a:ln/>
        </p:spPr>
        <p:txBody>
          <a:bodyPr wrap="square" lIns="0" tIns="0" rIns="0" bIns="0" rtlCol="0" anchor="t"/>
          <a:lstStyle/>
          <a:p>
            <a:pPr indent="0" marL="0">
              <a:buNone/>
            </a:pPr>
            <a:r>
              <a:rPr lang="en-US" sz="3200" b="1" dirty="0">
                <a:solidFill>
                  <a:schemeClr val="tx1"/>
                </a:solidFill>
              </a:rPr>
              <a:t>2 × T4</a:t>
            </a:r>
            <a:endParaRPr lang="en-US" sz="3200" dirty="0"/>
          </a:p>
        </p:txBody>
      </p:sp>
      <p:sp>
        <p:nvSpPr>
          <p:cNvPr id="15" name="Text 11"/>
          <p:cNvSpPr txBox="1"/>
          <p:nvPr/>
        </p:nvSpPr>
        <p:spPr>
          <a:xfrm>
            <a:off x="7406640" y="3483864"/>
            <a:ext cx="1981048" cy="457200"/>
          </a:xfrm>
          <a:prstGeom prst="rect">
            <a:avLst/>
          </a:prstGeom>
          <a:noFill/>
          <a:ln/>
        </p:spPr>
        <p:txBody>
          <a:bodyPr wrap="square" lIns="0" tIns="0" rIns="0" bIns="0" rtlCol="0" anchor="t"/>
          <a:lstStyle/>
          <a:p>
            <a:pPr indent="0" marL="0">
              <a:buNone/>
            </a:pPr>
            <a:r>
              <a:rPr lang="en-US" sz="1300" dirty="0">
                <a:solidFill>
                  <a:schemeClr val="accent4"/>
                </a:solidFill>
              </a:rPr>
              <a:t>DDP with mixed precision</a:t>
            </a:r>
            <a:endParaRPr lang="en-US" sz="1300" dirty="0"/>
          </a:p>
        </p:txBody>
      </p:sp>
      <p:sp>
        <p:nvSpPr>
          <p:cNvPr id="16" name="rule"/>
          <p:cNvSpPr/>
          <p:nvPr/>
        </p:nvSpPr>
        <p:spPr>
          <a:xfrm>
            <a:off x="9662008" y="2788920"/>
            <a:ext cx="1981048" cy="0"/>
          </a:xfrm>
          <a:prstGeom prst="line">
            <a:avLst/>
          </a:prstGeom>
          <a:noFill/>
          <a:ln w="9525">
            <a:solidFill>
              <a:schemeClr val="tx1"/>
            </a:solidFill>
            <a:prstDash val="solid"/>
          </a:ln>
        </p:spPr>
      </p:sp>
      <p:sp>
        <p:nvSpPr>
          <p:cNvPr id="17" name="Text 13"/>
          <p:cNvSpPr txBox="1"/>
          <p:nvPr/>
        </p:nvSpPr>
        <p:spPr>
          <a:xfrm>
            <a:off x="9662008" y="2898648"/>
            <a:ext cx="1981048" cy="566928"/>
          </a:xfrm>
          <a:prstGeom prst="rect">
            <a:avLst/>
          </a:prstGeom>
          <a:noFill/>
          <a:ln/>
        </p:spPr>
        <p:txBody>
          <a:bodyPr wrap="square" lIns="0" tIns="0" rIns="0" bIns="0" rtlCol="0" anchor="t"/>
          <a:lstStyle/>
          <a:p>
            <a:pPr indent="0" marL="0">
              <a:buNone/>
            </a:pPr>
            <a:r>
              <a:rPr lang="en-US" sz="3200" b="1" dirty="0">
                <a:solidFill>
                  <a:schemeClr val="tx1"/>
                </a:solidFill>
              </a:rPr>
              <a:t>85-100%</a:t>
            </a:r>
            <a:endParaRPr lang="en-US" sz="3200" dirty="0"/>
          </a:p>
        </p:txBody>
      </p:sp>
      <p:sp>
        <p:nvSpPr>
          <p:cNvPr id="18" name="Text 14"/>
          <p:cNvSpPr txBox="1"/>
          <p:nvPr/>
        </p:nvSpPr>
        <p:spPr>
          <a:xfrm>
            <a:off x="9662008" y="3483864"/>
            <a:ext cx="1981048" cy="457200"/>
          </a:xfrm>
          <a:prstGeom prst="rect">
            <a:avLst/>
          </a:prstGeom>
          <a:noFill/>
          <a:ln/>
        </p:spPr>
        <p:txBody>
          <a:bodyPr wrap="square" lIns="0" tIns="0" rIns="0" bIns="0" rtlCol="0" anchor="t"/>
          <a:lstStyle/>
          <a:p>
            <a:pPr indent="0" marL="0">
              <a:buNone/>
            </a:pPr>
            <a:r>
              <a:rPr lang="en-US" sz="1300" dirty="0">
                <a:solidFill>
                  <a:schemeClr val="accent4"/>
                </a:solidFill>
              </a:rPr>
              <a:t>GPU utilisation, mostly</a:t>
            </a:r>
            <a:endParaRPr lang="en-US" sz="1300" dirty="0"/>
          </a:p>
        </p:txBody>
      </p:sp>
      <p:sp>
        <p:nvSpPr>
          <p:cNvPr id="19" name="rule"/>
          <p:cNvSpPr/>
          <p:nvPr/>
        </p:nvSpPr>
        <p:spPr>
          <a:xfrm>
            <a:off x="7406640" y="4023360"/>
            <a:ext cx="1981048" cy="0"/>
          </a:xfrm>
          <a:prstGeom prst="line">
            <a:avLst/>
          </a:prstGeom>
          <a:noFill/>
          <a:ln w="9525">
            <a:solidFill>
              <a:schemeClr val="tx1"/>
            </a:solidFill>
            <a:prstDash val="solid"/>
          </a:ln>
        </p:spPr>
      </p:sp>
      <p:sp>
        <p:nvSpPr>
          <p:cNvPr id="20" name="Text 16"/>
          <p:cNvSpPr txBox="1"/>
          <p:nvPr/>
        </p:nvSpPr>
        <p:spPr>
          <a:xfrm>
            <a:off x="7406640" y="4133088"/>
            <a:ext cx="1981048" cy="566928"/>
          </a:xfrm>
          <a:prstGeom prst="rect">
            <a:avLst/>
          </a:prstGeom>
          <a:noFill/>
          <a:ln/>
        </p:spPr>
        <p:txBody>
          <a:bodyPr wrap="square" lIns="0" tIns="0" rIns="0" bIns="0" rtlCol="0" anchor="t"/>
          <a:lstStyle/>
          <a:p>
            <a:pPr indent="0" marL="0">
              <a:buNone/>
            </a:pPr>
            <a:r>
              <a:rPr lang="en-US" sz="3200" b="1" dirty="0">
                <a:solidFill>
                  <a:schemeClr val="tx1"/>
                </a:solidFill>
              </a:rPr>
              <a:t>8.3 GB</a:t>
            </a:r>
            <a:endParaRPr lang="en-US" sz="3200" dirty="0"/>
          </a:p>
        </p:txBody>
      </p:sp>
      <p:sp>
        <p:nvSpPr>
          <p:cNvPr id="21" name="Text 17"/>
          <p:cNvSpPr txBox="1"/>
          <p:nvPr/>
        </p:nvSpPr>
        <p:spPr>
          <a:xfrm>
            <a:off x="7406640" y="4718304"/>
            <a:ext cx="1981048" cy="457200"/>
          </a:xfrm>
          <a:prstGeom prst="rect">
            <a:avLst/>
          </a:prstGeom>
          <a:noFill/>
          <a:ln/>
        </p:spPr>
        <p:txBody>
          <a:bodyPr wrap="square" lIns="0" tIns="0" rIns="0" bIns="0" rtlCol="0" anchor="t"/>
          <a:lstStyle/>
          <a:p>
            <a:pPr indent="0" marL="0">
              <a:buNone/>
            </a:pPr>
            <a:r>
              <a:rPr lang="en-US" sz="1300" dirty="0">
                <a:solidFill>
                  <a:schemeClr val="accent4"/>
                </a:solidFill>
              </a:rPr>
              <a:t>memory per GPU of 15 GB</a:t>
            </a:r>
            <a:endParaRPr lang="en-US" sz="1300" dirty="0"/>
          </a:p>
        </p:txBody>
      </p:sp>
      <p:sp>
        <p:nvSpPr>
          <p:cNvPr id="22" name="rule"/>
          <p:cNvSpPr/>
          <p:nvPr/>
        </p:nvSpPr>
        <p:spPr>
          <a:xfrm>
            <a:off x="9662008" y="4023360"/>
            <a:ext cx="1981048" cy="0"/>
          </a:xfrm>
          <a:prstGeom prst="line">
            <a:avLst/>
          </a:prstGeom>
          <a:noFill/>
          <a:ln w="9525">
            <a:solidFill>
              <a:schemeClr val="tx1"/>
            </a:solidFill>
            <a:prstDash val="solid"/>
          </a:ln>
        </p:spPr>
      </p:sp>
      <p:sp>
        <p:nvSpPr>
          <p:cNvPr id="23" name="Text 19"/>
          <p:cNvSpPr txBox="1"/>
          <p:nvPr/>
        </p:nvSpPr>
        <p:spPr>
          <a:xfrm>
            <a:off x="9662008" y="4133088"/>
            <a:ext cx="1981048" cy="566928"/>
          </a:xfrm>
          <a:prstGeom prst="rect">
            <a:avLst/>
          </a:prstGeom>
          <a:noFill/>
          <a:ln/>
        </p:spPr>
        <p:txBody>
          <a:bodyPr wrap="square" lIns="0" tIns="0" rIns="0" bIns="0" rtlCol="0" anchor="t"/>
          <a:lstStyle/>
          <a:p>
            <a:pPr indent="0" marL="0">
              <a:buNone/>
            </a:pPr>
            <a:r>
              <a:rPr lang="en-US" sz="3200" b="1" dirty="0">
                <a:solidFill>
                  <a:schemeClr val="tx1"/>
                </a:solidFill>
              </a:rPr>
              <a:t>44.9 min</a:t>
            </a:r>
            <a:endParaRPr lang="en-US" sz="3200" dirty="0"/>
          </a:p>
        </p:txBody>
      </p:sp>
      <p:sp>
        <p:nvSpPr>
          <p:cNvPr id="24" name="Text 20"/>
          <p:cNvSpPr txBox="1"/>
          <p:nvPr/>
        </p:nvSpPr>
        <p:spPr>
          <a:xfrm>
            <a:off x="9662008" y="4718304"/>
            <a:ext cx="1981048" cy="457200"/>
          </a:xfrm>
          <a:prstGeom prst="rect">
            <a:avLst/>
          </a:prstGeom>
          <a:noFill/>
          <a:ln/>
        </p:spPr>
        <p:txBody>
          <a:bodyPr wrap="square" lIns="0" tIns="0" rIns="0" bIns="0" rtlCol="0" anchor="t"/>
          <a:lstStyle/>
          <a:p>
            <a:pPr indent="0" marL="0">
              <a:buNone/>
            </a:pPr>
            <a:r>
              <a:rPr lang="en-US" sz="1300" dirty="0">
                <a:solidFill>
                  <a:schemeClr val="accent4"/>
                </a:solidFill>
              </a:rPr>
              <a:t>whole notebook run</a:t>
            </a:r>
            <a:endParaRPr lang="en-US" sz="1300" dirty="0"/>
          </a:p>
        </p:txBody>
      </p:sp>
      <p:sp>
        <p:nvSpPr>
          <p:cNvPr id="25" name="Slide Number Placeholder 0"/>
          <p:cNvSpPr>
            <a:spLocks noGrp="1"/>
          </p:cNvSpPr>
          <p:nvPr>
            <p:ph type="sldNum" sz="quarter" idx="4294967295"/>
          </p:nvPr>
        </p:nvSpPr>
        <p:spPr>
          <a:xfrm>
            <a:off x="11091672" y="640080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84048"/>
            <a:ext cx="11094415" cy="256032"/>
          </a:xfrm>
          <a:prstGeom prst="rect">
            <a:avLst/>
          </a:prstGeom>
          <a:noFill/>
          <a:ln/>
        </p:spPr>
        <p:txBody>
          <a:bodyPr wrap="square" lIns="0" tIns="0" rIns="0" bIns="0" rtlCol="0" anchor="t"/>
          <a:lstStyle/>
          <a:p>
            <a:pPr indent="0" marL="0">
              <a:buNone/>
            </a:pPr>
            <a:r>
              <a:rPr lang="en-US" sz="1100" b="1" spc="150" kern="0" dirty="0">
                <a:solidFill>
                  <a:schemeClr val="accent4"/>
                </a:solidFill>
              </a:rPr>
              <a:t>RESULTS</a:t>
            </a:r>
            <a:endParaRPr lang="en-US" sz="1100" dirty="0"/>
          </a:p>
        </p:txBody>
      </p:sp>
      <p:sp>
        <p:nvSpPr>
          <p:cNvPr id="3" name="Text 0"/>
          <p:cNvSpPr/>
          <p:nvPr>
            <p:ph idx="100"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3600" b="1" dirty="0">
                <a:solidFill>
                  <a:schemeClr val="tx1"/>
                </a:solidFill>
              </a:rPr>
              <a:t>Training behaviour</a:t>
            </a:r>
            <a:endParaRPr lang="en-US" sz="3600" dirty="0"/>
          </a:p>
        </p:txBody>
      </p:sp>
      <p:graphicFrame>
        <p:nvGraphicFramePr>
          <p:cNvPr id="5" name="Chart 0" descr=""/>
          <p:cNvGraphicFramePr/>
          <p:nvPr/>
        </p:nvGraphicFramePr>
        <p:xfrm>
          <a:off x="457200" y="1417320"/>
          <a:ext cx="7498080" cy="4480560"/>
        </p:xfrm>
        <a:graphic xmlns:a="http://schemas.openxmlformats.org/drawingml/2006/main">
          <a:graphicData uri="http://schemas.openxmlformats.org/drawingml/2006/chart">
            <c:chart xmlns:c="http://schemas.openxmlformats.org/drawingml/2006/chart" r:id="rId1"/>
          </a:graphicData>
        </a:graphic>
      </p:graphicFrame>
      <p:sp>
        <p:nvSpPr>
          <p:cNvPr id="6" name="rule"/>
          <p:cNvSpPr/>
          <p:nvPr/>
        </p:nvSpPr>
        <p:spPr>
          <a:xfrm>
            <a:off x="8412480" y="1554480"/>
            <a:ext cx="3230575" cy="0"/>
          </a:xfrm>
          <a:prstGeom prst="line">
            <a:avLst/>
          </a:prstGeom>
          <a:noFill/>
          <a:ln w="9525">
            <a:solidFill>
              <a:schemeClr val="tx1"/>
            </a:solidFill>
            <a:prstDash val="solid"/>
          </a:ln>
        </p:spPr>
      </p:sp>
      <p:sp>
        <p:nvSpPr>
          <p:cNvPr id="7" name="Text 3"/>
          <p:cNvSpPr txBox="1"/>
          <p:nvPr/>
        </p:nvSpPr>
        <p:spPr>
          <a:xfrm>
            <a:off x="8412480" y="1664208"/>
            <a:ext cx="3230575" cy="292608"/>
          </a:xfrm>
          <a:prstGeom prst="rect">
            <a:avLst/>
          </a:prstGeom>
          <a:noFill/>
          <a:ln/>
        </p:spPr>
        <p:txBody>
          <a:bodyPr wrap="square" lIns="0" tIns="0" rIns="0" bIns="0" rtlCol="0" anchor="t"/>
          <a:lstStyle/>
          <a:p>
            <a:pPr indent="0" marL="0">
              <a:buNone/>
            </a:pPr>
            <a:r>
              <a:rPr lang="en-US" sz="1500" b="1" dirty="0">
                <a:solidFill>
                  <a:schemeClr val="tx1"/>
                </a:solidFill>
              </a:rPr>
              <a:t>Best epoch 72</a:t>
            </a:r>
            <a:endParaRPr lang="en-US" sz="1500" dirty="0"/>
          </a:p>
        </p:txBody>
      </p:sp>
      <p:sp>
        <p:nvSpPr>
          <p:cNvPr id="8" name="Text 4"/>
          <p:cNvSpPr txBox="1"/>
          <p:nvPr/>
        </p:nvSpPr>
        <p:spPr>
          <a:xfrm>
            <a:off x="8412480" y="1965960"/>
            <a:ext cx="3230575" cy="548640"/>
          </a:xfrm>
          <a:prstGeom prst="rect">
            <a:avLst/>
          </a:prstGeom>
          <a:noFill/>
          <a:ln/>
        </p:spPr>
        <p:txBody>
          <a:bodyPr wrap="square" lIns="0" tIns="0" rIns="0" bIns="0" rtlCol="0" anchor="t"/>
          <a:lstStyle/>
          <a:p>
            <a:pPr indent="0" marL="0">
              <a:buNone/>
            </a:pPr>
            <a:r>
              <a:rPr lang="en-US" sz="1300" dirty="0">
                <a:solidFill>
                  <a:schemeClr val="accent4"/>
                </a:solidFill>
              </a:rPr>
              <a:t>Validation mAP@0.5 0.8692, mAP@0.5:0.95 0.6375</a:t>
            </a:r>
            <a:endParaRPr lang="en-US" sz="1300" dirty="0"/>
          </a:p>
        </p:txBody>
      </p:sp>
      <p:sp>
        <p:nvSpPr>
          <p:cNvPr id="9" name="rule"/>
          <p:cNvSpPr/>
          <p:nvPr/>
        </p:nvSpPr>
        <p:spPr>
          <a:xfrm>
            <a:off x="8412480" y="2633472"/>
            <a:ext cx="3230575" cy="0"/>
          </a:xfrm>
          <a:prstGeom prst="line">
            <a:avLst/>
          </a:prstGeom>
          <a:noFill/>
          <a:ln w="9525">
            <a:solidFill>
              <a:schemeClr val="tx1"/>
            </a:solidFill>
            <a:prstDash val="solid"/>
          </a:ln>
        </p:spPr>
      </p:sp>
      <p:sp>
        <p:nvSpPr>
          <p:cNvPr id="10" name="Text 6"/>
          <p:cNvSpPr txBox="1"/>
          <p:nvPr/>
        </p:nvSpPr>
        <p:spPr>
          <a:xfrm>
            <a:off x="8412480" y="2743200"/>
            <a:ext cx="3230575" cy="292608"/>
          </a:xfrm>
          <a:prstGeom prst="rect">
            <a:avLst/>
          </a:prstGeom>
          <a:noFill/>
          <a:ln/>
        </p:spPr>
        <p:txBody>
          <a:bodyPr wrap="square" lIns="0" tIns="0" rIns="0" bIns="0" rtlCol="0" anchor="t"/>
          <a:lstStyle/>
          <a:p>
            <a:pPr indent="0" marL="0">
              <a:buNone/>
            </a:pPr>
            <a:r>
              <a:rPr lang="en-US" sz="1500" b="1" dirty="0">
                <a:solidFill>
                  <a:schemeClr val="tx1"/>
                </a:solidFill>
              </a:rPr>
              <a:t>Plateau</a:t>
            </a:r>
            <a:endParaRPr lang="en-US" sz="1500" dirty="0"/>
          </a:p>
        </p:txBody>
      </p:sp>
      <p:sp>
        <p:nvSpPr>
          <p:cNvPr id="11" name="Text 7"/>
          <p:cNvSpPr txBox="1"/>
          <p:nvPr/>
        </p:nvSpPr>
        <p:spPr>
          <a:xfrm>
            <a:off x="8412480" y="3044952"/>
            <a:ext cx="3230575" cy="548640"/>
          </a:xfrm>
          <a:prstGeom prst="rect">
            <a:avLst/>
          </a:prstGeom>
          <a:noFill/>
          <a:ln/>
        </p:spPr>
        <p:txBody>
          <a:bodyPr wrap="square" lIns="0" tIns="0" rIns="0" bIns="0" rtlCol="0" anchor="t"/>
          <a:lstStyle/>
          <a:p>
            <a:pPr indent="0" marL="0">
              <a:buNone/>
            </a:pPr>
            <a:r>
              <a:rPr lang="en-US" sz="1300" dirty="0">
                <a:solidFill>
                  <a:schemeClr val="accent4"/>
                </a:solidFill>
              </a:rPr>
              <a:t>From epoch 68, mAP@0.5:0.95 stays within 0.632 to 0.638</a:t>
            </a:r>
            <a:endParaRPr lang="en-US" sz="1300" dirty="0"/>
          </a:p>
        </p:txBody>
      </p:sp>
      <p:sp>
        <p:nvSpPr>
          <p:cNvPr id="12" name="rule"/>
          <p:cNvSpPr/>
          <p:nvPr/>
        </p:nvSpPr>
        <p:spPr>
          <a:xfrm>
            <a:off x="8412480" y="3712464"/>
            <a:ext cx="3230575" cy="0"/>
          </a:xfrm>
          <a:prstGeom prst="line">
            <a:avLst/>
          </a:prstGeom>
          <a:noFill/>
          <a:ln w="9525">
            <a:solidFill>
              <a:schemeClr val="tx1"/>
            </a:solidFill>
            <a:prstDash val="solid"/>
          </a:ln>
        </p:spPr>
      </p:sp>
      <p:sp>
        <p:nvSpPr>
          <p:cNvPr id="13" name="Text 9"/>
          <p:cNvSpPr txBox="1"/>
          <p:nvPr/>
        </p:nvSpPr>
        <p:spPr>
          <a:xfrm>
            <a:off x="8412480" y="3822192"/>
            <a:ext cx="3230575" cy="292608"/>
          </a:xfrm>
          <a:prstGeom prst="rect">
            <a:avLst/>
          </a:prstGeom>
          <a:noFill/>
          <a:ln/>
        </p:spPr>
        <p:txBody>
          <a:bodyPr wrap="square" lIns="0" tIns="0" rIns="0" bIns="0" rtlCol="0" anchor="t"/>
          <a:lstStyle/>
          <a:p>
            <a:pPr indent="0" marL="0">
              <a:buNone/>
            </a:pPr>
            <a:r>
              <a:rPr lang="en-US" sz="1500" b="1" dirty="0">
                <a:solidFill>
                  <a:schemeClr val="tx1"/>
                </a:solidFill>
              </a:rPr>
              <a:t>Epoch 66</a:t>
            </a:r>
            <a:endParaRPr lang="en-US" sz="1500" dirty="0"/>
          </a:p>
        </p:txBody>
      </p:sp>
      <p:sp>
        <p:nvSpPr>
          <p:cNvPr id="14" name="Text 10"/>
          <p:cNvSpPr txBox="1"/>
          <p:nvPr/>
        </p:nvSpPr>
        <p:spPr>
          <a:xfrm>
            <a:off x="8412480" y="4123944"/>
            <a:ext cx="3230575" cy="548640"/>
          </a:xfrm>
          <a:prstGeom prst="rect">
            <a:avLst/>
          </a:prstGeom>
          <a:noFill/>
          <a:ln/>
        </p:spPr>
        <p:txBody>
          <a:bodyPr wrap="square" lIns="0" tIns="0" rIns="0" bIns="0" rtlCol="0" anchor="t"/>
          <a:lstStyle/>
          <a:p>
            <a:pPr indent="0" marL="0">
              <a:buNone/>
            </a:pPr>
            <a:r>
              <a:rPr lang="en-US" sz="1300" dirty="0">
                <a:solidFill>
                  <a:schemeClr val="accent4"/>
                </a:solidFill>
              </a:rPr>
              <a:t>Training losses step down when mosaic is switched off</a:t>
            </a:r>
            <a:endParaRPr lang="en-US" sz="1300" dirty="0"/>
          </a:p>
        </p:txBody>
      </p:sp>
      <p:sp>
        <p:nvSpPr>
          <p:cNvPr id="15" name="rule"/>
          <p:cNvSpPr/>
          <p:nvPr/>
        </p:nvSpPr>
        <p:spPr>
          <a:xfrm>
            <a:off x="8412480" y="4791456"/>
            <a:ext cx="3230575" cy="0"/>
          </a:xfrm>
          <a:prstGeom prst="line">
            <a:avLst/>
          </a:prstGeom>
          <a:noFill/>
          <a:ln w="9525">
            <a:solidFill>
              <a:schemeClr val="tx1"/>
            </a:solidFill>
            <a:prstDash val="solid"/>
          </a:ln>
        </p:spPr>
      </p:sp>
      <p:sp>
        <p:nvSpPr>
          <p:cNvPr id="16" name="Text 12"/>
          <p:cNvSpPr txBox="1"/>
          <p:nvPr/>
        </p:nvSpPr>
        <p:spPr>
          <a:xfrm>
            <a:off x="8412480" y="4901184"/>
            <a:ext cx="3230575" cy="292608"/>
          </a:xfrm>
          <a:prstGeom prst="rect">
            <a:avLst/>
          </a:prstGeom>
          <a:noFill/>
          <a:ln/>
        </p:spPr>
        <p:txBody>
          <a:bodyPr wrap="square" lIns="0" tIns="0" rIns="0" bIns="0" rtlCol="0" anchor="t"/>
          <a:lstStyle/>
          <a:p>
            <a:pPr indent="0" marL="0">
              <a:buNone/>
            </a:pPr>
            <a:r>
              <a:rPr lang="en-US" sz="1500" b="1" dirty="0">
                <a:solidFill>
                  <a:schemeClr val="tx1"/>
                </a:solidFill>
              </a:rPr>
              <a:t>Schedule</a:t>
            </a:r>
            <a:endParaRPr lang="en-US" sz="1500" dirty="0"/>
          </a:p>
        </p:txBody>
      </p:sp>
      <p:sp>
        <p:nvSpPr>
          <p:cNvPr id="17" name="Text 13"/>
          <p:cNvSpPr txBox="1"/>
          <p:nvPr/>
        </p:nvSpPr>
        <p:spPr>
          <a:xfrm>
            <a:off x="8412480" y="5202936"/>
            <a:ext cx="3230575" cy="548640"/>
          </a:xfrm>
          <a:prstGeom prst="rect">
            <a:avLst/>
          </a:prstGeom>
          <a:noFill/>
          <a:ln/>
        </p:spPr>
        <p:txBody>
          <a:bodyPr wrap="square" lIns="0" tIns="0" rIns="0" bIns="0" rtlCol="0" anchor="t"/>
          <a:lstStyle/>
          <a:p>
            <a:pPr indent="0" marL="0">
              <a:buNone/>
            </a:pPr>
            <a:r>
              <a:rPr lang="en-US" sz="1300" dirty="0">
                <a:solidFill>
                  <a:schemeClr val="accent4"/>
                </a:solidFill>
              </a:rPr>
              <a:t>Cosine decay to a learning rate of 1.04 × 10⁻⁴</a:t>
            </a:r>
            <a:endParaRPr lang="en-US" sz="1300" dirty="0"/>
          </a:p>
        </p:txBody>
      </p:sp>
      <p:sp>
        <p:nvSpPr>
          <p:cNvPr id="18" name="Text 14"/>
          <p:cNvSpPr txBox="1"/>
          <p:nvPr/>
        </p:nvSpPr>
        <p:spPr>
          <a:xfrm>
            <a:off x="548640" y="6053328"/>
            <a:ext cx="11094415" cy="228600"/>
          </a:xfrm>
          <a:prstGeom prst="rect">
            <a:avLst/>
          </a:prstGeom>
          <a:noFill/>
          <a:ln/>
        </p:spPr>
        <p:txBody>
          <a:bodyPr wrap="square" lIns="0" tIns="0" rIns="0" bIns="0" rtlCol="0" anchor="t"/>
          <a:lstStyle/>
          <a:p>
            <a:pPr indent="0" marL="0">
              <a:buNone/>
            </a:pPr>
            <a:r>
              <a:rPr lang="en-US" sz="1000" dirty="0">
                <a:solidFill>
                  <a:schemeClr val="accent4"/>
                </a:solidFill>
              </a:rPr>
              <a:t>Source: Backend/output/metrics/results.csv. Loss curves: Backend/output/plots/training_curves.png.</a:t>
            </a:r>
            <a:endParaRPr lang="en-US" sz="1000" dirty="0"/>
          </a:p>
        </p:txBody>
      </p:sp>
      <p:sp>
        <p:nvSpPr>
          <p:cNvPr id="25" name="Slide Number Placeholder 0"/>
          <p:cNvSpPr>
            <a:spLocks noGrp="1"/>
          </p:cNvSpPr>
          <p:nvPr>
            <p:ph type="sldNum" sz="quarter" idx="4294967295"/>
          </p:nvPr>
        </p:nvSpPr>
        <p:spPr>
          <a:xfrm>
            <a:off x="11091672" y="640080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84048"/>
            <a:ext cx="11094415" cy="256032"/>
          </a:xfrm>
          <a:prstGeom prst="rect">
            <a:avLst/>
          </a:prstGeom>
          <a:noFill/>
          <a:ln/>
        </p:spPr>
        <p:txBody>
          <a:bodyPr wrap="square" lIns="0" tIns="0" rIns="0" bIns="0" rtlCol="0" anchor="t"/>
          <a:lstStyle/>
          <a:p>
            <a:pPr indent="0" marL="0">
              <a:buNone/>
            </a:pPr>
            <a:r>
              <a:rPr lang="en-US" sz="1100" b="1" spc="150" kern="0" dirty="0">
                <a:solidFill>
                  <a:schemeClr val="accent4"/>
                </a:solidFill>
              </a:rPr>
              <a:t>RESULTS</a:t>
            </a:r>
            <a:endParaRPr lang="en-US" sz="1100" dirty="0"/>
          </a:p>
        </p:txBody>
      </p:sp>
      <p:sp>
        <p:nvSpPr>
          <p:cNvPr id="3" name="Text 0"/>
          <p:cNvSpPr/>
          <p:nvPr>
            <p:ph idx="100"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3600" b="1" dirty="0">
                <a:solidFill>
                  <a:schemeClr val="tx1"/>
                </a:solidFill>
              </a:rPr>
              <a:t>Accuracy on the held-out test split</a:t>
            </a:r>
            <a:endParaRPr lang="en-US" sz="3600" dirty="0"/>
          </a:p>
        </p:txBody>
      </p:sp>
      <p:sp>
        <p:nvSpPr>
          <p:cNvPr id="5" name="rule"/>
          <p:cNvSpPr/>
          <p:nvPr/>
        </p:nvSpPr>
        <p:spPr>
          <a:xfrm>
            <a:off x="548640" y="1554480"/>
            <a:ext cx="1999427" cy="0"/>
          </a:xfrm>
          <a:prstGeom prst="line">
            <a:avLst/>
          </a:prstGeom>
          <a:noFill/>
          <a:ln w="9525">
            <a:solidFill>
              <a:schemeClr val="tx1"/>
            </a:solidFill>
            <a:prstDash val="solid"/>
          </a:ln>
        </p:spPr>
      </p:sp>
      <p:sp>
        <p:nvSpPr>
          <p:cNvPr id="6" name="Text 3"/>
          <p:cNvSpPr txBox="1"/>
          <p:nvPr/>
        </p:nvSpPr>
        <p:spPr>
          <a:xfrm>
            <a:off x="548640" y="1664208"/>
            <a:ext cx="1999427" cy="566928"/>
          </a:xfrm>
          <a:prstGeom prst="rect">
            <a:avLst/>
          </a:prstGeom>
          <a:noFill/>
          <a:ln/>
        </p:spPr>
        <p:txBody>
          <a:bodyPr wrap="square" lIns="0" tIns="0" rIns="0" bIns="0" rtlCol="0" anchor="t"/>
          <a:lstStyle/>
          <a:p>
            <a:pPr indent="0" marL="0">
              <a:buNone/>
            </a:pPr>
            <a:r>
              <a:rPr lang="en-US" sz="3200" b="1" dirty="0">
                <a:solidFill>
                  <a:schemeClr val="accent5"/>
                </a:solidFill>
              </a:rPr>
              <a:t>0.8659</a:t>
            </a:r>
            <a:endParaRPr lang="en-US" sz="3200" dirty="0"/>
          </a:p>
        </p:txBody>
      </p:sp>
      <p:sp>
        <p:nvSpPr>
          <p:cNvPr id="7" name="Text 4"/>
          <p:cNvSpPr txBox="1"/>
          <p:nvPr/>
        </p:nvSpPr>
        <p:spPr>
          <a:xfrm>
            <a:off x="548640" y="2249424"/>
            <a:ext cx="1999427" cy="457200"/>
          </a:xfrm>
          <a:prstGeom prst="rect">
            <a:avLst/>
          </a:prstGeom>
          <a:noFill/>
          <a:ln/>
        </p:spPr>
        <p:txBody>
          <a:bodyPr wrap="square" lIns="0" tIns="0" rIns="0" bIns="0" rtlCol="0" anchor="t"/>
          <a:lstStyle/>
          <a:p>
            <a:pPr indent="0" marL="0">
              <a:buNone/>
            </a:pPr>
            <a:r>
              <a:rPr lang="en-US" sz="1300" dirty="0">
                <a:solidFill>
                  <a:schemeClr val="accent4"/>
                </a:solidFill>
              </a:rPr>
              <a:t>mAP@0.5</a:t>
            </a:r>
            <a:endParaRPr lang="en-US" sz="1300" dirty="0"/>
          </a:p>
        </p:txBody>
      </p:sp>
      <p:sp>
        <p:nvSpPr>
          <p:cNvPr id="8" name="rule"/>
          <p:cNvSpPr/>
          <p:nvPr/>
        </p:nvSpPr>
        <p:spPr>
          <a:xfrm>
            <a:off x="2822387" y="1554480"/>
            <a:ext cx="1999427" cy="0"/>
          </a:xfrm>
          <a:prstGeom prst="line">
            <a:avLst/>
          </a:prstGeom>
          <a:noFill/>
          <a:ln w="9525">
            <a:solidFill>
              <a:schemeClr val="tx1"/>
            </a:solidFill>
            <a:prstDash val="solid"/>
          </a:ln>
        </p:spPr>
      </p:sp>
      <p:sp>
        <p:nvSpPr>
          <p:cNvPr id="9" name="Text 6"/>
          <p:cNvSpPr txBox="1"/>
          <p:nvPr/>
        </p:nvSpPr>
        <p:spPr>
          <a:xfrm>
            <a:off x="2822387" y="1664208"/>
            <a:ext cx="1999427" cy="566928"/>
          </a:xfrm>
          <a:prstGeom prst="rect">
            <a:avLst/>
          </a:prstGeom>
          <a:noFill/>
          <a:ln/>
        </p:spPr>
        <p:txBody>
          <a:bodyPr wrap="square" lIns="0" tIns="0" rIns="0" bIns="0" rtlCol="0" anchor="t"/>
          <a:lstStyle/>
          <a:p>
            <a:pPr indent="0" marL="0">
              <a:buNone/>
            </a:pPr>
            <a:r>
              <a:rPr lang="en-US" sz="3200" b="1" dirty="0">
                <a:solidFill>
                  <a:schemeClr val="tx1"/>
                </a:solidFill>
              </a:rPr>
              <a:t>0.6158</a:t>
            </a:r>
            <a:endParaRPr lang="en-US" sz="3200" dirty="0"/>
          </a:p>
        </p:txBody>
      </p:sp>
      <p:sp>
        <p:nvSpPr>
          <p:cNvPr id="10" name="Text 7"/>
          <p:cNvSpPr txBox="1"/>
          <p:nvPr/>
        </p:nvSpPr>
        <p:spPr>
          <a:xfrm>
            <a:off x="2822387" y="2249424"/>
            <a:ext cx="1999427" cy="457200"/>
          </a:xfrm>
          <a:prstGeom prst="rect">
            <a:avLst/>
          </a:prstGeom>
          <a:noFill/>
          <a:ln/>
        </p:spPr>
        <p:txBody>
          <a:bodyPr wrap="square" lIns="0" tIns="0" rIns="0" bIns="0" rtlCol="0" anchor="t"/>
          <a:lstStyle/>
          <a:p>
            <a:pPr indent="0" marL="0">
              <a:buNone/>
            </a:pPr>
            <a:r>
              <a:rPr lang="en-US" sz="1300" dirty="0">
                <a:solidFill>
                  <a:schemeClr val="accent4"/>
                </a:solidFill>
              </a:rPr>
              <a:t>mAP@0.5:0.95</a:t>
            </a:r>
            <a:endParaRPr lang="en-US" sz="1300" dirty="0"/>
          </a:p>
        </p:txBody>
      </p:sp>
      <p:sp>
        <p:nvSpPr>
          <p:cNvPr id="11" name="rule"/>
          <p:cNvSpPr/>
          <p:nvPr/>
        </p:nvSpPr>
        <p:spPr>
          <a:xfrm>
            <a:off x="5096134" y="1554480"/>
            <a:ext cx="1999427" cy="0"/>
          </a:xfrm>
          <a:prstGeom prst="line">
            <a:avLst/>
          </a:prstGeom>
          <a:noFill/>
          <a:ln w="9525">
            <a:solidFill>
              <a:schemeClr val="tx1"/>
            </a:solidFill>
            <a:prstDash val="solid"/>
          </a:ln>
        </p:spPr>
      </p:sp>
      <p:sp>
        <p:nvSpPr>
          <p:cNvPr id="12" name="Text 9"/>
          <p:cNvSpPr txBox="1"/>
          <p:nvPr/>
        </p:nvSpPr>
        <p:spPr>
          <a:xfrm>
            <a:off x="5096134" y="1664208"/>
            <a:ext cx="1999427" cy="566928"/>
          </a:xfrm>
          <a:prstGeom prst="rect">
            <a:avLst/>
          </a:prstGeom>
          <a:noFill/>
          <a:ln/>
        </p:spPr>
        <p:txBody>
          <a:bodyPr wrap="square" lIns="0" tIns="0" rIns="0" bIns="0" rtlCol="0" anchor="t"/>
          <a:lstStyle/>
          <a:p>
            <a:pPr indent="0" marL="0">
              <a:buNone/>
            </a:pPr>
            <a:r>
              <a:rPr lang="en-US" sz="3200" b="1" dirty="0">
                <a:solidFill>
                  <a:schemeClr val="tx1"/>
                </a:solidFill>
              </a:rPr>
              <a:t>0.9135</a:t>
            </a:r>
            <a:endParaRPr lang="en-US" sz="3200" dirty="0"/>
          </a:p>
        </p:txBody>
      </p:sp>
      <p:sp>
        <p:nvSpPr>
          <p:cNvPr id="13" name="Text 10"/>
          <p:cNvSpPr txBox="1"/>
          <p:nvPr/>
        </p:nvSpPr>
        <p:spPr>
          <a:xfrm>
            <a:off x="5096134" y="2249424"/>
            <a:ext cx="1999427" cy="457200"/>
          </a:xfrm>
          <a:prstGeom prst="rect">
            <a:avLst/>
          </a:prstGeom>
          <a:noFill/>
          <a:ln/>
        </p:spPr>
        <p:txBody>
          <a:bodyPr wrap="square" lIns="0" tIns="0" rIns="0" bIns="0" rtlCol="0" anchor="t"/>
          <a:lstStyle/>
          <a:p>
            <a:pPr indent="0" marL="0">
              <a:buNone/>
            </a:pPr>
            <a:r>
              <a:rPr lang="en-US" sz="1300" dirty="0">
                <a:solidFill>
                  <a:schemeClr val="accent4"/>
                </a:solidFill>
              </a:rPr>
              <a:t>precision</a:t>
            </a:r>
            <a:endParaRPr lang="en-US" sz="1300" dirty="0"/>
          </a:p>
        </p:txBody>
      </p:sp>
      <p:sp>
        <p:nvSpPr>
          <p:cNvPr id="14" name="rule"/>
          <p:cNvSpPr/>
          <p:nvPr/>
        </p:nvSpPr>
        <p:spPr>
          <a:xfrm>
            <a:off x="7369881" y="1554480"/>
            <a:ext cx="1999427" cy="0"/>
          </a:xfrm>
          <a:prstGeom prst="line">
            <a:avLst/>
          </a:prstGeom>
          <a:noFill/>
          <a:ln w="9525">
            <a:solidFill>
              <a:schemeClr val="tx1"/>
            </a:solidFill>
            <a:prstDash val="solid"/>
          </a:ln>
        </p:spPr>
      </p:sp>
      <p:sp>
        <p:nvSpPr>
          <p:cNvPr id="15" name="Text 12"/>
          <p:cNvSpPr txBox="1"/>
          <p:nvPr/>
        </p:nvSpPr>
        <p:spPr>
          <a:xfrm>
            <a:off x="7369881" y="1664208"/>
            <a:ext cx="1999427" cy="566928"/>
          </a:xfrm>
          <a:prstGeom prst="rect">
            <a:avLst/>
          </a:prstGeom>
          <a:noFill/>
          <a:ln/>
        </p:spPr>
        <p:txBody>
          <a:bodyPr wrap="square" lIns="0" tIns="0" rIns="0" bIns="0" rtlCol="0" anchor="t"/>
          <a:lstStyle/>
          <a:p>
            <a:pPr indent="0" marL="0">
              <a:buNone/>
            </a:pPr>
            <a:r>
              <a:rPr lang="en-US" sz="3200" b="1" dirty="0">
                <a:solidFill>
                  <a:schemeClr val="tx1"/>
                </a:solidFill>
              </a:rPr>
              <a:t>0.8053</a:t>
            </a:r>
            <a:endParaRPr lang="en-US" sz="3200" dirty="0"/>
          </a:p>
        </p:txBody>
      </p:sp>
      <p:sp>
        <p:nvSpPr>
          <p:cNvPr id="16" name="Text 13"/>
          <p:cNvSpPr txBox="1"/>
          <p:nvPr/>
        </p:nvSpPr>
        <p:spPr>
          <a:xfrm>
            <a:off x="7369881" y="2249424"/>
            <a:ext cx="1999427" cy="457200"/>
          </a:xfrm>
          <a:prstGeom prst="rect">
            <a:avLst/>
          </a:prstGeom>
          <a:noFill/>
          <a:ln/>
        </p:spPr>
        <p:txBody>
          <a:bodyPr wrap="square" lIns="0" tIns="0" rIns="0" bIns="0" rtlCol="0" anchor="t"/>
          <a:lstStyle/>
          <a:p>
            <a:pPr indent="0" marL="0">
              <a:buNone/>
            </a:pPr>
            <a:r>
              <a:rPr lang="en-US" sz="1300" dirty="0">
                <a:solidFill>
                  <a:schemeClr val="accent4"/>
                </a:solidFill>
              </a:rPr>
              <a:t>recall</a:t>
            </a:r>
            <a:endParaRPr lang="en-US" sz="1300" dirty="0"/>
          </a:p>
        </p:txBody>
      </p:sp>
      <p:sp>
        <p:nvSpPr>
          <p:cNvPr id="17" name="rule"/>
          <p:cNvSpPr/>
          <p:nvPr/>
        </p:nvSpPr>
        <p:spPr>
          <a:xfrm>
            <a:off x="9643628" y="1554480"/>
            <a:ext cx="1999427" cy="0"/>
          </a:xfrm>
          <a:prstGeom prst="line">
            <a:avLst/>
          </a:prstGeom>
          <a:noFill/>
          <a:ln w="9525">
            <a:solidFill>
              <a:schemeClr val="tx1"/>
            </a:solidFill>
            <a:prstDash val="solid"/>
          </a:ln>
        </p:spPr>
      </p:sp>
      <p:sp>
        <p:nvSpPr>
          <p:cNvPr id="18" name="Text 15"/>
          <p:cNvSpPr txBox="1"/>
          <p:nvPr/>
        </p:nvSpPr>
        <p:spPr>
          <a:xfrm>
            <a:off x="9643628" y="1664208"/>
            <a:ext cx="1999427" cy="566928"/>
          </a:xfrm>
          <a:prstGeom prst="rect">
            <a:avLst/>
          </a:prstGeom>
          <a:noFill/>
          <a:ln/>
        </p:spPr>
        <p:txBody>
          <a:bodyPr wrap="square" lIns="0" tIns="0" rIns="0" bIns="0" rtlCol="0" anchor="t"/>
          <a:lstStyle/>
          <a:p>
            <a:pPr indent="0" marL="0">
              <a:buNone/>
            </a:pPr>
            <a:r>
              <a:rPr lang="en-US" sz="3200" b="1" dirty="0">
                <a:solidFill>
                  <a:schemeClr val="tx1"/>
                </a:solidFill>
              </a:rPr>
              <a:t>31.3 ms</a:t>
            </a:r>
            <a:endParaRPr lang="en-US" sz="3200" dirty="0"/>
          </a:p>
        </p:txBody>
      </p:sp>
      <p:sp>
        <p:nvSpPr>
          <p:cNvPr id="19" name="Text 16"/>
          <p:cNvSpPr txBox="1"/>
          <p:nvPr/>
        </p:nvSpPr>
        <p:spPr>
          <a:xfrm>
            <a:off x="9643628" y="2249424"/>
            <a:ext cx="1999427" cy="457200"/>
          </a:xfrm>
          <a:prstGeom prst="rect">
            <a:avLst/>
          </a:prstGeom>
          <a:noFill/>
          <a:ln/>
        </p:spPr>
        <p:txBody>
          <a:bodyPr wrap="square" lIns="0" tIns="0" rIns="0" bIns="0" rtlCol="0" anchor="t"/>
          <a:lstStyle/>
          <a:p>
            <a:pPr indent="0" marL="0">
              <a:buNone/>
            </a:pPr>
            <a:r>
              <a:rPr lang="en-US" sz="1300" dirty="0">
                <a:solidFill>
                  <a:schemeClr val="accent4"/>
                </a:solidFill>
              </a:rPr>
              <a:t>per image on one T4</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2926080"/>
          <a:ext cx="11094415" cy="914400"/>
        </p:xfrm>
        <a:graphic>
          <a:graphicData uri="http://schemas.openxmlformats.org/drawingml/2006/table">
            <a:tbl>
              <a:tblPr/>
              <a:tblGrid>
                <a:gridCol w="2316175"/>
                <a:gridCol w="1463040"/>
                <a:gridCol w="1645920"/>
                <a:gridCol w="1463040"/>
                <a:gridCol w="1463040"/>
                <a:gridCol w="1280160"/>
                <a:gridCol w="1463040"/>
              </a:tblGrid>
              <a:tr h="402336">
                <a:tc>
                  <a:txBody>
                    <a:bodyPr/>
                    <a:lstStyle/>
                    <a:p>
                      <a:pPr algn="l" indent="0" marL="0">
                        <a:buNone/>
                      </a:pPr>
                      <a:r>
                        <a:rPr lang="en-US" sz="1400" b="1" dirty="0">
                          <a:solidFill>
                            <a:schemeClr val="bg1"/>
                          </a:solidFill>
                        </a:rPr>
                        <a:t>Split</a:t>
                      </a:r>
                      <a:endParaRPr lang="en-US" sz="1400" dirty="0"/>
                    </a:p>
                  </a:txBody>
                  <a:tcPr marL="76200" marR="76200" marT="25400" marB="25400" anchor="ctr">
                    <a:lnL w="0" cap="flat" cmpd="sng" algn="ctr">
                      <a:noFill/>
                    </a:lnL>
                    <a:lnR w="0" cap="flat" cmpd="sng" algn="ctr">
                      <a:noFill/>
                    </a:lnR>
                    <a:lnT w="0" cap="flat" cmpd="sng" algn="ctr">
                      <a:noFill/>
                    </a:lnT>
                    <a:lnB w="0" cap="flat" cmpd="sng" algn="ctr">
                      <a:noFill/>
                    </a:lnB>
                    <a:solidFill>
                      <a:schemeClr val="tx1"/>
                    </a:solidFill>
                  </a:tcPr>
                </a:tc>
                <a:tc>
                  <a:txBody>
                    <a:bodyPr/>
                    <a:lstStyle/>
                    <a:p>
                      <a:pPr algn="r" indent="0" marL="0">
                        <a:buNone/>
                      </a:pPr>
                      <a:r>
                        <a:rPr lang="en-US" sz="1400" b="1" dirty="0">
                          <a:solidFill>
                            <a:schemeClr val="bg1"/>
                          </a:solidFill>
                        </a:rPr>
                        <a:t>mAP@0.5</a:t>
                      </a:r>
                      <a:endParaRPr lang="en-US" sz="1400" dirty="0"/>
                    </a:p>
                  </a:txBody>
                  <a:tcPr marL="76200" marR="76200" marT="25400" marB="25400" anchor="ctr">
                    <a:lnL w="0" cap="flat" cmpd="sng" algn="ctr">
                      <a:noFill/>
                    </a:lnL>
                    <a:lnR w="0" cap="flat" cmpd="sng" algn="ctr">
                      <a:noFill/>
                    </a:lnR>
                    <a:lnT w="0" cap="flat" cmpd="sng" algn="ctr">
                      <a:noFill/>
                    </a:lnT>
                    <a:lnB w="0" cap="flat" cmpd="sng" algn="ctr">
                      <a:noFill/>
                    </a:lnB>
                    <a:solidFill>
                      <a:schemeClr val="tx1"/>
                    </a:solidFill>
                  </a:tcPr>
                </a:tc>
                <a:tc>
                  <a:txBody>
                    <a:bodyPr/>
                    <a:lstStyle/>
                    <a:p>
                      <a:pPr algn="r" indent="0" marL="0">
                        <a:buNone/>
                      </a:pPr>
                      <a:r>
                        <a:rPr lang="en-US" sz="1400" b="1" dirty="0">
                          <a:solidFill>
                            <a:schemeClr val="bg1"/>
                          </a:solidFill>
                        </a:rPr>
                        <a:t>mAP@0.5:0.95</a:t>
                      </a:r>
                      <a:endParaRPr lang="en-US" sz="1400" dirty="0"/>
                    </a:p>
                  </a:txBody>
                  <a:tcPr marL="76200" marR="76200" marT="25400" marB="25400" anchor="ctr">
                    <a:lnL w="0" cap="flat" cmpd="sng" algn="ctr">
                      <a:noFill/>
                    </a:lnL>
                    <a:lnR w="0" cap="flat" cmpd="sng" algn="ctr">
                      <a:noFill/>
                    </a:lnR>
                    <a:lnT w="0" cap="flat" cmpd="sng" algn="ctr">
                      <a:noFill/>
                    </a:lnT>
                    <a:lnB w="0" cap="flat" cmpd="sng" algn="ctr">
                      <a:noFill/>
                    </a:lnB>
                    <a:solidFill>
                      <a:schemeClr val="tx1"/>
                    </a:solidFill>
                  </a:tcPr>
                </a:tc>
                <a:tc>
                  <a:txBody>
                    <a:bodyPr/>
                    <a:lstStyle/>
                    <a:p>
                      <a:pPr algn="r" indent="0" marL="0">
                        <a:buNone/>
                      </a:pPr>
                      <a:r>
                        <a:rPr lang="en-US" sz="1400" b="1" dirty="0">
                          <a:solidFill>
                            <a:schemeClr val="bg1"/>
                          </a:solidFill>
                        </a:rPr>
                        <a:t>Precision</a:t>
                      </a:r>
                      <a:endParaRPr lang="en-US" sz="1400" dirty="0"/>
                    </a:p>
                  </a:txBody>
                  <a:tcPr marL="76200" marR="76200" marT="25400" marB="25400" anchor="ctr">
                    <a:lnL w="0" cap="flat" cmpd="sng" algn="ctr">
                      <a:noFill/>
                    </a:lnL>
                    <a:lnR w="0" cap="flat" cmpd="sng" algn="ctr">
                      <a:noFill/>
                    </a:lnR>
                    <a:lnT w="0" cap="flat" cmpd="sng" algn="ctr">
                      <a:noFill/>
                    </a:lnT>
                    <a:lnB w="0" cap="flat" cmpd="sng" algn="ctr">
                      <a:noFill/>
                    </a:lnB>
                    <a:solidFill>
                      <a:schemeClr val="tx1"/>
                    </a:solidFill>
                  </a:tcPr>
                </a:tc>
                <a:tc>
                  <a:txBody>
                    <a:bodyPr/>
                    <a:lstStyle/>
                    <a:p>
                      <a:pPr algn="r" indent="0" marL="0">
                        <a:buNone/>
                      </a:pPr>
                      <a:r>
                        <a:rPr lang="en-US" sz="1400" b="1" dirty="0">
                          <a:solidFill>
                            <a:schemeClr val="bg1"/>
                          </a:solidFill>
                        </a:rPr>
                        <a:t>Recall</a:t>
                      </a:r>
                      <a:endParaRPr lang="en-US" sz="1400" dirty="0"/>
                    </a:p>
                  </a:txBody>
                  <a:tcPr marL="76200" marR="76200" marT="25400" marB="25400" anchor="ctr">
                    <a:lnL w="0" cap="flat" cmpd="sng" algn="ctr">
                      <a:noFill/>
                    </a:lnL>
                    <a:lnR w="0" cap="flat" cmpd="sng" algn="ctr">
                      <a:noFill/>
                    </a:lnR>
                    <a:lnT w="0" cap="flat" cmpd="sng" algn="ctr">
                      <a:noFill/>
                    </a:lnT>
                    <a:lnB w="0" cap="flat" cmpd="sng" algn="ctr">
                      <a:noFill/>
                    </a:lnB>
                    <a:solidFill>
                      <a:schemeClr val="tx1"/>
                    </a:solidFill>
                  </a:tcPr>
                </a:tc>
                <a:tc>
                  <a:txBody>
                    <a:bodyPr/>
                    <a:lstStyle/>
                    <a:p>
                      <a:pPr algn="r" indent="0" marL="0">
                        <a:buNone/>
                      </a:pPr>
                      <a:r>
                        <a:rPr lang="en-US" sz="1400" b="1" dirty="0">
                          <a:solidFill>
                            <a:schemeClr val="bg1"/>
                          </a:solidFill>
                        </a:rPr>
                        <a:t>F1</a:t>
                      </a:r>
                      <a:endParaRPr lang="en-US" sz="1400" dirty="0"/>
                    </a:p>
                  </a:txBody>
                  <a:tcPr marL="76200" marR="76200" marT="25400" marB="25400" anchor="ctr">
                    <a:lnL w="0" cap="flat" cmpd="sng" algn="ctr">
                      <a:noFill/>
                    </a:lnL>
                    <a:lnR w="0" cap="flat" cmpd="sng" algn="ctr">
                      <a:noFill/>
                    </a:lnR>
                    <a:lnT w="0" cap="flat" cmpd="sng" algn="ctr">
                      <a:noFill/>
                    </a:lnT>
                    <a:lnB w="0" cap="flat" cmpd="sng" algn="ctr">
                      <a:noFill/>
                    </a:lnB>
                    <a:solidFill>
                      <a:schemeClr val="tx1"/>
                    </a:solidFill>
                  </a:tcPr>
                </a:tc>
                <a:tc>
                  <a:txBody>
                    <a:bodyPr/>
                    <a:lstStyle/>
                    <a:p>
                      <a:pPr algn="r" indent="0" marL="0">
                        <a:buNone/>
                      </a:pPr>
                      <a:r>
                        <a:rPr lang="en-US" sz="1400" b="1" dirty="0">
                          <a:solidFill>
                            <a:schemeClr val="bg1"/>
                          </a:solidFill>
                        </a:rPr>
                        <a:t>ms per image</a:t>
                      </a:r>
                      <a:endParaRPr lang="en-US" sz="1400" dirty="0"/>
                    </a:p>
                  </a:txBody>
                  <a:tcPr marL="76200" marR="76200" marT="25400" marB="25400" anchor="ctr">
                    <a:lnL w="0" cap="flat" cmpd="sng" algn="ctr">
                      <a:noFill/>
                    </a:lnL>
                    <a:lnR w="0" cap="flat" cmpd="sng" algn="ctr">
                      <a:noFill/>
                    </a:lnR>
                    <a:lnT w="0" cap="flat" cmpd="sng" algn="ctr">
                      <a:noFill/>
                    </a:lnT>
                    <a:lnB w="0" cap="flat" cmpd="sng" algn="ctr">
                      <a:noFill/>
                    </a:lnB>
                    <a:solidFill>
                      <a:schemeClr val="tx1"/>
                    </a:solidFill>
                  </a:tcPr>
                </a:tc>
              </a:tr>
              <a:tr h="402336">
                <a:tc>
                  <a:txBody>
                    <a:bodyPr/>
                    <a:lstStyle/>
                    <a:p>
                      <a:pPr indent="0" marL="0">
                        <a:buNone/>
                      </a:pPr>
                      <a:r>
                        <a:rPr lang="en-US" sz="1400" dirty="0">
                          <a:solidFill>
                            <a:schemeClr val="tx1"/>
                          </a:solidFill>
                        </a:rPr>
                        <a:t>Validation</a:t>
                      </a:r>
                      <a:endParaRPr lang="en-US" sz="14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algn="r" indent="0" marL="0">
                        <a:buNone/>
                      </a:pPr>
                      <a:r>
                        <a:rPr lang="en-US" sz="1400" dirty="0">
                          <a:solidFill>
                            <a:schemeClr val="tx1"/>
                          </a:solidFill>
                        </a:rPr>
                        <a:t>0.8679</a:t>
                      </a:r>
                      <a:endParaRPr lang="en-US" sz="14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algn="r" indent="0" marL="0">
                        <a:buNone/>
                      </a:pPr>
                      <a:r>
                        <a:rPr lang="en-US" sz="1400" dirty="0">
                          <a:solidFill>
                            <a:schemeClr val="tx1"/>
                          </a:solidFill>
                        </a:rPr>
                        <a:t>0.6368</a:t>
                      </a:r>
                      <a:endParaRPr lang="en-US" sz="14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algn="r" indent="0" marL="0">
                        <a:buNone/>
                      </a:pPr>
                      <a:r>
                        <a:rPr lang="en-US" sz="1400" dirty="0">
                          <a:solidFill>
                            <a:schemeClr val="tx1"/>
                          </a:solidFill>
                        </a:rPr>
                        <a:t>0.9236</a:t>
                      </a:r>
                      <a:endParaRPr lang="en-US" sz="14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algn="r" indent="0" marL="0">
                        <a:buNone/>
                      </a:pPr>
                      <a:r>
                        <a:rPr lang="en-US" sz="1400" dirty="0">
                          <a:solidFill>
                            <a:schemeClr val="tx1"/>
                          </a:solidFill>
                        </a:rPr>
                        <a:t>0.8084</a:t>
                      </a:r>
                      <a:endParaRPr lang="en-US" sz="14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algn="r" indent="0" marL="0">
                        <a:buNone/>
                      </a:pPr>
                      <a:r>
                        <a:rPr lang="en-US" sz="1400" dirty="0">
                          <a:solidFill>
                            <a:schemeClr val="tx1"/>
                          </a:solidFill>
                        </a:rPr>
                        <a:t>0.8621</a:t>
                      </a:r>
                      <a:endParaRPr lang="en-US" sz="14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algn="r" indent="0" marL="0">
                        <a:buNone/>
                      </a:pPr>
                      <a:r>
                        <a:rPr lang="en-US" sz="1400" dirty="0">
                          <a:solidFill>
                            <a:schemeClr val="tx1"/>
                          </a:solidFill>
                        </a:rPr>
                        <a:t>32.79</a:t>
                      </a:r>
                      <a:endParaRPr lang="en-US" sz="14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r>
              <a:tr h="402336">
                <a:tc>
                  <a:txBody>
                    <a:bodyPr/>
                    <a:lstStyle/>
                    <a:p>
                      <a:pPr indent="0" marL="0">
                        <a:buNone/>
                      </a:pPr>
                      <a:r>
                        <a:rPr lang="en-US" sz="1400" b="1" dirty="0">
                          <a:solidFill>
                            <a:schemeClr val="tx1"/>
                          </a:solidFill>
                        </a:rPr>
                        <a:t>Test</a:t>
                      </a:r>
                      <a:endParaRPr lang="en-US" sz="14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solidFill>
                      <a:srgbClr val="FFF4CC"/>
                    </a:solidFill>
                  </a:tcPr>
                </a:tc>
                <a:tc>
                  <a:txBody>
                    <a:bodyPr/>
                    <a:lstStyle/>
                    <a:p>
                      <a:pPr algn="r" indent="0" marL="0">
                        <a:buNone/>
                      </a:pPr>
                      <a:r>
                        <a:rPr lang="en-US" sz="1400" b="1" dirty="0">
                          <a:solidFill>
                            <a:schemeClr val="tx1"/>
                          </a:solidFill>
                        </a:rPr>
                        <a:t>0.8659</a:t>
                      </a:r>
                      <a:endParaRPr lang="en-US" sz="14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solidFill>
                      <a:srgbClr val="FFF4CC"/>
                    </a:solidFill>
                  </a:tcPr>
                </a:tc>
                <a:tc>
                  <a:txBody>
                    <a:bodyPr/>
                    <a:lstStyle/>
                    <a:p>
                      <a:pPr algn="r" indent="0" marL="0">
                        <a:buNone/>
                      </a:pPr>
                      <a:r>
                        <a:rPr lang="en-US" sz="1400" b="1" dirty="0">
                          <a:solidFill>
                            <a:schemeClr val="tx1"/>
                          </a:solidFill>
                        </a:rPr>
                        <a:t>0.6158</a:t>
                      </a:r>
                      <a:endParaRPr lang="en-US" sz="14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solidFill>
                      <a:srgbClr val="FFF4CC"/>
                    </a:solidFill>
                  </a:tcPr>
                </a:tc>
                <a:tc>
                  <a:txBody>
                    <a:bodyPr/>
                    <a:lstStyle/>
                    <a:p>
                      <a:pPr algn="r" indent="0" marL="0">
                        <a:buNone/>
                      </a:pPr>
                      <a:r>
                        <a:rPr lang="en-US" sz="1400" b="1" dirty="0">
                          <a:solidFill>
                            <a:schemeClr val="tx1"/>
                          </a:solidFill>
                        </a:rPr>
                        <a:t>0.9135</a:t>
                      </a:r>
                      <a:endParaRPr lang="en-US" sz="14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solidFill>
                      <a:srgbClr val="FFF4CC"/>
                    </a:solidFill>
                  </a:tcPr>
                </a:tc>
                <a:tc>
                  <a:txBody>
                    <a:bodyPr/>
                    <a:lstStyle/>
                    <a:p>
                      <a:pPr algn="r" indent="0" marL="0">
                        <a:buNone/>
                      </a:pPr>
                      <a:r>
                        <a:rPr lang="en-US" sz="1400" b="1" dirty="0">
                          <a:solidFill>
                            <a:schemeClr val="tx1"/>
                          </a:solidFill>
                        </a:rPr>
                        <a:t>0.8053</a:t>
                      </a:r>
                      <a:endParaRPr lang="en-US" sz="14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solidFill>
                      <a:srgbClr val="FFF4CC"/>
                    </a:solidFill>
                  </a:tcPr>
                </a:tc>
                <a:tc>
                  <a:txBody>
                    <a:bodyPr/>
                    <a:lstStyle/>
                    <a:p>
                      <a:pPr algn="r" indent="0" marL="0">
                        <a:buNone/>
                      </a:pPr>
                      <a:r>
                        <a:rPr lang="en-US" sz="1400" b="1" dirty="0">
                          <a:solidFill>
                            <a:schemeClr val="tx1"/>
                          </a:solidFill>
                        </a:rPr>
                        <a:t>0.8560</a:t>
                      </a:r>
                      <a:endParaRPr lang="en-US" sz="14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solidFill>
                      <a:srgbClr val="FFF4CC"/>
                    </a:solidFill>
                  </a:tcPr>
                </a:tc>
                <a:tc>
                  <a:txBody>
                    <a:bodyPr/>
                    <a:lstStyle/>
                    <a:p>
                      <a:pPr algn="r" indent="0" marL="0">
                        <a:buNone/>
                      </a:pPr>
                      <a:r>
                        <a:rPr lang="en-US" sz="1400" b="1" dirty="0">
                          <a:solidFill>
                            <a:schemeClr val="tx1"/>
                          </a:solidFill>
                        </a:rPr>
                        <a:t>31.32</a:t>
                      </a:r>
                      <a:endParaRPr lang="en-US" sz="14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solidFill>
                      <a:srgbClr val="FFF4CC"/>
                    </a:solidFill>
                  </a:tcPr>
                </a:tc>
              </a:tr>
              <a:tr h="402336">
                <a:tc>
                  <a:txBody>
                    <a:bodyPr/>
                    <a:lstStyle/>
                    <a:p>
                      <a:pPr indent="0" marL="0">
                        <a:buNone/>
                      </a:pPr>
                      <a:r>
                        <a:rPr lang="en-US" sz="1400" dirty="0">
                          <a:solidFill>
                            <a:schemeClr val="tx1"/>
                          </a:solidFill>
                        </a:rPr>
                        <a:t>Test with TTA</a:t>
                      </a:r>
                      <a:endParaRPr lang="en-US" sz="14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algn="r" indent="0" marL="0">
                        <a:buNone/>
                      </a:pPr>
                      <a:r>
                        <a:rPr lang="en-US" sz="1400" dirty="0">
                          <a:solidFill>
                            <a:schemeClr val="tx1"/>
                          </a:solidFill>
                        </a:rPr>
                        <a:t>0.8603</a:t>
                      </a:r>
                      <a:endParaRPr lang="en-US" sz="14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algn="r" indent="0" marL="0">
                        <a:buNone/>
                      </a:pPr>
                      <a:r>
                        <a:rPr lang="en-US" sz="1400" dirty="0">
                          <a:solidFill>
                            <a:schemeClr val="tx1"/>
                          </a:solidFill>
                        </a:rPr>
                        <a:t>0.6206</a:t>
                      </a:r>
                      <a:endParaRPr lang="en-US" sz="14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algn="r" indent="0" marL="0">
                        <a:buNone/>
                      </a:pPr>
                      <a:r>
                        <a:rPr lang="en-US" sz="1400" dirty="0">
                          <a:solidFill>
                            <a:schemeClr val="tx1"/>
                          </a:solidFill>
                        </a:rPr>
                        <a:t>0.9027</a:t>
                      </a:r>
                      <a:endParaRPr lang="en-US" sz="14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algn="r" indent="0" marL="0">
                        <a:buNone/>
                      </a:pPr>
                      <a:r>
                        <a:rPr lang="en-US" sz="1400" dirty="0">
                          <a:solidFill>
                            <a:schemeClr val="tx1"/>
                          </a:solidFill>
                        </a:rPr>
                        <a:t>0.7853</a:t>
                      </a:r>
                      <a:endParaRPr lang="en-US" sz="14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algn="r" indent="0" marL="0">
                        <a:buNone/>
                      </a:pPr>
                      <a:r>
                        <a:rPr lang="en-US" sz="1400" dirty="0">
                          <a:solidFill>
                            <a:schemeClr val="tx1"/>
                          </a:solidFill>
                        </a:rPr>
                        <a:t>0.8399</a:t>
                      </a:r>
                      <a:endParaRPr lang="en-US" sz="14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c>
                  <a:txBody>
                    <a:bodyPr/>
                    <a:lstStyle/>
                    <a:p>
                      <a:pPr algn="r" indent="0" marL="0">
                        <a:buNone/>
                      </a:pPr>
                      <a:r>
                        <a:rPr lang="en-US" sz="1400" dirty="0">
                          <a:solidFill>
                            <a:schemeClr val="tx1"/>
                          </a:solidFill>
                        </a:rPr>
                        <a:t>85.98</a:t>
                      </a:r>
                      <a:endParaRPr lang="en-US" sz="1400" dirty="0"/>
                    </a:p>
                  </a:txBody>
                  <a:tcPr marL="76200" marR="76200" marT="25400" marB="25400" anchor="ctr">
                    <a:lnL w="0" cap="flat" cmpd="sng" algn="ctr">
                      <a:noFill/>
                    </a:lnL>
                    <a:lnR w="0" cap="flat" cmpd="sng" algn="ctr">
                      <a:noFill/>
                    </a:lnR>
                    <a:lnT w="0" cap="flat" cmpd="sng" algn="ctr">
                      <a:noFill/>
                    </a:lnT>
                    <a:lnB w="9525" cap="flat" cmpd="sng" algn="ctr">
                      <a:solidFill>
                        <a:srgbClr val="D5D8DD"/>
                      </a:solidFill>
                      <a:prstDash val="solid"/>
                      <a:round/>
                      <a:headEnd type="none" w="med" len="med"/>
                      <a:tailEnd type="none" w="med" len="med"/>
                    </a:lnB>
                  </a:tcPr>
                </a:tc>
              </a:tr>
            </a:tbl>
          </a:graphicData>
        </a:graphic>
      </p:graphicFrame>
      <p:sp>
        <p:nvSpPr>
          <p:cNvPr id="21" name="Text 17"/>
          <p:cNvSpPr txBox="1"/>
          <p:nvPr/>
        </p:nvSpPr>
        <p:spPr>
          <a:xfrm>
            <a:off x="548640" y="4709160"/>
            <a:ext cx="3515258" cy="292608"/>
          </a:xfrm>
          <a:prstGeom prst="rect">
            <a:avLst/>
          </a:prstGeom>
          <a:noFill/>
          <a:ln/>
        </p:spPr>
        <p:txBody>
          <a:bodyPr wrap="square" lIns="0" tIns="0" rIns="0" bIns="0" rtlCol="0" anchor="t"/>
          <a:lstStyle/>
          <a:p>
            <a:pPr indent="0" marL="0">
              <a:buNone/>
            </a:pPr>
            <a:r>
              <a:rPr lang="en-US" sz="1500" b="1" dirty="0">
                <a:solidFill>
                  <a:schemeClr val="tx1"/>
                </a:solidFill>
              </a:rPr>
              <a:t>No overfitting</a:t>
            </a:r>
            <a:endParaRPr lang="en-US" sz="1500" dirty="0"/>
          </a:p>
        </p:txBody>
      </p:sp>
      <p:sp>
        <p:nvSpPr>
          <p:cNvPr id="22" name="Text 18"/>
          <p:cNvSpPr txBox="1"/>
          <p:nvPr/>
        </p:nvSpPr>
        <p:spPr>
          <a:xfrm>
            <a:off x="548640" y="5029200"/>
            <a:ext cx="3515258" cy="731520"/>
          </a:xfrm>
          <a:prstGeom prst="rect">
            <a:avLst/>
          </a:prstGeom>
          <a:noFill/>
          <a:ln/>
        </p:spPr>
        <p:txBody>
          <a:bodyPr wrap="square" lIns="0" tIns="0" rIns="0" bIns="0" rtlCol="0" anchor="t"/>
          <a:lstStyle/>
          <a:p>
            <a:pPr indent="0" marL="0">
              <a:buNone/>
            </a:pPr>
            <a:r>
              <a:rPr lang="en-US" sz="1400" dirty="0">
                <a:solidFill>
                  <a:schemeClr val="accent4"/>
                </a:solidFill>
              </a:rPr>
              <a:t>Validation and test are within 0.002 mAP@0.5.</a:t>
            </a:r>
            <a:endParaRPr lang="en-US" sz="1400" dirty="0"/>
          </a:p>
        </p:txBody>
      </p:sp>
      <p:sp>
        <p:nvSpPr>
          <p:cNvPr id="23" name="Text 19"/>
          <p:cNvSpPr txBox="1"/>
          <p:nvPr/>
        </p:nvSpPr>
        <p:spPr>
          <a:xfrm>
            <a:off x="4338218" y="4709160"/>
            <a:ext cx="3515258" cy="292608"/>
          </a:xfrm>
          <a:prstGeom prst="rect">
            <a:avLst/>
          </a:prstGeom>
          <a:noFill/>
          <a:ln/>
        </p:spPr>
        <p:txBody>
          <a:bodyPr wrap="square" lIns="0" tIns="0" rIns="0" bIns="0" rtlCol="0" anchor="t"/>
          <a:lstStyle/>
          <a:p>
            <a:pPr indent="0" marL="0">
              <a:buNone/>
            </a:pPr>
            <a:r>
              <a:rPr lang="en-US" sz="1500" b="1" dirty="0">
                <a:solidFill>
                  <a:schemeClr val="tx1"/>
                </a:solidFill>
              </a:rPr>
              <a:t>Errors are mostly misses</a:t>
            </a:r>
            <a:endParaRPr lang="en-US" sz="1500" dirty="0"/>
          </a:p>
        </p:txBody>
      </p:sp>
      <p:sp>
        <p:nvSpPr>
          <p:cNvPr id="24" name="Text 20"/>
          <p:cNvSpPr txBox="1"/>
          <p:nvPr/>
        </p:nvSpPr>
        <p:spPr>
          <a:xfrm>
            <a:off x="4338218" y="5029200"/>
            <a:ext cx="3515258" cy="731520"/>
          </a:xfrm>
          <a:prstGeom prst="rect">
            <a:avLst/>
          </a:prstGeom>
          <a:noFill/>
          <a:ln/>
        </p:spPr>
        <p:txBody>
          <a:bodyPr wrap="square" lIns="0" tIns="0" rIns="0" bIns="0" rtlCol="0" anchor="t"/>
          <a:lstStyle/>
          <a:p>
            <a:pPr indent="0" marL="0">
              <a:buNone/>
            </a:pPr>
            <a:r>
              <a:rPr lang="en-US" sz="1400" dirty="0">
                <a:solidFill>
                  <a:schemeClr val="accent4"/>
                </a:solidFill>
              </a:rPr>
              <a:t>Precision 0.91 is above recall 0.81 at the operating point.</a:t>
            </a:r>
            <a:endParaRPr lang="en-US" sz="1400" dirty="0"/>
          </a:p>
        </p:txBody>
      </p:sp>
      <p:sp>
        <p:nvSpPr>
          <p:cNvPr id="25" name="Text 21"/>
          <p:cNvSpPr txBox="1"/>
          <p:nvPr/>
        </p:nvSpPr>
        <p:spPr>
          <a:xfrm>
            <a:off x="8127797" y="4709160"/>
            <a:ext cx="3515258" cy="292608"/>
          </a:xfrm>
          <a:prstGeom prst="rect">
            <a:avLst/>
          </a:prstGeom>
          <a:noFill/>
          <a:ln/>
        </p:spPr>
        <p:txBody>
          <a:bodyPr wrap="square" lIns="0" tIns="0" rIns="0" bIns="0" rtlCol="0" anchor="t"/>
          <a:lstStyle/>
          <a:p>
            <a:pPr indent="0" marL="0">
              <a:buNone/>
            </a:pPr>
            <a:r>
              <a:rPr lang="en-US" sz="1500" b="1" dirty="0">
                <a:solidFill>
                  <a:schemeClr val="tx1"/>
                </a:solidFill>
              </a:rPr>
              <a:t>Incident classes are strong</a:t>
            </a:r>
            <a:endParaRPr lang="en-US" sz="1500" dirty="0"/>
          </a:p>
        </p:txBody>
      </p:sp>
      <p:sp>
        <p:nvSpPr>
          <p:cNvPr id="26" name="Text 22"/>
          <p:cNvSpPr txBox="1"/>
          <p:nvPr/>
        </p:nvSpPr>
        <p:spPr>
          <a:xfrm>
            <a:off x="8127797" y="5029200"/>
            <a:ext cx="3515258" cy="731520"/>
          </a:xfrm>
          <a:prstGeom prst="rect">
            <a:avLst/>
          </a:prstGeom>
          <a:noFill/>
          <a:ln/>
        </p:spPr>
        <p:txBody>
          <a:bodyPr wrap="square" lIns="0" tIns="0" rIns="0" bIns="0" rtlCol="0" anchor="t"/>
          <a:lstStyle/>
          <a:p>
            <a:pPr indent="0" marL="0">
              <a:buNone/>
            </a:pPr>
            <a:r>
              <a:rPr lang="en-US" sz="1400" dirty="0">
                <a:solidFill>
                  <a:schemeClr val="accent4"/>
                </a:solidFill>
              </a:rPr>
              <a:t>NO-Hardhat 0.8894 and NO-Safety Vest 0.8782 AP@0.5, both above the mean.</a:t>
            </a:r>
            <a:endParaRPr lang="en-US" sz="1400" dirty="0"/>
          </a:p>
        </p:txBody>
      </p:sp>
      <p:sp>
        <p:nvSpPr>
          <p:cNvPr id="27" name="Text 23"/>
          <p:cNvSpPr txBox="1"/>
          <p:nvPr/>
        </p:nvSpPr>
        <p:spPr>
          <a:xfrm>
            <a:off x="548640" y="6053328"/>
            <a:ext cx="11094415" cy="228600"/>
          </a:xfrm>
          <a:prstGeom prst="rect">
            <a:avLst/>
          </a:prstGeom>
          <a:noFill/>
          <a:ln/>
        </p:spPr>
        <p:txBody>
          <a:bodyPr wrap="square" lIns="0" tIns="0" rIns="0" bIns="0" rtlCol="0" anchor="t"/>
          <a:lstStyle/>
          <a:p>
            <a:pPr indent="0" marL="0">
              <a:buNone/>
            </a:pPr>
            <a:r>
              <a:rPr lang="en-US" sz="1000" dirty="0">
                <a:solidFill>
                  <a:schemeClr val="accent4"/>
                </a:solidFill>
              </a:rPr>
              <a:t>AP per VOC [19], mAP@0.5:0.95 per COCO [13]. Source: Backend/output/metrics/summary.json.</a:t>
            </a:r>
            <a:endParaRPr lang="en-US" sz="1000" dirty="0"/>
          </a:p>
        </p:txBody>
      </p:sp>
      <p:sp>
        <p:nvSpPr>
          <p:cNvPr id="25" name="Slide Number Placeholder 0"/>
          <p:cNvSpPr>
            <a:spLocks noGrp="1"/>
          </p:cNvSpPr>
          <p:nvPr>
            <p:ph type="sldNum" sz="quarter" idx="4294967295"/>
          </p:nvPr>
        </p:nvSpPr>
        <p:spPr>
          <a:xfrm>
            <a:off x="11091672" y="640080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84048"/>
            <a:ext cx="11094415" cy="256032"/>
          </a:xfrm>
          <a:prstGeom prst="rect">
            <a:avLst/>
          </a:prstGeom>
          <a:noFill/>
          <a:ln/>
        </p:spPr>
        <p:txBody>
          <a:bodyPr wrap="square" lIns="0" tIns="0" rIns="0" bIns="0" rtlCol="0" anchor="t"/>
          <a:lstStyle/>
          <a:p>
            <a:pPr indent="0" marL="0">
              <a:buNone/>
            </a:pPr>
            <a:r>
              <a:rPr lang="en-US" sz="1100" b="1" spc="150" kern="0" dirty="0">
                <a:solidFill>
                  <a:schemeClr val="accent4"/>
                </a:solidFill>
              </a:rPr>
              <a:t>RESULTS</a:t>
            </a:r>
            <a:endParaRPr lang="en-US" sz="1100" dirty="0"/>
          </a:p>
        </p:txBody>
      </p:sp>
      <p:sp>
        <p:nvSpPr>
          <p:cNvPr id="3" name="Text 0"/>
          <p:cNvSpPr/>
          <p:nvPr>
            <p:ph idx="100"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3600" b="1" dirty="0">
                <a:solidFill>
                  <a:schemeClr val="tx1"/>
                </a:solidFill>
              </a:rPr>
              <a:t>Operating point and test-time augmentation</a:t>
            </a:r>
            <a:endParaRPr lang="en-US" sz="3600" dirty="0"/>
          </a:p>
        </p:txBody>
      </p:sp>
      <p:sp>
        <p:nvSpPr>
          <p:cNvPr id="5" name="Text 2"/>
          <p:cNvSpPr txBox="1"/>
          <p:nvPr/>
        </p:nvSpPr>
        <p:spPr>
          <a:xfrm>
            <a:off x="548640" y="1554480"/>
            <a:ext cx="5852160" cy="365760"/>
          </a:xfrm>
          <a:prstGeom prst="rect">
            <a:avLst/>
          </a:prstGeom>
          <a:noFill/>
          <a:ln/>
        </p:spPr>
        <p:txBody>
          <a:bodyPr wrap="square" lIns="0" tIns="0" rIns="0" bIns="0" rtlCol="0" anchor="t"/>
          <a:lstStyle/>
          <a:p>
            <a:pPr indent="0" marL="0">
              <a:buNone/>
            </a:pPr>
            <a:r>
              <a:rPr lang="en-US" sz="1800" b="1" dirty="0">
                <a:solidFill>
                  <a:schemeClr val="tx1"/>
                </a:solidFill>
              </a:rPr>
              <a:t>F1 peaks at 0.85 on a broad plateau</a:t>
            </a:r>
            <a:endParaRPr lang="en-US" sz="1800" dirty="0"/>
          </a:p>
        </p:txBody>
      </p:sp>
      <p:pic>
        <p:nvPicPr>
          <p:cNvPr id="6" name="Image 0" descr="F1 against confidence per class on the test split">    </p:cNvPr>
          <p:cNvPicPr>
            <a:picLocks noChangeAspect="1"/>
          </p:cNvPicPr>
          <p:nvPr/>
        </p:nvPicPr>
        <p:blipFill>
          <a:blip r:embed="rId1"/>
          <a:stretch>
            <a:fillRect/>
          </a:stretch>
        </p:blipFill>
        <p:spPr>
          <a:xfrm>
            <a:off x="548640" y="2011680"/>
            <a:ext cx="4869180" cy="3246120"/>
          </a:xfrm>
          <a:prstGeom prst="rect">
            <a:avLst/>
          </a:prstGeom>
        </p:spPr>
      </p:pic>
      <p:sp>
        <p:nvSpPr>
          <p:cNvPr id="7" name="Text 3"/>
          <p:cNvSpPr txBox="1"/>
          <p:nvPr/>
        </p:nvSpPr>
        <p:spPr>
          <a:xfrm>
            <a:off x="548640" y="5349240"/>
            <a:ext cx="5852160" cy="457200"/>
          </a:xfrm>
          <a:prstGeom prst="rect">
            <a:avLst/>
          </a:prstGeom>
          <a:noFill/>
          <a:ln/>
        </p:spPr>
        <p:txBody>
          <a:bodyPr wrap="square" lIns="0" tIns="0" rIns="0" bIns="0" rtlCol="0" anchor="t"/>
          <a:lstStyle/>
          <a:p>
            <a:pPr indent="0" marL="0">
              <a:buNone/>
            </a:pPr>
            <a:r>
              <a:rPr lang="en-US" sz="1300" dirty="0">
                <a:solidFill>
                  <a:schemeClr val="accent4"/>
                </a:solidFill>
              </a:rPr>
              <a:t>All-class F1 is highest at confidence 0.362. The deployed default of 0.40 sits on the same plateau.</a:t>
            </a:r>
            <a:endParaRPr lang="en-US" sz="1300" dirty="0"/>
          </a:p>
        </p:txBody>
      </p:sp>
      <p:sp>
        <p:nvSpPr>
          <p:cNvPr id="8" name="Text 4"/>
          <p:cNvSpPr txBox="1"/>
          <p:nvPr/>
        </p:nvSpPr>
        <p:spPr>
          <a:xfrm>
            <a:off x="6949440" y="1554480"/>
            <a:ext cx="4693615" cy="365760"/>
          </a:xfrm>
          <a:prstGeom prst="rect">
            <a:avLst/>
          </a:prstGeom>
          <a:noFill/>
          <a:ln/>
        </p:spPr>
        <p:txBody>
          <a:bodyPr wrap="square" lIns="0" tIns="0" rIns="0" bIns="0" rtlCol="0" anchor="t"/>
          <a:lstStyle/>
          <a:p>
            <a:pPr indent="0" marL="0">
              <a:buNone/>
            </a:pPr>
            <a:r>
              <a:rPr lang="en-US" sz="1800" b="1" dirty="0">
                <a:solidFill>
                  <a:schemeClr val="tx1"/>
                </a:solidFill>
              </a:rPr>
              <a:t>TTA costs 2.7× the latency for no gain</a:t>
            </a:r>
            <a:endParaRPr lang="en-US" sz="1800" dirty="0"/>
          </a:p>
        </p:txBody>
      </p:sp>
      <p:graphicFrame>
        <p:nvGraphicFramePr>
          <p:cNvPr id="9" name="Chart 0" descr=""/>
          <p:cNvGraphicFramePr/>
          <p:nvPr/>
        </p:nvGraphicFramePr>
        <p:xfrm>
          <a:off x="6858000" y="1965960"/>
          <a:ext cx="4785055" cy="2514600"/>
        </p:xfrm>
        <a:graphic xmlns:a="http://schemas.openxmlformats.org/drawingml/2006/main">
          <a:graphicData uri="http://schemas.openxmlformats.org/drawingml/2006/chart">
            <c:chart xmlns:c="http://schemas.openxmlformats.org/drawingml/2006/chart" r:id="rId2"/>
          </a:graphicData>
        </a:graphic>
      </p:graphicFrame>
      <p:sp>
        <p:nvSpPr>
          <p:cNvPr id="10" name="rule"/>
          <p:cNvSpPr/>
          <p:nvPr/>
        </p:nvSpPr>
        <p:spPr>
          <a:xfrm>
            <a:off x="6949440" y="4617720"/>
            <a:ext cx="1442618" cy="0"/>
          </a:xfrm>
          <a:prstGeom prst="line">
            <a:avLst/>
          </a:prstGeom>
          <a:noFill/>
          <a:ln w="9525">
            <a:solidFill>
              <a:schemeClr val="tx1"/>
            </a:solidFill>
            <a:prstDash val="solid"/>
          </a:ln>
        </p:spPr>
      </p:sp>
      <p:sp>
        <p:nvSpPr>
          <p:cNvPr id="11" name="Text 6"/>
          <p:cNvSpPr txBox="1"/>
          <p:nvPr/>
        </p:nvSpPr>
        <p:spPr>
          <a:xfrm>
            <a:off x="6949440" y="4709160"/>
            <a:ext cx="1442618" cy="411480"/>
          </a:xfrm>
          <a:prstGeom prst="rect">
            <a:avLst/>
          </a:prstGeom>
          <a:noFill/>
          <a:ln/>
        </p:spPr>
        <p:txBody>
          <a:bodyPr wrap="square" lIns="0" tIns="0" rIns="0" bIns="0" rtlCol="0" anchor="t"/>
          <a:lstStyle/>
          <a:p>
            <a:pPr indent="0" marL="0">
              <a:buNone/>
            </a:pPr>
            <a:r>
              <a:rPr lang="en-US" sz="2200" b="1" dirty="0">
                <a:solidFill>
                  <a:schemeClr val="accent2"/>
                </a:solidFill>
              </a:rPr>
              <a:t>−0.0056</a:t>
            </a:r>
            <a:endParaRPr lang="en-US" sz="2200" dirty="0"/>
          </a:p>
        </p:txBody>
      </p:sp>
      <p:sp>
        <p:nvSpPr>
          <p:cNvPr id="12" name="Text 7"/>
          <p:cNvSpPr txBox="1"/>
          <p:nvPr/>
        </p:nvSpPr>
        <p:spPr>
          <a:xfrm>
            <a:off x="6949440" y="5138928"/>
            <a:ext cx="1442618" cy="274320"/>
          </a:xfrm>
          <a:prstGeom prst="rect">
            <a:avLst/>
          </a:prstGeom>
          <a:noFill/>
          <a:ln/>
        </p:spPr>
        <p:txBody>
          <a:bodyPr wrap="square" lIns="0" tIns="0" rIns="0" bIns="0" rtlCol="0" anchor="t"/>
          <a:lstStyle/>
          <a:p>
            <a:pPr indent="0" marL="0">
              <a:buNone/>
            </a:pPr>
            <a:r>
              <a:rPr lang="en-US" sz="1200" dirty="0">
                <a:solidFill>
                  <a:schemeClr val="accent4"/>
                </a:solidFill>
              </a:rPr>
              <a:t>mAP@0.5</a:t>
            </a:r>
            <a:endParaRPr lang="en-US" sz="1200" dirty="0"/>
          </a:p>
        </p:txBody>
      </p:sp>
      <p:sp>
        <p:nvSpPr>
          <p:cNvPr id="13" name="rule"/>
          <p:cNvSpPr/>
          <p:nvPr/>
        </p:nvSpPr>
        <p:spPr>
          <a:xfrm>
            <a:off x="8574938" y="4617720"/>
            <a:ext cx="1442618" cy="0"/>
          </a:xfrm>
          <a:prstGeom prst="line">
            <a:avLst/>
          </a:prstGeom>
          <a:noFill/>
          <a:ln w="9525">
            <a:solidFill>
              <a:schemeClr val="tx1"/>
            </a:solidFill>
            <a:prstDash val="solid"/>
          </a:ln>
        </p:spPr>
      </p:sp>
      <p:sp>
        <p:nvSpPr>
          <p:cNvPr id="14" name="Text 9"/>
          <p:cNvSpPr txBox="1"/>
          <p:nvPr/>
        </p:nvSpPr>
        <p:spPr>
          <a:xfrm>
            <a:off x="8574938" y="4709160"/>
            <a:ext cx="1442618" cy="411480"/>
          </a:xfrm>
          <a:prstGeom prst="rect">
            <a:avLst/>
          </a:prstGeom>
          <a:noFill/>
          <a:ln/>
        </p:spPr>
        <p:txBody>
          <a:bodyPr wrap="square" lIns="0" tIns="0" rIns="0" bIns="0" rtlCol="0" anchor="t"/>
          <a:lstStyle/>
          <a:p>
            <a:pPr indent="0" marL="0">
              <a:buNone/>
            </a:pPr>
            <a:r>
              <a:rPr lang="en-US" sz="2200" b="1" dirty="0">
                <a:solidFill>
                  <a:schemeClr val="accent3"/>
                </a:solidFill>
              </a:rPr>
              <a:t>+0.0048</a:t>
            </a:r>
            <a:endParaRPr lang="en-US" sz="2200" dirty="0"/>
          </a:p>
        </p:txBody>
      </p:sp>
      <p:sp>
        <p:nvSpPr>
          <p:cNvPr id="15" name="Text 10"/>
          <p:cNvSpPr txBox="1"/>
          <p:nvPr/>
        </p:nvSpPr>
        <p:spPr>
          <a:xfrm>
            <a:off x="8574938" y="5138928"/>
            <a:ext cx="1442618" cy="274320"/>
          </a:xfrm>
          <a:prstGeom prst="rect">
            <a:avLst/>
          </a:prstGeom>
          <a:noFill/>
          <a:ln/>
        </p:spPr>
        <p:txBody>
          <a:bodyPr wrap="square" lIns="0" tIns="0" rIns="0" bIns="0" rtlCol="0" anchor="t"/>
          <a:lstStyle/>
          <a:p>
            <a:pPr indent="0" marL="0">
              <a:buNone/>
            </a:pPr>
            <a:r>
              <a:rPr lang="en-US" sz="1200" dirty="0">
                <a:solidFill>
                  <a:schemeClr val="accent4"/>
                </a:solidFill>
              </a:rPr>
              <a:t>mAP@0.5:0.95</a:t>
            </a:r>
            <a:endParaRPr lang="en-US" sz="1200" dirty="0"/>
          </a:p>
        </p:txBody>
      </p:sp>
      <p:sp>
        <p:nvSpPr>
          <p:cNvPr id="16" name="rule"/>
          <p:cNvSpPr/>
          <p:nvPr/>
        </p:nvSpPr>
        <p:spPr>
          <a:xfrm>
            <a:off x="10200437" y="4617720"/>
            <a:ext cx="1442618" cy="0"/>
          </a:xfrm>
          <a:prstGeom prst="line">
            <a:avLst/>
          </a:prstGeom>
          <a:noFill/>
          <a:ln w="9525">
            <a:solidFill>
              <a:schemeClr val="tx1"/>
            </a:solidFill>
            <a:prstDash val="solid"/>
          </a:ln>
        </p:spPr>
      </p:sp>
      <p:sp>
        <p:nvSpPr>
          <p:cNvPr id="17" name="Text 12"/>
          <p:cNvSpPr txBox="1"/>
          <p:nvPr/>
        </p:nvSpPr>
        <p:spPr>
          <a:xfrm>
            <a:off x="10200437" y="4709160"/>
            <a:ext cx="1442618" cy="411480"/>
          </a:xfrm>
          <a:prstGeom prst="rect">
            <a:avLst/>
          </a:prstGeom>
          <a:noFill/>
          <a:ln/>
        </p:spPr>
        <p:txBody>
          <a:bodyPr wrap="square" lIns="0" tIns="0" rIns="0" bIns="0" rtlCol="0" anchor="t"/>
          <a:lstStyle/>
          <a:p>
            <a:pPr indent="0" marL="0">
              <a:buNone/>
            </a:pPr>
            <a:r>
              <a:rPr lang="en-US" sz="2200" b="1" dirty="0">
                <a:solidFill>
                  <a:schemeClr val="accent2"/>
                </a:solidFill>
              </a:rPr>
              <a:t>−0.0301</a:t>
            </a:r>
            <a:endParaRPr lang="en-US" sz="2200" dirty="0"/>
          </a:p>
        </p:txBody>
      </p:sp>
      <p:sp>
        <p:nvSpPr>
          <p:cNvPr id="18" name="Text 13"/>
          <p:cNvSpPr txBox="1"/>
          <p:nvPr/>
        </p:nvSpPr>
        <p:spPr>
          <a:xfrm>
            <a:off x="10200437" y="5138928"/>
            <a:ext cx="1442618" cy="274320"/>
          </a:xfrm>
          <a:prstGeom prst="rect">
            <a:avLst/>
          </a:prstGeom>
          <a:noFill/>
          <a:ln/>
        </p:spPr>
        <p:txBody>
          <a:bodyPr wrap="square" lIns="0" tIns="0" rIns="0" bIns="0" rtlCol="0" anchor="t"/>
          <a:lstStyle/>
          <a:p>
            <a:pPr indent="0" marL="0">
              <a:buNone/>
            </a:pPr>
            <a:r>
              <a:rPr lang="en-US" sz="1200" dirty="0">
                <a:solidFill>
                  <a:schemeClr val="accent4"/>
                </a:solidFill>
              </a:rPr>
              <a:t>Safety Cone AP@0.5</a:t>
            </a:r>
            <a:endParaRPr lang="en-US" sz="1200" dirty="0"/>
          </a:p>
        </p:txBody>
      </p:sp>
      <p:sp>
        <p:nvSpPr>
          <p:cNvPr id="19" name="Text 14"/>
          <p:cNvSpPr txBox="1"/>
          <p:nvPr/>
        </p:nvSpPr>
        <p:spPr>
          <a:xfrm>
            <a:off x="6949440" y="5623560"/>
            <a:ext cx="4693615" cy="365760"/>
          </a:xfrm>
          <a:prstGeom prst="rect">
            <a:avLst/>
          </a:prstGeom>
          <a:noFill/>
          <a:ln/>
        </p:spPr>
        <p:txBody>
          <a:bodyPr wrap="square" lIns="0" tIns="0" rIns="0" bIns="0" rtlCol="0" anchor="t"/>
          <a:lstStyle/>
          <a:p>
            <a:pPr indent="0" marL="0">
              <a:buNone/>
            </a:pPr>
            <a:r>
              <a:rPr lang="en-US" sz="1400" b="1" dirty="0">
                <a:solidFill>
                  <a:schemeClr val="tx1"/>
                </a:solidFill>
              </a:rPr>
              <a:t>Decision: </a:t>
            </a:r>
            <a:pPr indent="0" marL="0">
              <a:buNone/>
            </a:pPr>
            <a:r>
              <a:rPr lang="en-US" sz="1400" dirty="0">
                <a:solidFill>
                  <a:schemeClr val="tx1"/>
                </a:solidFill>
              </a:rPr>
              <a:t>the deployed backend runs plain inference.</a:t>
            </a:r>
            <a:endParaRPr lang="en-US" sz="1400" dirty="0"/>
          </a:p>
        </p:txBody>
      </p:sp>
      <p:sp>
        <p:nvSpPr>
          <p:cNvPr id="20" name="Text 15"/>
          <p:cNvSpPr txBox="1"/>
          <p:nvPr/>
        </p:nvSpPr>
        <p:spPr>
          <a:xfrm>
            <a:off x="548640" y="6053328"/>
            <a:ext cx="11094415" cy="228600"/>
          </a:xfrm>
          <a:prstGeom prst="rect">
            <a:avLst/>
          </a:prstGeom>
          <a:noFill/>
          <a:ln/>
        </p:spPr>
        <p:txBody>
          <a:bodyPr wrap="square" lIns="0" tIns="0" rIns="0" bIns="0" rtlCol="0" anchor="t"/>
          <a:lstStyle/>
          <a:p>
            <a:pPr indent="0" marL="0">
              <a:buNone/>
            </a:pPr>
            <a:r>
              <a:rPr lang="en-US" sz="1000" dirty="0">
                <a:solidFill>
                  <a:schemeClr val="accent4"/>
                </a:solidFill>
              </a:rPr>
              <a:t>Changes are test with TTA minus test. Source: Backend/output/plots/eval_test_BoxF1_curve.png, Backend/output/metrics/eval_summary.csv.</a:t>
            </a:r>
            <a:endParaRPr lang="en-US" sz="1000" dirty="0"/>
          </a:p>
        </p:txBody>
      </p:sp>
      <p:sp>
        <p:nvSpPr>
          <p:cNvPr id="25" name="Slide Number Placeholder 0"/>
          <p:cNvSpPr>
            <a:spLocks noGrp="1"/>
          </p:cNvSpPr>
          <p:nvPr>
            <p:ph type="sldNum" sz="quarter" idx="4294967295"/>
          </p:nvPr>
        </p:nvSpPr>
        <p:spPr>
          <a:xfrm>
            <a:off x="11091672" y="640080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84048"/>
            <a:ext cx="11094415" cy="256032"/>
          </a:xfrm>
          <a:prstGeom prst="rect">
            <a:avLst/>
          </a:prstGeom>
          <a:noFill/>
          <a:ln/>
        </p:spPr>
        <p:txBody>
          <a:bodyPr wrap="square" lIns="0" tIns="0" rIns="0" bIns="0" rtlCol="0" anchor="t"/>
          <a:lstStyle/>
          <a:p>
            <a:pPr indent="0" marL="0">
              <a:buNone/>
            </a:pPr>
            <a:r>
              <a:rPr lang="en-US" sz="1100" b="1" spc="150" kern="0" dirty="0">
                <a:solidFill>
                  <a:schemeClr val="accent4"/>
                </a:solidFill>
              </a:rPr>
              <a:t>RESULTS</a:t>
            </a:r>
            <a:endParaRPr lang="en-US" sz="1100" dirty="0"/>
          </a:p>
        </p:txBody>
      </p:sp>
      <p:sp>
        <p:nvSpPr>
          <p:cNvPr id="3" name="Text 0"/>
          <p:cNvSpPr/>
          <p:nvPr>
            <p:ph idx="100"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3600" b="1" dirty="0">
                <a:solidFill>
                  <a:schemeClr val="tx1"/>
                </a:solidFill>
              </a:rPr>
              <a:t>Accuracy by class</a:t>
            </a:r>
            <a:endParaRPr lang="en-US" sz="3600" dirty="0"/>
          </a:p>
        </p:txBody>
      </p:sp>
      <p:graphicFrame>
        <p:nvGraphicFramePr>
          <p:cNvPr id="5" name="Chart 0" descr=""/>
          <p:cNvGraphicFramePr/>
          <p:nvPr/>
        </p:nvGraphicFramePr>
        <p:xfrm>
          <a:off x="457200" y="1417320"/>
          <a:ext cx="7772400" cy="4480560"/>
        </p:xfrm>
        <a:graphic xmlns:a="http://schemas.openxmlformats.org/drawingml/2006/main">
          <a:graphicData uri="http://schemas.openxmlformats.org/drawingml/2006/chart">
            <c:chart xmlns:c="http://schemas.openxmlformats.org/drawingml/2006/chart" r:id="rId1"/>
          </a:graphicData>
        </a:graphic>
      </p:graphicFrame>
      <p:sp>
        <p:nvSpPr>
          <p:cNvPr id="6" name="rule"/>
          <p:cNvSpPr/>
          <p:nvPr/>
        </p:nvSpPr>
        <p:spPr>
          <a:xfrm>
            <a:off x="8595360" y="1554480"/>
            <a:ext cx="3047695" cy="0"/>
          </a:xfrm>
          <a:prstGeom prst="line">
            <a:avLst/>
          </a:prstGeom>
          <a:noFill/>
          <a:ln w="9525">
            <a:solidFill>
              <a:schemeClr val="accent3"/>
            </a:solidFill>
            <a:prstDash val="solid"/>
          </a:ln>
        </p:spPr>
      </p:sp>
      <p:sp>
        <p:nvSpPr>
          <p:cNvPr id="7" name="Text 3"/>
          <p:cNvSpPr txBox="1"/>
          <p:nvPr/>
        </p:nvSpPr>
        <p:spPr>
          <a:xfrm>
            <a:off x="8595360" y="1664208"/>
            <a:ext cx="3047695" cy="292608"/>
          </a:xfrm>
          <a:prstGeom prst="rect">
            <a:avLst/>
          </a:prstGeom>
          <a:noFill/>
          <a:ln/>
        </p:spPr>
        <p:txBody>
          <a:bodyPr wrap="square" lIns="0" tIns="0" rIns="0" bIns="0" rtlCol="0" anchor="t"/>
          <a:lstStyle/>
          <a:p>
            <a:pPr indent="0" marL="0">
              <a:buNone/>
            </a:pPr>
            <a:r>
              <a:rPr lang="en-US" sz="1500" b="1" dirty="0">
                <a:solidFill>
                  <a:schemeClr val="accent3"/>
                </a:solidFill>
              </a:rPr>
              <a:t>Strongest</a:t>
            </a:r>
            <a:endParaRPr lang="en-US" sz="1500" dirty="0"/>
          </a:p>
        </p:txBody>
      </p:sp>
      <p:sp>
        <p:nvSpPr>
          <p:cNvPr id="8" name="Text 4"/>
          <p:cNvSpPr txBox="1"/>
          <p:nvPr/>
        </p:nvSpPr>
        <p:spPr>
          <a:xfrm>
            <a:off x="8595360" y="1965960"/>
            <a:ext cx="3047695" cy="548640"/>
          </a:xfrm>
          <a:prstGeom prst="rect">
            <a:avLst/>
          </a:prstGeom>
          <a:noFill/>
          <a:ln/>
        </p:spPr>
        <p:txBody>
          <a:bodyPr wrap="square" lIns="0" tIns="0" rIns="0" bIns="0" rtlCol="0" anchor="t"/>
          <a:lstStyle/>
          <a:p>
            <a:pPr indent="0" marL="0">
              <a:buNone/>
            </a:pPr>
            <a:r>
              <a:rPr lang="en-US" sz="1300" dirty="0">
                <a:solidFill>
                  <a:schemeClr val="tx1"/>
                </a:solidFill>
              </a:rPr>
              <a:t>machinery 0.9565, Mask 0.9432, Person 0.9250</a:t>
            </a:r>
            <a:endParaRPr lang="en-US" sz="1300" dirty="0"/>
          </a:p>
        </p:txBody>
      </p:sp>
      <p:sp>
        <p:nvSpPr>
          <p:cNvPr id="9" name="rule"/>
          <p:cNvSpPr/>
          <p:nvPr/>
        </p:nvSpPr>
        <p:spPr>
          <a:xfrm>
            <a:off x="8595360" y="2633472"/>
            <a:ext cx="3047695" cy="0"/>
          </a:xfrm>
          <a:prstGeom prst="line">
            <a:avLst/>
          </a:prstGeom>
          <a:noFill/>
          <a:ln w="9525">
            <a:solidFill>
              <a:schemeClr val="accent2"/>
            </a:solidFill>
            <a:prstDash val="solid"/>
          </a:ln>
        </p:spPr>
      </p:sp>
      <p:sp>
        <p:nvSpPr>
          <p:cNvPr id="10" name="Text 6"/>
          <p:cNvSpPr txBox="1"/>
          <p:nvPr/>
        </p:nvSpPr>
        <p:spPr>
          <a:xfrm>
            <a:off x="8595360" y="2743200"/>
            <a:ext cx="3047695" cy="292608"/>
          </a:xfrm>
          <a:prstGeom prst="rect">
            <a:avLst/>
          </a:prstGeom>
          <a:noFill/>
          <a:ln/>
        </p:spPr>
        <p:txBody>
          <a:bodyPr wrap="square" lIns="0" tIns="0" rIns="0" bIns="0" rtlCol="0" anchor="t"/>
          <a:lstStyle/>
          <a:p>
            <a:pPr indent="0" marL="0">
              <a:buNone/>
            </a:pPr>
            <a:r>
              <a:rPr lang="en-US" sz="1500" b="1" dirty="0">
                <a:solidFill>
                  <a:schemeClr val="accent2"/>
                </a:solidFill>
              </a:rPr>
              <a:t>Weakest</a:t>
            </a:r>
            <a:endParaRPr lang="en-US" sz="1500" dirty="0"/>
          </a:p>
        </p:txBody>
      </p:sp>
      <p:sp>
        <p:nvSpPr>
          <p:cNvPr id="11" name="Text 7"/>
          <p:cNvSpPr txBox="1"/>
          <p:nvPr/>
        </p:nvSpPr>
        <p:spPr>
          <a:xfrm>
            <a:off x="8595360" y="3044952"/>
            <a:ext cx="3047695" cy="548640"/>
          </a:xfrm>
          <a:prstGeom prst="rect">
            <a:avLst/>
          </a:prstGeom>
          <a:noFill/>
          <a:ln/>
        </p:spPr>
        <p:txBody>
          <a:bodyPr wrap="square" lIns="0" tIns="0" rIns="0" bIns="0" rtlCol="0" anchor="t"/>
          <a:lstStyle/>
          <a:p>
            <a:pPr indent="0" marL="0">
              <a:buNone/>
            </a:pPr>
            <a:r>
              <a:rPr lang="en-US" sz="1300" dirty="0">
                <a:solidFill>
                  <a:schemeClr val="tx1"/>
                </a:solidFill>
              </a:rPr>
              <a:t>Safety Cone 0.7447, with AP@0.5:0.95 of only 0.3963</a:t>
            </a:r>
            <a:endParaRPr lang="en-US" sz="1300" dirty="0"/>
          </a:p>
        </p:txBody>
      </p:sp>
      <p:sp>
        <p:nvSpPr>
          <p:cNvPr id="12" name="rule"/>
          <p:cNvSpPr/>
          <p:nvPr/>
        </p:nvSpPr>
        <p:spPr>
          <a:xfrm>
            <a:off x="8595360" y="3712464"/>
            <a:ext cx="3047695" cy="0"/>
          </a:xfrm>
          <a:prstGeom prst="line">
            <a:avLst/>
          </a:prstGeom>
          <a:noFill/>
          <a:ln w="9525">
            <a:solidFill>
              <a:schemeClr val="accent5"/>
            </a:solidFill>
            <a:prstDash val="solid"/>
          </a:ln>
        </p:spPr>
      </p:sp>
      <p:sp>
        <p:nvSpPr>
          <p:cNvPr id="13" name="Text 9"/>
          <p:cNvSpPr txBox="1"/>
          <p:nvPr/>
        </p:nvSpPr>
        <p:spPr>
          <a:xfrm>
            <a:off x="8595360" y="3822192"/>
            <a:ext cx="3047695" cy="292608"/>
          </a:xfrm>
          <a:prstGeom prst="rect">
            <a:avLst/>
          </a:prstGeom>
          <a:noFill/>
          <a:ln/>
        </p:spPr>
        <p:txBody>
          <a:bodyPr wrap="square" lIns="0" tIns="0" rIns="0" bIns="0" rtlCol="0" anchor="t"/>
          <a:lstStyle/>
          <a:p>
            <a:pPr indent="0" marL="0">
              <a:buNone/>
            </a:pPr>
            <a:r>
              <a:rPr lang="en-US" sz="1500" b="1" dirty="0">
                <a:solidFill>
                  <a:schemeClr val="accent5"/>
                </a:solidFill>
              </a:rPr>
              <a:t>Largest drop</a:t>
            </a:r>
            <a:endParaRPr lang="en-US" sz="1500" dirty="0"/>
          </a:p>
        </p:txBody>
      </p:sp>
      <p:sp>
        <p:nvSpPr>
          <p:cNvPr id="14" name="Text 10"/>
          <p:cNvSpPr txBox="1"/>
          <p:nvPr/>
        </p:nvSpPr>
        <p:spPr>
          <a:xfrm>
            <a:off x="8595360" y="4123944"/>
            <a:ext cx="3047695" cy="548640"/>
          </a:xfrm>
          <a:prstGeom prst="rect">
            <a:avLst/>
          </a:prstGeom>
          <a:noFill/>
          <a:ln/>
        </p:spPr>
        <p:txBody>
          <a:bodyPr wrap="square" lIns="0" tIns="0" rIns="0" bIns="0" rtlCol="0" anchor="t"/>
          <a:lstStyle/>
          <a:p>
            <a:pPr indent="0" marL="0">
              <a:buNone/>
            </a:pPr>
            <a:r>
              <a:rPr lang="en-US" sz="1300" dirty="0">
                <a:solidFill>
                  <a:schemeClr val="tx1"/>
                </a:solidFill>
              </a:rPr>
              <a:t>Hardhat, 0.8592 on validation to 0.7975 on test</a:t>
            </a:r>
            <a:endParaRPr lang="en-US" sz="1300" dirty="0"/>
          </a:p>
        </p:txBody>
      </p:sp>
      <p:sp>
        <p:nvSpPr>
          <p:cNvPr id="15" name="rule"/>
          <p:cNvSpPr/>
          <p:nvPr/>
        </p:nvSpPr>
        <p:spPr>
          <a:xfrm>
            <a:off x="8595360" y="4791456"/>
            <a:ext cx="3047695" cy="0"/>
          </a:xfrm>
          <a:prstGeom prst="line">
            <a:avLst/>
          </a:prstGeom>
          <a:noFill/>
          <a:ln w="9525">
            <a:solidFill>
              <a:schemeClr val="accent6"/>
            </a:solidFill>
            <a:prstDash val="solid"/>
          </a:ln>
        </p:spPr>
      </p:sp>
      <p:sp>
        <p:nvSpPr>
          <p:cNvPr id="16" name="Text 12"/>
          <p:cNvSpPr txBox="1"/>
          <p:nvPr/>
        </p:nvSpPr>
        <p:spPr>
          <a:xfrm>
            <a:off x="8595360" y="4901184"/>
            <a:ext cx="3047695" cy="292608"/>
          </a:xfrm>
          <a:prstGeom prst="rect">
            <a:avLst/>
          </a:prstGeom>
          <a:noFill/>
          <a:ln/>
        </p:spPr>
        <p:txBody>
          <a:bodyPr wrap="square" lIns="0" tIns="0" rIns="0" bIns="0" rtlCol="0" anchor="t"/>
          <a:lstStyle/>
          <a:p>
            <a:pPr indent="0" marL="0">
              <a:buNone/>
            </a:pPr>
            <a:r>
              <a:rPr lang="en-US" sz="1500" b="1" dirty="0">
                <a:solidFill>
                  <a:schemeClr val="accent6"/>
                </a:solidFill>
              </a:rPr>
              <a:t>Incident classes</a:t>
            </a:r>
            <a:endParaRPr lang="en-US" sz="1500" dirty="0"/>
          </a:p>
        </p:txBody>
      </p:sp>
      <p:sp>
        <p:nvSpPr>
          <p:cNvPr id="17" name="Text 13"/>
          <p:cNvSpPr txBox="1"/>
          <p:nvPr/>
        </p:nvSpPr>
        <p:spPr>
          <a:xfrm>
            <a:off x="8595360" y="5202936"/>
            <a:ext cx="3047695" cy="548640"/>
          </a:xfrm>
          <a:prstGeom prst="rect">
            <a:avLst/>
          </a:prstGeom>
          <a:noFill/>
          <a:ln/>
        </p:spPr>
        <p:txBody>
          <a:bodyPr wrap="square" lIns="0" tIns="0" rIns="0" bIns="0" rtlCol="0" anchor="t"/>
          <a:lstStyle/>
          <a:p>
            <a:pPr indent="0" marL="0">
              <a:buNone/>
            </a:pPr>
            <a:r>
              <a:rPr lang="en-US" sz="1300" dirty="0">
                <a:solidFill>
                  <a:schemeClr val="tx1"/>
                </a:solidFill>
              </a:rPr>
              <a:t>NO-Hardhat 0.8894, NO-Safety Vest 0.8782</a:t>
            </a:r>
            <a:endParaRPr lang="en-US" sz="1300" dirty="0"/>
          </a:p>
        </p:txBody>
      </p:sp>
      <p:sp>
        <p:nvSpPr>
          <p:cNvPr id="18" name="Text 14"/>
          <p:cNvSpPr txBox="1"/>
          <p:nvPr/>
        </p:nvSpPr>
        <p:spPr>
          <a:xfrm>
            <a:off x="548640" y="6053328"/>
            <a:ext cx="11094415" cy="228600"/>
          </a:xfrm>
          <a:prstGeom prst="rect">
            <a:avLst/>
          </a:prstGeom>
          <a:noFill/>
          <a:ln/>
        </p:spPr>
        <p:txBody>
          <a:bodyPr wrap="square" lIns="0" tIns="0" rIns="0" bIns="0" rtlCol="0" anchor="t"/>
          <a:lstStyle/>
          <a:p>
            <a:pPr indent="0" marL="0">
              <a:buNone/>
            </a:pPr>
            <a:r>
              <a:rPr lang="en-US" sz="1000" dirty="0">
                <a:solidFill>
                  <a:schemeClr val="accent4"/>
                </a:solidFill>
              </a:rPr>
              <a:t>Test AP@0.5 values. Source: Backend/output/metrics/per_class_metrics.csv.</a:t>
            </a:r>
            <a:endParaRPr lang="en-US" sz="1000" dirty="0"/>
          </a:p>
        </p:txBody>
      </p:sp>
      <p:sp>
        <p:nvSpPr>
          <p:cNvPr id="25" name="Slide Number Placeholder 0"/>
          <p:cNvSpPr>
            <a:spLocks noGrp="1"/>
          </p:cNvSpPr>
          <p:nvPr>
            <p:ph type="sldNum" sz="quarter" idx="4294967295"/>
          </p:nvPr>
        </p:nvSpPr>
        <p:spPr>
          <a:xfrm>
            <a:off x="11091672" y="640080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84048"/>
            <a:ext cx="11094415" cy="256032"/>
          </a:xfrm>
          <a:prstGeom prst="rect">
            <a:avLst/>
          </a:prstGeom>
          <a:noFill/>
          <a:ln/>
        </p:spPr>
        <p:txBody>
          <a:bodyPr wrap="square" lIns="0" tIns="0" rIns="0" bIns="0" rtlCol="0" anchor="t"/>
          <a:lstStyle/>
          <a:p>
            <a:pPr indent="0" marL="0">
              <a:buNone/>
            </a:pPr>
            <a:r>
              <a:rPr lang="en-US" sz="1100" b="1" spc="150" kern="0" dirty="0">
                <a:solidFill>
                  <a:schemeClr val="accent4"/>
                </a:solidFill>
              </a:rPr>
              <a:t>RESULTS</a:t>
            </a:r>
            <a:endParaRPr lang="en-US" sz="1100" dirty="0"/>
          </a:p>
        </p:txBody>
      </p:sp>
      <p:sp>
        <p:nvSpPr>
          <p:cNvPr id="3" name="Text 0"/>
          <p:cNvSpPr/>
          <p:nvPr>
            <p:ph idx="100"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3600" b="1" dirty="0">
                <a:solidFill>
                  <a:schemeClr val="tx1"/>
                </a:solidFill>
              </a:rPr>
              <a:t>Error analysis</a:t>
            </a:r>
            <a:endParaRPr lang="en-US" sz="3600" dirty="0"/>
          </a:p>
        </p:txBody>
      </p:sp>
      <p:pic>
        <p:nvPicPr>
          <p:cNvPr id="5" name="Image 0" descr="Normalised confusion matrix on the test split">    </p:cNvPr>
          <p:cNvPicPr>
            <a:picLocks noChangeAspect="1"/>
          </p:cNvPicPr>
          <p:nvPr/>
        </p:nvPicPr>
        <p:blipFill>
          <a:blip r:embed="rId1"/>
          <a:stretch>
            <a:fillRect/>
          </a:stretch>
        </p:blipFill>
        <p:spPr>
          <a:xfrm>
            <a:off x="320040" y="1371600"/>
            <a:ext cx="6035040" cy="4526280"/>
          </a:xfrm>
          <a:prstGeom prst="rect">
            <a:avLst/>
          </a:prstGeom>
        </p:spPr>
      </p:pic>
      <p:sp>
        <p:nvSpPr>
          <p:cNvPr id="6" name="Text 2"/>
          <p:cNvSpPr txBox="1"/>
          <p:nvPr/>
        </p:nvSpPr>
        <p:spPr>
          <a:xfrm>
            <a:off x="6537960" y="1554480"/>
            <a:ext cx="5105095" cy="365760"/>
          </a:xfrm>
          <a:prstGeom prst="rect">
            <a:avLst/>
          </a:prstGeom>
          <a:noFill/>
          <a:ln/>
        </p:spPr>
        <p:txBody>
          <a:bodyPr wrap="square" lIns="0" tIns="0" rIns="0" bIns="0" rtlCol="0" anchor="t"/>
          <a:lstStyle/>
          <a:p>
            <a:pPr indent="0" marL="0">
              <a:buNone/>
            </a:pPr>
            <a:r>
              <a:rPr lang="en-US" sz="1800" b="1" dirty="0">
                <a:solidFill>
                  <a:schemeClr val="tx1"/>
                </a:solidFill>
              </a:rPr>
              <a:t>Safety-critical swaps</a:t>
            </a:r>
            <a:endParaRPr lang="en-US" sz="1800" dirty="0"/>
          </a:p>
        </p:txBody>
      </p:sp>
      <p:sp>
        <p:nvSpPr>
          <p:cNvPr id="7" name="Text 3"/>
          <p:cNvSpPr txBox="1"/>
          <p:nvPr/>
        </p:nvSpPr>
        <p:spPr>
          <a:xfrm>
            <a:off x="6537960" y="2057400"/>
            <a:ext cx="1097280" cy="594360"/>
          </a:xfrm>
          <a:prstGeom prst="rect">
            <a:avLst/>
          </a:prstGeom>
          <a:noFill/>
          <a:ln/>
        </p:spPr>
        <p:txBody>
          <a:bodyPr wrap="square" lIns="0" tIns="0" rIns="0" bIns="0" rtlCol="0" anchor="t"/>
          <a:lstStyle/>
          <a:p>
            <a:pPr indent="0" marL="0">
              <a:buNone/>
            </a:pPr>
            <a:r>
              <a:rPr lang="en-US" sz="3600" b="1" dirty="0">
                <a:solidFill>
                  <a:schemeClr val="accent2"/>
                </a:solidFill>
              </a:rPr>
              <a:t>9%</a:t>
            </a:r>
            <a:endParaRPr lang="en-US" sz="3600" dirty="0"/>
          </a:p>
        </p:txBody>
      </p:sp>
      <p:sp>
        <p:nvSpPr>
          <p:cNvPr id="8" name="Text 4"/>
          <p:cNvSpPr txBox="1"/>
          <p:nvPr/>
        </p:nvSpPr>
        <p:spPr>
          <a:xfrm>
            <a:off x="7680960" y="2103120"/>
            <a:ext cx="3962095" cy="548640"/>
          </a:xfrm>
          <a:prstGeom prst="rect">
            <a:avLst/>
          </a:prstGeom>
          <a:noFill/>
          <a:ln/>
        </p:spPr>
        <p:txBody>
          <a:bodyPr wrap="square" lIns="0" tIns="0" rIns="0" bIns="0" rtlCol="0" anchor="ctr"/>
          <a:lstStyle/>
          <a:p>
            <a:pPr indent="0" marL="0">
              <a:buNone/>
            </a:pPr>
            <a:r>
              <a:rPr lang="en-US" sz="1400" b="1" dirty="0">
                <a:solidFill>
                  <a:schemeClr val="tx1"/>
                </a:solidFill>
              </a:rPr>
              <a:t>of NO-Hardhat predicted as Hardhat</a:t>
            </a:r>
            <a:endParaRPr lang="en-US" sz="1400" dirty="0"/>
          </a:p>
        </p:txBody>
      </p:sp>
      <p:sp>
        <p:nvSpPr>
          <p:cNvPr id="9" name="Text 5"/>
          <p:cNvSpPr txBox="1"/>
          <p:nvPr/>
        </p:nvSpPr>
        <p:spPr>
          <a:xfrm>
            <a:off x="7680960" y="2679192"/>
            <a:ext cx="3962095" cy="548640"/>
          </a:xfrm>
          <a:prstGeom prst="rect">
            <a:avLst/>
          </a:prstGeom>
          <a:noFill/>
          <a:ln/>
        </p:spPr>
        <p:txBody>
          <a:bodyPr wrap="square" lIns="0" tIns="0" rIns="0" bIns="0" rtlCol="0" anchor="t"/>
          <a:lstStyle/>
          <a:p>
            <a:pPr indent="0" marL="0">
              <a:buNone/>
            </a:pPr>
            <a:r>
              <a:rPr lang="en-US" sz="1300" dirty="0">
                <a:solidFill>
                  <a:schemeClr val="accent4"/>
                </a:solidFill>
              </a:rPr>
              <a:t>A real violation looks compliant: the most consequential error.</a:t>
            </a:r>
            <a:endParaRPr lang="en-US" sz="1300" dirty="0"/>
          </a:p>
        </p:txBody>
      </p:sp>
      <p:sp>
        <p:nvSpPr>
          <p:cNvPr id="10" name="Text 6"/>
          <p:cNvSpPr txBox="1"/>
          <p:nvPr/>
        </p:nvSpPr>
        <p:spPr>
          <a:xfrm>
            <a:off x="6537960" y="3383280"/>
            <a:ext cx="1097280" cy="594360"/>
          </a:xfrm>
          <a:prstGeom prst="rect">
            <a:avLst/>
          </a:prstGeom>
          <a:noFill/>
          <a:ln/>
        </p:spPr>
        <p:txBody>
          <a:bodyPr wrap="square" lIns="0" tIns="0" rIns="0" bIns="0" rtlCol="0" anchor="t"/>
          <a:lstStyle/>
          <a:p>
            <a:pPr indent="0" marL="0">
              <a:buNone/>
            </a:pPr>
            <a:r>
              <a:rPr lang="en-US" sz="3600" b="1" dirty="0">
                <a:solidFill>
                  <a:schemeClr val="accent5"/>
                </a:solidFill>
              </a:rPr>
              <a:t>7%</a:t>
            </a:r>
            <a:endParaRPr lang="en-US" sz="3600" dirty="0"/>
          </a:p>
        </p:txBody>
      </p:sp>
      <p:sp>
        <p:nvSpPr>
          <p:cNvPr id="11" name="Text 7"/>
          <p:cNvSpPr txBox="1"/>
          <p:nvPr/>
        </p:nvSpPr>
        <p:spPr>
          <a:xfrm>
            <a:off x="7680960" y="3429000"/>
            <a:ext cx="3962095" cy="548640"/>
          </a:xfrm>
          <a:prstGeom prst="rect">
            <a:avLst/>
          </a:prstGeom>
          <a:noFill/>
          <a:ln/>
        </p:spPr>
        <p:txBody>
          <a:bodyPr wrap="square" lIns="0" tIns="0" rIns="0" bIns="0" rtlCol="0" anchor="ctr"/>
          <a:lstStyle/>
          <a:p>
            <a:pPr indent="0" marL="0">
              <a:buNone/>
            </a:pPr>
            <a:r>
              <a:rPr lang="en-US" sz="1400" b="1" dirty="0">
                <a:solidFill>
                  <a:schemeClr val="tx1"/>
                </a:solidFill>
              </a:rPr>
              <a:t>of Safety Vest predicted as NO-Safety Vest</a:t>
            </a:r>
            <a:endParaRPr lang="en-US" sz="1400" dirty="0"/>
          </a:p>
        </p:txBody>
      </p:sp>
      <p:sp>
        <p:nvSpPr>
          <p:cNvPr id="12" name="Text 8"/>
          <p:cNvSpPr txBox="1"/>
          <p:nvPr/>
        </p:nvSpPr>
        <p:spPr>
          <a:xfrm>
            <a:off x="7680960" y="4005072"/>
            <a:ext cx="3962095" cy="548640"/>
          </a:xfrm>
          <a:prstGeom prst="rect">
            <a:avLst/>
          </a:prstGeom>
          <a:noFill/>
          <a:ln/>
        </p:spPr>
        <p:txBody>
          <a:bodyPr wrap="square" lIns="0" tIns="0" rIns="0" bIns="0" rtlCol="0" anchor="t"/>
          <a:lstStyle/>
          <a:p>
            <a:pPr indent="0" marL="0">
              <a:buNone/>
            </a:pPr>
            <a:r>
              <a:rPr lang="en-US" sz="1300" dirty="0">
                <a:solidFill>
                  <a:schemeClr val="accent4"/>
                </a:solidFill>
              </a:rPr>
              <a:t>A compliant worker looks like a violation: a false alarm.</a:t>
            </a:r>
            <a:endParaRPr lang="en-US" sz="1300" dirty="0"/>
          </a:p>
        </p:txBody>
      </p:sp>
      <p:sp>
        <p:nvSpPr>
          <p:cNvPr id="13" name="rule"/>
          <p:cNvSpPr/>
          <p:nvPr/>
        </p:nvSpPr>
        <p:spPr>
          <a:xfrm>
            <a:off x="6537960" y="4754880"/>
            <a:ext cx="5105095" cy="0"/>
          </a:xfrm>
          <a:prstGeom prst="line">
            <a:avLst/>
          </a:prstGeom>
          <a:noFill/>
          <a:ln w="9525">
            <a:solidFill>
              <a:schemeClr val="tx1"/>
            </a:solidFill>
            <a:prstDash val="solid"/>
          </a:ln>
        </p:spPr>
      </p:sp>
      <p:sp>
        <p:nvSpPr>
          <p:cNvPr id="14" name="Text 10"/>
          <p:cNvSpPr txBox="1"/>
          <p:nvPr/>
        </p:nvSpPr>
        <p:spPr>
          <a:xfrm>
            <a:off x="6537960" y="4892040"/>
            <a:ext cx="5105095" cy="1097280"/>
          </a:xfrm>
          <a:prstGeom prst="rect">
            <a:avLst/>
          </a:prstGeom>
          <a:noFill/>
          <a:ln/>
        </p:spPr>
        <p:txBody>
          <a:bodyPr wrap="square" lIns="0" tIns="0" rIns="0" bIns="0" rtlCol="0" anchor="t"/>
          <a:lstStyle/>
          <a:p>
            <a:pPr indent="0" marL="0">
              <a:spcAft>
                <a:spcPts val="1000"/>
              </a:spcAft>
              <a:buNone/>
            </a:pPr>
            <a:r>
              <a:rPr lang="en-US" sz="1300" b="1" dirty="0">
                <a:solidFill>
                  <a:schemeClr val="tx1"/>
                </a:solidFill>
              </a:rPr>
              <a:t>Misses dominate: </a:t>
            </a:r>
            <a:pPr indent="0" marL="0">
              <a:buNone/>
            </a:pPr>
            <a:r>
              <a:rPr lang="en-US" sz="1300" dirty="0">
                <a:solidFill>
                  <a:schemeClr val="tx1"/>
                </a:solidFill>
              </a:rPr>
              <a:t>16% of Hardhat and 14% of Safety Cone and Safety Vest boxes go undetected</a:t>
            </a:r>
            <a:endParaRPr lang="en-US" sz="1300" dirty="0"/>
          </a:p>
          <a:p>
            <a:pPr indent="0" marL="0">
              <a:spcAft>
                <a:spcPts val="1000"/>
              </a:spcAft>
              <a:buNone/>
            </a:pPr>
            <a:r>
              <a:rPr lang="en-US" sz="1300" b="1" dirty="0">
                <a:solidFill>
                  <a:schemeClr val="tx1"/>
                </a:solidFill>
              </a:rPr>
              <a:t>Temporal filter: </a:t>
            </a:r>
            <a:pPr indent="0" marL="0">
              <a:buNone/>
            </a:pPr>
            <a:r>
              <a:rPr lang="en-US" sz="1300" dirty="0">
                <a:solidFill>
                  <a:schemeClr val="tx1"/>
                </a:solidFill>
              </a:rPr>
              <a:t>suppresses errors under five frames, not persistent ones</a:t>
            </a:r>
            <a:endParaRPr lang="en-US" sz="1300" dirty="0"/>
          </a:p>
        </p:txBody>
      </p:sp>
      <p:sp>
        <p:nvSpPr>
          <p:cNvPr id="15" name="Text 11"/>
          <p:cNvSpPr txBox="1"/>
          <p:nvPr/>
        </p:nvSpPr>
        <p:spPr>
          <a:xfrm>
            <a:off x="548640" y="6053328"/>
            <a:ext cx="11094415" cy="228600"/>
          </a:xfrm>
          <a:prstGeom prst="rect">
            <a:avLst/>
          </a:prstGeom>
          <a:noFill/>
          <a:ln/>
        </p:spPr>
        <p:txBody>
          <a:bodyPr wrap="square" lIns="0" tIns="0" rIns="0" bIns="0" rtlCol="0" anchor="t"/>
          <a:lstStyle/>
          <a:p>
            <a:pPr indent="0" marL="0">
              <a:buNone/>
            </a:pPr>
            <a:r>
              <a:rPr lang="en-US" sz="1000" dirty="0">
                <a:solidFill>
                  <a:schemeClr val="accent4"/>
                </a:solidFill>
              </a:rPr>
              <a:t>Columns: true class; rows: predicted. Source: Backend/output/plots/eval_test_confusion_matrix_normalized.png.</a:t>
            </a:r>
            <a:endParaRPr lang="en-US" sz="1000" dirty="0"/>
          </a:p>
        </p:txBody>
      </p:sp>
      <p:sp>
        <p:nvSpPr>
          <p:cNvPr id="25" name="Slide Number Placeholder 0"/>
          <p:cNvSpPr>
            <a:spLocks noGrp="1"/>
          </p:cNvSpPr>
          <p:nvPr>
            <p:ph type="sldNum" sz="quarter" idx="4294967295"/>
          </p:nvPr>
        </p:nvSpPr>
        <p:spPr>
          <a:xfrm>
            <a:off x="11091672" y="640080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84048"/>
            <a:ext cx="11094415" cy="256032"/>
          </a:xfrm>
          <a:prstGeom prst="rect">
            <a:avLst/>
          </a:prstGeom>
          <a:noFill/>
          <a:ln/>
        </p:spPr>
        <p:txBody>
          <a:bodyPr wrap="square" lIns="0" tIns="0" rIns="0" bIns="0" rtlCol="0" anchor="t"/>
          <a:lstStyle/>
          <a:p>
            <a:pPr indent="0" marL="0">
              <a:buNone/>
            </a:pPr>
            <a:r>
              <a:rPr lang="en-US" sz="1100" b="1" spc="150" kern="0" dirty="0">
                <a:solidFill>
                  <a:schemeClr val="accent4"/>
                </a:solidFill>
              </a:rPr>
              <a:t>RESULTS</a:t>
            </a:r>
            <a:endParaRPr lang="en-US" sz="1100" dirty="0"/>
          </a:p>
        </p:txBody>
      </p:sp>
      <p:sp>
        <p:nvSpPr>
          <p:cNvPr id="3" name="Text 0"/>
          <p:cNvSpPr/>
          <p:nvPr>
            <p:ph idx="100"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3600" b="1" dirty="0">
                <a:solidFill>
                  <a:schemeClr val="tx1"/>
                </a:solidFill>
              </a:rPr>
              <a:t>Predictions on held-out test images</a:t>
            </a:r>
            <a:endParaRPr lang="en-US" sz="3600" dirty="0"/>
          </a:p>
        </p:txBody>
      </p:sp>
      <p:pic>
        <p:nvPicPr>
          <p:cNvPr id="5" name="Image 0" descr="Hardhat, Person, NO-Safety Vest">    </p:cNvPr>
          <p:cNvPicPr>
            <a:picLocks noChangeAspect="1"/>
          </p:cNvPicPr>
          <p:nvPr/>
        </p:nvPicPr>
        <p:blipFill>
          <a:blip r:embed="rId1"/>
          <a:stretch>
            <a:fillRect/>
          </a:stretch>
        </p:blipFill>
        <p:spPr>
          <a:xfrm>
            <a:off x="548640" y="1554480"/>
            <a:ext cx="2602154" cy="2602154"/>
          </a:xfrm>
          <a:prstGeom prst="rect">
            <a:avLst/>
          </a:prstGeom>
        </p:spPr>
      </p:pic>
      <p:sp>
        <p:nvSpPr>
          <p:cNvPr id="6" name="Text 2"/>
          <p:cNvSpPr txBox="1"/>
          <p:nvPr/>
        </p:nvSpPr>
        <p:spPr>
          <a:xfrm>
            <a:off x="548640" y="4248074"/>
            <a:ext cx="2602154" cy="274320"/>
          </a:xfrm>
          <a:prstGeom prst="rect">
            <a:avLst/>
          </a:prstGeom>
          <a:noFill/>
          <a:ln/>
        </p:spPr>
        <p:txBody>
          <a:bodyPr wrap="square" lIns="0" tIns="0" rIns="0" bIns="0" rtlCol="0" anchor="t"/>
          <a:lstStyle/>
          <a:p>
            <a:pPr indent="0" marL="0">
              <a:buNone/>
            </a:pPr>
            <a:r>
              <a:rPr lang="en-US" sz="1300" dirty="0">
                <a:solidFill>
                  <a:schemeClr val="accent4"/>
                </a:solidFill>
              </a:rPr>
              <a:t>Hardhat, Person, NO-Safety Vest</a:t>
            </a:r>
            <a:endParaRPr lang="en-US" sz="1300" dirty="0"/>
          </a:p>
        </p:txBody>
      </p:sp>
      <p:pic>
        <p:nvPicPr>
          <p:cNvPr id="7" name="Image 1" descr="Mask, NO-Hardhat, NO-Safety Vest">    </p:cNvPr>
          <p:cNvPicPr>
            <a:picLocks noChangeAspect="1"/>
          </p:cNvPicPr>
          <p:nvPr/>
        </p:nvPicPr>
        <p:blipFill>
          <a:blip r:embed="rId2"/>
          <a:stretch>
            <a:fillRect/>
          </a:stretch>
        </p:blipFill>
        <p:spPr>
          <a:xfrm>
            <a:off x="3379394" y="1554480"/>
            <a:ext cx="2602154" cy="2602154"/>
          </a:xfrm>
          <a:prstGeom prst="rect">
            <a:avLst/>
          </a:prstGeom>
        </p:spPr>
      </p:pic>
      <p:sp>
        <p:nvSpPr>
          <p:cNvPr id="8" name="Text 3"/>
          <p:cNvSpPr txBox="1"/>
          <p:nvPr/>
        </p:nvSpPr>
        <p:spPr>
          <a:xfrm>
            <a:off x="3379394" y="4248074"/>
            <a:ext cx="2602154" cy="274320"/>
          </a:xfrm>
          <a:prstGeom prst="rect">
            <a:avLst/>
          </a:prstGeom>
          <a:noFill/>
          <a:ln/>
        </p:spPr>
        <p:txBody>
          <a:bodyPr wrap="square" lIns="0" tIns="0" rIns="0" bIns="0" rtlCol="0" anchor="t"/>
          <a:lstStyle/>
          <a:p>
            <a:pPr indent="0" marL="0">
              <a:buNone/>
            </a:pPr>
            <a:r>
              <a:rPr lang="en-US" sz="1300" dirty="0">
                <a:solidFill>
                  <a:schemeClr val="accent4"/>
                </a:solidFill>
              </a:rPr>
              <a:t>Mask, NO-Hardhat, NO-Safety Vest</a:t>
            </a:r>
            <a:endParaRPr lang="en-US" sz="1300" dirty="0"/>
          </a:p>
        </p:txBody>
      </p:sp>
      <p:pic>
        <p:nvPicPr>
          <p:cNvPr id="9" name="Image 2" descr="machinery, vehicle, Safety Vest">    </p:cNvPr>
          <p:cNvPicPr>
            <a:picLocks noChangeAspect="1"/>
          </p:cNvPicPr>
          <p:nvPr/>
        </p:nvPicPr>
        <p:blipFill>
          <a:blip r:embed="rId3"/>
          <a:stretch>
            <a:fillRect/>
          </a:stretch>
        </p:blipFill>
        <p:spPr>
          <a:xfrm>
            <a:off x="6210148" y="1554480"/>
            <a:ext cx="2602154" cy="2602154"/>
          </a:xfrm>
          <a:prstGeom prst="rect">
            <a:avLst/>
          </a:prstGeom>
        </p:spPr>
      </p:pic>
      <p:sp>
        <p:nvSpPr>
          <p:cNvPr id="10" name="Text 4"/>
          <p:cNvSpPr txBox="1"/>
          <p:nvPr/>
        </p:nvSpPr>
        <p:spPr>
          <a:xfrm>
            <a:off x="6210148" y="4248074"/>
            <a:ext cx="2602154" cy="274320"/>
          </a:xfrm>
          <a:prstGeom prst="rect">
            <a:avLst/>
          </a:prstGeom>
          <a:noFill/>
          <a:ln/>
        </p:spPr>
        <p:txBody>
          <a:bodyPr wrap="square" lIns="0" tIns="0" rIns="0" bIns="0" rtlCol="0" anchor="t"/>
          <a:lstStyle/>
          <a:p>
            <a:pPr indent="0" marL="0">
              <a:buNone/>
            </a:pPr>
            <a:r>
              <a:rPr lang="en-US" sz="1300" dirty="0">
                <a:solidFill>
                  <a:schemeClr val="accent4"/>
                </a:solidFill>
              </a:rPr>
              <a:t>machinery, vehicle, Safety Vest</a:t>
            </a:r>
            <a:endParaRPr lang="en-US" sz="1300" dirty="0"/>
          </a:p>
        </p:txBody>
      </p:sp>
      <p:pic>
        <p:nvPicPr>
          <p:cNvPr id="11" name="Image 3" descr="Safety Cone, vehicle">    </p:cNvPr>
          <p:cNvPicPr>
            <a:picLocks noChangeAspect="1"/>
          </p:cNvPicPr>
          <p:nvPr/>
        </p:nvPicPr>
        <p:blipFill>
          <a:blip r:embed="rId4"/>
          <a:stretch>
            <a:fillRect/>
          </a:stretch>
        </p:blipFill>
        <p:spPr>
          <a:xfrm>
            <a:off x="9040901" y="1554480"/>
            <a:ext cx="2602154" cy="2602154"/>
          </a:xfrm>
          <a:prstGeom prst="rect">
            <a:avLst/>
          </a:prstGeom>
        </p:spPr>
      </p:pic>
      <p:sp>
        <p:nvSpPr>
          <p:cNvPr id="12" name="Text 5"/>
          <p:cNvSpPr txBox="1"/>
          <p:nvPr/>
        </p:nvSpPr>
        <p:spPr>
          <a:xfrm>
            <a:off x="9040901" y="4248074"/>
            <a:ext cx="2602154" cy="274320"/>
          </a:xfrm>
          <a:prstGeom prst="rect">
            <a:avLst/>
          </a:prstGeom>
          <a:noFill/>
          <a:ln/>
        </p:spPr>
        <p:txBody>
          <a:bodyPr wrap="square" lIns="0" tIns="0" rIns="0" bIns="0" rtlCol="0" anchor="t"/>
          <a:lstStyle/>
          <a:p>
            <a:pPr indent="0" marL="0">
              <a:buNone/>
            </a:pPr>
            <a:r>
              <a:rPr lang="en-US" sz="1300" dirty="0">
                <a:solidFill>
                  <a:schemeClr val="accent4"/>
                </a:solidFill>
              </a:rPr>
              <a:t>Safety Cone, vehicle</a:t>
            </a:r>
            <a:endParaRPr lang="en-US" sz="1300" dirty="0"/>
          </a:p>
        </p:txBody>
      </p:sp>
      <p:sp>
        <p:nvSpPr>
          <p:cNvPr id="13" name="rule"/>
          <p:cNvSpPr/>
          <p:nvPr/>
        </p:nvSpPr>
        <p:spPr>
          <a:xfrm>
            <a:off x="548640" y="4754880"/>
            <a:ext cx="3515258" cy="0"/>
          </a:xfrm>
          <a:prstGeom prst="line">
            <a:avLst/>
          </a:prstGeom>
          <a:noFill/>
          <a:ln w="9525">
            <a:solidFill>
              <a:schemeClr val="tx1"/>
            </a:solidFill>
            <a:prstDash val="solid"/>
          </a:ln>
        </p:spPr>
      </p:sp>
      <p:sp>
        <p:nvSpPr>
          <p:cNvPr id="14" name="Text 7"/>
          <p:cNvSpPr txBox="1"/>
          <p:nvPr/>
        </p:nvSpPr>
        <p:spPr>
          <a:xfrm>
            <a:off x="548640" y="4846320"/>
            <a:ext cx="3515258" cy="292608"/>
          </a:xfrm>
          <a:prstGeom prst="rect">
            <a:avLst/>
          </a:prstGeom>
          <a:noFill/>
          <a:ln/>
        </p:spPr>
        <p:txBody>
          <a:bodyPr wrap="square" lIns="0" tIns="0" rIns="0" bIns="0" rtlCol="0" anchor="t"/>
          <a:lstStyle/>
          <a:p>
            <a:pPr indent="0" marL="0">
              <a:buNone/>
            </a:pPr>
            <a:r>
              <a:rPr lang="en-US" sz="1500" b="1" dirty="0">
                <a:solidFill>
                  <a:schemeClr val="tx1"/>
                </a:solidFill>
              </a:rPr>
              <a:t>Several scales</a:t>
            </a:r>
            <a:endParaRPr lang="en-US" sz="1500" dirty="0"/>
          </a:p>
        </p:txBody>
      </p:sp>
      <p:sp>
        <p:nvSpPr>
          <p:cNvPr id="15" name="Text 8"/>
          <p:cNvSpPr txBox="1"/>
          <p:nvPr/>
        </p:nvSpPr>
        <p:spPr>
          <a:xfrm>
            <a:off x="548640" y="5166360"/>
            <a:ext cx="3515258" cy="640080"/>
          </a:xfrm>
          <a:prstGeom prst="rect">
            <a:avLst/>
          </a:prstGeom>
          <a:noFill/>
          <a:ln/>
        </p:spPr>
        <p:txBody>
          <a:bodyPr wrap="square" lIns="0" tIns="0" rIns="0" bIns="0" rtlCol="0" anchor="t"/>
          <a:lstStyle/>
          <a:p>
            <a:pPr indent="0" marL="0">
              <a:buNone/>
            </a:pPr>
            <a:r>
              <a:rPr lang="en-US" sz="1300" dirty="0">
                <a:solidFill>
                  <a:schemeClr val="accent4"/>
                </a:solidFill>
              </a:rPr>
              <a:t>Workers, machinery and vehicles are found from close range to far field.</a:t>
            </a:r>
            <a:endParaRPr lang="en-US" sz="1300" dirty="0"/>
          </a:p>
        </p:txBody>
      </p:sp>
      <p:sp>
        <p:nvSpPr>
          <p:cNvPr id="16" name="rule"/>
          <p:cNvSpPr/>
          <p:nvPr/>
        </p:nvSpPr>
        <p:spPr>
          <a:xfrm>
            <a:off x="4338218" y="4754880"/>
            <a:ext cx="3515258" cy="0"/>
          </a:xfrm>
          <a:prstGeom prst="line">
            <a:avLst/>
          </a:prstGeom>
          <a:noFill/>
          <a:ln w="9525">
            <a:solidFill>
              <a:schemeClr val="tx1"/>
            </a:solidFill>
            <a:prstDash val="solid"/>
          </a:ln>
        </p:spPr>
      </p:sp>
      <p:sp>
        <p:nvSpPr>
          <p:cNvPr id="17" name="Text 10"/>
          <p:cNvSpPr txBox="1"/>
          <p:nvPr/>
        </p:nvSpPr>
        <p:spPr>
          <a:xfrm>
            <a:off x="4338218" y="4846320"/>
            <a:ext cx="3515258" cy="292608"/>
          </a:xfrm>
          <a:prstGeom prst="rect">
            <a:avLst/>
          </a:prstGeom>
          <a:noFill/>
          <a:ln/>
        </p:spPr>
        <p:txBody>
          <a:bodyPr wrap="square" lIns="0" tIns="0" rIns="0" bIns="0" rtlCol="0" anchor="t"/>
          <a:lstStyle/>
          <a:p>
            <a:pPr indent="0" marL="0">
              <a:buNone/>
            </a:pPr>
            <a:r>
              <a:rPr lang="en-US" sz="1500" b="1" dirty="0">
                <a:solidFill>
                  <a:schemeClr val="tx1"/>
                </a:solidFill>
              </a:rPr>
              <a:t>Violations are direct</a:t>
            </a:r>
            <a:endParaRPr lang="en-US" sz="1500" dirty="0"/>
          </a:p>
        </p:txBody>
      </p:sp>
      <p:sp>
        <p:nvSpPr>
          <p:cNvPr id="18" name="Text 11"/>
          <p:cNvSpPr txBox="1"/>
          <p:nvPr/>
        </p:nvSpPr>
        <p:spPr>
          <a:xfrm>
            <a:off x="4338218" y="5166360"/>
            <a:ext cx="3515258" cy="640080"/>
          </a:xfrm>
          <a:prstGeom prst="rect">
            <a:avLst/>
          </a:prstGeom>
          <a:noFill/>
          <a:ln/>
        </p:spPr>
        <p:txBody>
          <a:bodyPr wrap="square" lIns="0" tIns="0" rIns="0" bIns="0" rtlCol="0" anchor="t"/>
          <a:lstStyle/>
          <a:p>
            <a:pPr indent="0" marL="0">
              <a:buNone/>
            </a:pPr>
            <a:r>
              <a:rPr lang="en-US" sz="1300" dirty="0">
                <a:solidFill>
                  <a:schemeClr val="accent4"/>
                </a:solidFill>
              </a:rPr>
              <a:t>NO-Hardhat and NO-Safety Vest are predicted as classes of their own.</a:t>
            </a:r>
            <a:endParaRPr lang="en-US" sz="1300" dirty="0"/>
          </a:p>
        </p:txBody>
      </p:sp>
      <p:sp>
        <p:nvSpPr>
          <p:cNvPr id="19" name="rule"/>
          <p:cNvSpPr/>
          <p:nvPr/>
        </p:nvSpPr>
        <p:spPr>
          <a:xfrm>
            <a:off x="8127797" y="4754880"/>
            <a:ext cx="3515258" cy="0"/>
          </a:xfrm>
          <a:prstGeom prst="line">
            <a:avLst/>
          </a:prstGeom>
          <a:noFill/>
          <a:ln w="9525">
            <a:solidFill>
              <a:schemeClr val="tx1"/>
            </a:solidFill>
            <a:prstDash val="solid"/>
          </a:ln>
        </p:spPr>
      </p:sp>
      <p:sp>
        <p:nvSpPr>
          <p:cNvPr id="20" name="Text 13"/>
          <p:cNvSpPr txBox="1"/>
          <p:nvPr/>
        </p:nvSpPr>
        <p:spPr>
          <a:xfrm>
            <a:off x="8127797" y="4846320"/>
            <a:ext cx="3515258" cy="292608"/>
          </a:xfrm>
          <a:prstGeom prst="rect">
            <a:avLst/>
          </a:prstGeom>
          <a:noFill/>
          <a:ln/>
        </p:spPr>
        <p:txBody>
          <a:bodyPr wrap="square" lIns="0" tIns="0" rIns="0" bIns="0" rtlCol="0" anchor="t"/>
          <a:lstStyle/>
          <a:p>
            <a:pPr indent="0" marL="0">
              <a:buNone/>
            </a:pPr>
            <a:r>
              <a:rPr lang="en-US" sz="1500" b="1" dirty="0">
                <a:solidFill>
                  <a:schemeClr val="tx1"/>
                </a:solidFill>
              </a:rPr>
              <a:t>Small objects crowd</a:t>
            </a:r>
            <a:endParaRPr lang="en-US" sz="1500" dirty="0"/>
          </a:p>
        </p:txBody>
      </p:sp>
      <p:sp>
        <p:nvSpPr>
          <p:cNvPr id="21" name="Text 14"/>
          <p:cNvSpPr txBox="1"/>
          <p:nvPr/>
        </p:nvSpPr>
        <p:spPr>
          <a:xfrm>
            <a:off x="8127797" y="5166360"/>
            <a:ext cx="3515258" cy="640080"/>
          </a:xfrm>
          <a:prstGeom prst="rect">
            <a:avLst/>
          </a:prstGeom>
          <a:noFill/>
          <a:ln/>
        </p:spPr>
        <p:txBody>
          <a:bodyPr wrap="square" lIns="0" tIns="0" rIns="0" bIns="0" rtlCol="0" anchor="t"/>
          <a:lstStyle/>
          <a:p>
            <a:pPr indent="0" marL="0">
              <a:buNone/>
            </a:pPr>
            <a:r>
              <a:rPr lang="en-US" sz="1300" dirty="0">
                <a:solidFill>
                  <a:schemeClr val="accent4"/>
                </a:solidFill>
              </a:rPr>
              <a:t>Distant cones cluster together, matching their low AP.</a:t>
            </a:r>
            <a:endParaRPr lang="en-US" sz="1300" dirty="0"/>
          </a:p>
        </p:txBody>
      </p:sp>
      <p:sp>
        <p:nvSpPr>
          <p:cNvPr id="22" name="Text 15"/>
          <p:cNvSpPr txBox="1"/>
          <p:nvPr/>
        </p:nvSpPr>
        <p:spPr>
          <a:xfrm>
            <a:off x="548640" y="6053328"/>
            <a:ext cx="11094415" cy="228600"/>
          </a:xfrm>
          <a:prstGeom prst="rect">
            <a:avLst/>
          </a:prstGeom>
          <a:noFill/>
          <a:ln/>
        </p:spPr>
        <p:txBody>
          <a:bodyPr wrap="square" lIns="0" tIns="0" rIns="0" bIns="0" rtlCol="0" anchor="t"/>
          <a:lstStyle/>
          <a:p>
            <a:pPr indent="0" marL="0">
              <a:buNone/>
            </a:pPr>
            <a:r>
              <a:rPr lang="en-US" sz="1000" dirty="0">
                <a:solidFill>
                  <a:schemeClr val="accent4"/>
                </a:solidFill>
              </a:rPr>
              <a:t>Boxes and confidence scores drawn by the training notebook. Source: Backend/output/predictions/.</a:t>
            </a:r>
            <a:endParaRPr lang="en-US" sz="1000" dirty="0"/>
          </a:p>
        </p:txBody>
      </p:sp>
      <p:sp>
        <p:nvSpPr>
          <p:cNvPr id="25" name="Slide Number Placeholder 0"/>
          <p:cNvSpPr>
            <a:spLocks noGrp="1"/>
          </p:cNvSpPr>
          <p:nvPr>
            <p:ph type="sldNum" sz="quarter" idx="4294967295"/>
          </p:nvPr>
        </p:nvSpPr>
        <p:spPr>
          <a:xfrm>
            <a:off x="11091672" y="640080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84048"/>
            <a:ext cx="11094415" cy="256032"/>
          </a:xfrm>
          <a:prstGeom prst="rect">
            <a:avLst/>
          </a:prstGeom>
          <a:noFill/>
          <a:ln/>
        </p:spPr>
        <p:txBody>
          <a:bodyPr wrap="square" lIns="0" tIns="0" rIns="0" bIns="0" rtlCol="0" anchor="t"/>
          <a:lstStyle/>
          <a:p>
            <a:pPr indent="0" marL="0">
              <a:buNone/>
            </a:pPr>
            <a:r>
              <a:rPr lang="en-US" sz="1100" b="1" spc="150" kern="0" dirty="0">
                <a:solidFill>
                  <a:schemeClr val="accent4"/>
                </a:solidFill>
              </a:rPr>
              <a:t>IMPLEMENTATION</a:t>
            </a:r>
            <a:endParaRPr lang="en-US" sz="1100" dirty="0"/>
          </a:p>
        </p:txBody>
      </p:sp>
      <p:sp>
        <p:nvSpPr>
          <p:cNvPr id="3" name="Text 0"/>
          <p:cNvSpPr/>
          <p:nvPr>
            <p:ph idx="100"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3600" b="1" dirty="0">
                <a:solidFill>
                  <a:schemeClr val="tx1"/>
                </a:solidFill>
              </a:rPr>
              <a:t>From model to application</a:t>
            </a:r>
            <a:endParaRPr lang="en-US" sz="3600" dirty="0"/>
          </a:p>
        </p:txBody>
      </p:sp>
      <p:pic>
        <p:nvPicPr>
          <p:cNvPr id="5" name="Image 0" descr="Overview page of the dashboard">    </p:cNvPr>
          <p:cNvPicPr>
            <a:picLocks noChangeAspect="1"/>
          </p:cNvPicPr>
          <p:nvPr/>
        </p:nvPicPr>
        <p:blipFill>
          <a:blip r:embed="rId1"/>
          <a:stretch>
            <a:fillRect/>
          </a:stretch>
        </p:blipFill>
        <p:spPr>
          <a:xfrm>
            <a:off x="548640" y="1560338"/>
            <a:ext cx="6035040" cy="2731484"/>
          </a:xfrm>
          <a:prstGeom prst="rect">
            <a:avLst/>
          </a:prstGeom>
        </p:spPr>
      </p:pic>
      <p:sp>
        <p:nvSpPr>
          <p:cNvPr id="6" name="Text 2"/>
          <p:cNvSpPr txBox="1"/>
          <p:nvPr/>
        </p:nvSpPr>
        <p:spPr>
          <a:xfrm>
            <a:off x="548640" y="4383262"/>
            <a:ext cx="6035040" cy="274320"/>
          </a:xfrm>
          <a:prstGeom prst="rect">
            <a:avLst/>
          </a:prstGeom>
          <a:noFill/>
          <a:ln/>
        </p:spPr>
        <p:txBody>
          <a:bodyPr wrap="square" lIns="0" tIns="0" rIns="0" bIns="0" rtlCol="0" anchor="t"/>
          <a:lstStyle/>
          <a:p>
            <a:pPr indent="0" marL="0">
              <a:buNone/>
            </a:pPr>
            <a:r>
              <a:rPr lang="en-US" sz="1200" dirty="0">
                <a:solidFill>
                  <a:schemeClr val="accent4"/>
                </a:solidFill>
              </a:rPr>
              <a:t>Overview page: compliance score, alert activity and recent incidents</a:t>
            </a:r>
            <a:endParaRPr lang="en-US" sz="1200" dirty="0"/>
          </a:p>
        </p:txBody>
      </p:sp>
      <p:sp>
        <p:nvSpPr>
          <p:cNvPr id="7" name="rule"/>
          <p:cNvSpPr/>
          <p:nvPr/>
        </p:nvSpPr>
        <p:spPr>
          <a:xfrm>
            <a:off x="548640" y="4754880"/>
            <a:ext cx="1828800" cy="0"/>
          </a:xfrm>
          <a:prstGeom prst="line">
            <a:avLst/>
          </a:prstGeom>
          <a:noFill/>
          <a:ln w="9525">
            <a:solidFill>
              <a:schemeClr val="tx1"/>
            </a:solidFill>
            <a:prstDash val="solid"/>
          </a:ln>
        </p:spPr>
      </p:sp>
      <p:sp>
        <p:nvSpPr>
          <p:cNvPr id="8" name="Text 4"/>
          <p:cNvSpPr txBox="1"/>
          <p:nvPr/>
        </p:nvSpPr>
        <p:spPr>
          <a:xfrm>
            <a:off x="548640" y="4864608"/>
            <a:ext cx="1828800" cy="566928"/>
          </a:xfrm>
          <a:prstGeom prst="rect">
            <a:avLst/>
          </a:prstGeom>
          <a:noFill/>
          <a:ln/>
        </p:spPr>
        <p:txBody>
          <a:bodyPr wrap="square" lIns="0" tIns="0" rIns="0" bIns="0" rtlCol="0" anchor="t"/>
          <a:lstStyle/>
          <a:p>
            <a:pPr indent="0" marL="0">
              <a:buNone/>
            </a:pPr>
            <a:r>
              <a:rPr lang="en-US" sz="3200" b="1" dirty="0">
                <a:solidFill>
                  <a:schemeClr val="tx1"/>
                </a:solidFill>
              </a:rPr>
              <a:t>40.5 MB</a:t>
            </a:r>
            <a:endParaRPr lang="en-US" sz="3200" dirty="0"/>
          </a:p>
        </p:txBody>
      </p:sp>
      <p:sp>
        <p:nvSpPr>
          <p:cNvPr id="9" name="Text 5"/>
          <p:cNvSpPr txBox="1"/>
          <p:nvPr/>
        </p:nvSpPr>
        <p:spPr>
          <a:xfrm>
            <a:off x="548640" y="5449824"/>
            <a:ext cx="1828800" cy="457200"/>
          </a:xfrm>
          <a:prstGeom prst="rect">
            <a:avLst/>
          </a:prstGeom>
          <a:noFill/>
          <a:ln/>
        </p:spPr>
        <p:txBody>
          <a:bodyPr wrap="square" lIns="0" tIns="0" rIns="0" bIns="0" rtlCol="0" anchor="t"/>
          <a:lstStyle/>
          <a:p>
            <a:pPr indent="0" marL="0">
              <a:buNone/>
            </a:pPr>
            <a:r>
              <a:rPr lang="en-US" sz="1300" dirty="0">
                <a:solidFill>
                  <a:schemeClr val="accent4"/>
                </a:solidFill>
              </a:rPr>
              <a:t>trained weights in the repo</a:t>
            </a:r>
            <a:endParaRPr lang="en-US" sz="1300" dirty="0"/>
          </a:p>
        </p:txBody>
      </p:sp>
      <p:sp>
        <p:nvSpPr>
          <p:cNvPr id="10" name="rule"/>
          <p:cNvSpPr/>
          <p:nvPr/>
        </p:nvSpPr>
        <p:spPr>
          <a:xfrm>
            <a:off x="2651760" y="4754880"/>
            <a:ext cx="1828800" cy="0"/>
          </a:xfrm>
          <a:prstGeom prst="line">
            <a:avLst/>
          </a:prstGeom>
          <a:noFill/>
          <a:ln w="9525">
            <a:solidFill>
              <a:schemeClr val="tx1"/>
            </a:solidFill>
            <a:prstDash val="solid"/>
          </a:ln>
        </p:spPr>
      </p:sp>
      <p:sp>
        <p:nvSpPr>
          <p:cNvPr id="11" name="Text 7"/>
          <p:cNvSpPr txBox="1"/>
          <p:nvPr/>
        </p:nvSpPr>
        <p:spPr>
          <a:xfrm>
            <a:off x="2651760" y="4864608"/>
            <a:ext cx="1828800" cy="566928"/>
          </a:xfrm>
          <a:prstGeom prst="rect">
            <a:avLst/>
          </a:prstGeom>
          <a:noFill/>
          <a:ln/>
        </p:spPr>
        <p:txBody>
          <a:bodyPr wrap="square" lIns="0" tIns="0" rIns="0" bIns="0" rtlCol="0" anchor="t"/>
          <a:lstStyle/>
          <a:p>
            <a:pPr indent="0" marL="0">
              <a:buNone/>
            </a:pPr>
            <a:r>
              <a:rPr lang="en-US" sz="3200" b="1" dirty="0">
                <a:solidFill>
                  <a:schemeClr val="tx1"/>
                </a:solidFill>
              </a:rPr>
              <a:t>80.5 MB</a:t>
            </a:r>
            <a:endParaRPr lang="en-US" sz="3200" dirty="0"/>
          </a:p>
        </p:txBody>
      </p:sp>
      <p:sp>
        <p:nvSpPr>
          <p:cNvPr id="12" name="Text 8"/>
          <p:cNvSpPr txBox="1"/>
          <p:nvPr/>
        </p:nvSpPr>
        <p:spPr>
          <a:xfrm>
            <a:off x="2651760" y="5449824"/>
            <a:ext cx="1828800" cy="457200"/>
          </a:xfrm>
          <a:prstGeom prst="rect">
            <a:avLst/>
          </a:prstGeom>
          <a:noFill/>
          <a:ln/>
        </p:spPr>
        <p:txBody>
          <a:bodyPr wrap="square" lIns="0" tIns="0" rIns="0" bIns="0" rtlCol="0" anchor="t"/>
          <a:lstStyle/>
          <a:p>
            <a:pPr indent="0" marL="0">
              <a:buNone/>
            </a:pPr>
            <a:r>
              <a:rPr lang="en-US" sz="1300" dirty="0">
                <a:solidFill>
                  <a:schemeClr val="accent4"/>
                </a:solidFill>
              </a:rPr>
              <a:t>ONNX export, opset 17</a:t>
            </a:r>
            <a:endParaRPr lang="en-US" sz="1300" dirty="0"/>
          </a:p>
        </p:txBody>
      </p:sp>
      <p:sp>
        <p:nvSpPr>
          <p:cNvPr id="13" name="rule"/>
          <p:cNvSpPr/>
          <p:nvPr/>
        </p:nvSpPr>
        <p:spPr>
          <a:xfrm>
            <a:off x="4754880" y="4754880"/>
            <a:ext cx="1828800" cy="0"/>
          </a:xfrm>
          <a:prstGeom prst="line">
            <a:avLst/>
          </a:prstGeom>
          <a:noFill/>
          <a:ln w="9525">
            <a:solidFill>
              <a:schemeClr val="tx1"/>
            </a:solidFill>
            <a:prstDash val="solid"/>
          </a:ln>
        </p:spPr>
      </p:sp>
      <p:sp>
        <p:nvSpPr>
          <p:cNvPr id="14" name="Text 10"/>
          <p:cNvSpPr txBox="1"/>
          <p:nvPr/>
        </p:nvSpPr>
        <p:spPr>
          <a:xfrm>
            <a:off x="4754880" y="4864608"/>
            <a:ext cx="1828800" cy="566928"/>
          </a:xfrm>
          <a:prstGeom prst="rect">
            <a:avLst/>
          </a:prstGeom>
          <a:noFill/>
          <a:ln/>
        </p:spPr>
        <p:txBody>
          <a:bodyPr wrap="square" lIns="0" tIns="0" rIns="0" bIns="0" rtlCol="0" anchor="t"/>
          <a:lstStyle/>
          <a:p>
            <a:pPr indent="0" marL="0">
              <a:buNone/>
            </a:pPr>
            <a:r>
              <a:rPr lang="en-US" sz="3200" b="1" dirty="0">
                <a:solidFill>
                  <a:schemeClr val="tx1"/>
                </a:solidFill>
              </a:rPr>
              <a:t>15</a:t>
            </a:r>
            <a:endParaRPr lang="en-US" sz="3200" dirty="0"/>
          </a:p>
        </p:txBody>
      </p:sp>
      <p:sp>
        <p:nvSpPr>
          <p:cNvPr id="15" name="Text 11"/>
          <p:cNvSpPr txBox="1"/>
          <p:nvPr/>
        </p:nvSpPr>
        <p:spPr>
          <a:xfrm>
            <a:off x="4754880" y="5449824"/>
            <a:ext cx="1828800" cy="457200"/>
          </a:xfrm>
          <a:prstGeom prst="rect">
            <a:avLst/>
          </a:prstGeom>
          <a:noFill/>
          <a:ln/>
        </p:spPr>
        <p:txBody>
          <a:bodyPr wrap="square" lIns="0" tIns="0" rIns="0" bIns="0" rtlCol="0" anchor="t"/>
          <a:lstStyle/>
          <a:p>
            <a:pPr indent="0" marL="0">
              <a:buNone/>
            </a:pPr>
            <a:r>
              <a:rPr lang="en-US" sz="1300" dirty="0">
                <a:solidFill>
                  <a:schemeClr val="accent4"/>
                </a:solidFill>
              </a:rPr>
              <a:t>API endpoints</a:t>
            </a:r>
            <a:endParaRPr lang="en-US" sz="1300" dirty="0"/>
          </a:p>
        </p:txBody>
      </p:sp>
      <p:sp>
        <p:nvSpPr>
          <p:cNvPr id="16" name="rule"/>
          <p:cNvSpPr/>
          <p:nvPr/>
        </p:nvSpPr>
        <p:spPr>
          <a:xfrm>
            <a:off x="7223760" y="1554480"/>
            <a:ext cx="4419295" cy="0"/>
          </a:xfrm>
          <a:prstGeom prst="line">
            <a:avLst/>
          </a:prstGeom>
          <a:noFill/>
          <a:ln w="9525">
            <a:solidFill>
              <a:schemeClr val="tx1"/>
            </a:solidFill>
            <a:prstDash val="solid"/>
          </a:ln>
        </p:spPr>
      </p:sp>
      <p:sp>
        <p:nvSpPr>
          <p:cNvPr id="17" name="Text 13"/>
          <p:cNvSpPr txBox="1"/>
          <p:nvPr/>
        </p:nvSpPr>
        <p:spPr>
          <a:xfrm>
            <a:off x="7223760" y="1645920"/>
            <a:ext cx="4419295" cy="292608"/>
          </a:xfrm>
          <a:prstGeom prst="rect">
            <a:avLst/>
          </a:prstGeom>
          <a:noFill/>
          <a:ln/>
        </p:spPr>
        <p:txBody>
          <a:bodyPr wrap="square" lIns="0" tIns="0" rIns="0" bIns="0" rtlCol="0" anchor="t"/>
          <a:lstStyle/>
          <a:p>
            <a:pPr indent="0" marL="0">
              <a:buNone/>
            </a:pPr>
            <a:r>
              <a:rPr lang="en-US" sz="1500" b="1" dirty="0">
                <a:solidFill>
                  <a:schemeClr val="tx1"/>
                </a:solidFill>
              </a:rPr>
              <a:t>Backend</a:t>
            </a:r>
            <a:endParaRPr lang="en-US" sz="1500" dirty="0"/>
          </a:p>
        </p:txBody>
      </p:sp>
      <p:sp>
        <p:nvSpPr>
          <p:cNvPr id="18" name="Text 14"/>
          <p:cNvSpPr txBox="1"/>
          <p:nvPr/>
        </p:nvSpPr>
        <p:spPr>
          <a:xfrm>
            <a:off x="7223760" y="1947672"/>
            <a:ext cx="4419295" cy="658368"/>
          </a:xfrm>
          <a:prstGeom prst="rect">
            <a:avLst/>
          </a:prstGeom>
          <a:noFill/>
          <a:ln/>
        </p:spPr>
        <p:txBody>
          <a:bodyPr wrap="square" lIns="0" tIns="0" rIns="0" bIns="0" rtlCol="0" anchor="t"/>
          <a:lstStyle/>
          <a:p>
            <a:pPr indent="0" marL="0">
              <a:buNone/>
            </a:pPr>
            <a:r>
              <a:rPr lang="en-US" sz="1300" dirty="0">
                <a:solidFill>
                  <a:schemeClr val="accent4"/>
                </a:solidFill>
              </a:rPr>
              <a:t>FastAPI layers enforced by import-linter; a locked detector, background video jobs and atomic JSON storage</a:t>
            </a:r>
            <a:endParaRPr lang="en-US" sz="1300" dirty="0"/>
          </a:p>
        </p:txBody>
      </p:sp>
      <p:sp>
        <p:nvSpPr>
          <p:cNvPr id="19" name="rule"/>
          <p:cNvSpPr/>
          <p:nvPr/>
        </p:nvSpPr>
        <p:spPr>
          <a:xfrm>
            <a:off x="7223760" y="2651760"/>
            <a:ext cx="4419295" cy="0"/>
          </a:xfrm>
          <a:prstGeom prst="line">
            <a:avLst/>
          </a:prstGeom>
          <a:noFill/>
          <a:ln w="9525">
            <a:solidFill>
              <a:schemeClr val="tx1"/>
            </a:solidFill>
            <a:prstDash val="solid"/>
          </a:ln>
        </p:spPr>
      </p:sp>
      <p:sp>
        <p:nvSpPr>
          <p:cNvPr id="20" name="Text 16"/>
          <p:cNvSpPr txBox="1"/>
          <p:nvPr/>
        </p:nvSpPr>
        <p:spPr>
          <a:xfrm>
            <a:off x="7223760" y="2743200"/>
            <a:ext cx="4419295" cy="292608"/>
          </a:xfrm>
          <a:prstGeom prst="rect">
            <a:avLst/>
          </a:prstGeom>
          <a:noFill/>
          <a:ln/>
        </p:spPr>
        <p:txBody>
          <a:bodyPr wrap="square" lIns="0" tIns="0" rIns="0" bIns="0" rtlCol="0" anchor="t"/>
          <a:lstStyle/>
          <a:p>
            <a:pPr indent="0" marL="0">
              <a:buNone/>
            </a:pPr>
            <a:r>
              <a:rPr lang="en-US" sz="1500" b="1" dirty="0">
                <a:solidFill>
                  <a:schemeClr val="tx1"/>
                </a:solidFill>
              </a:rPr>
              <a:t>Dashboard</a:t>
            </a:r>
            <a:endParaRPr lang="en-US" sz="1500" dirty="0"/>
          </a:p>
        </p:txBody>
      </p:sp>
      <p:sp>
        <p:nvSpPr>
          <p:cNvPr id="21" name="Text 17"/>
          <p:cNvSpPr txBox="1"/>
          <p:nvPr/>
        </p:nvSpPr>
        <p:spPr>
          <a:xfrm>
            <a:off x="7223760" y="3044952"/>
            <a:ext cx="4419295" cy="658368"/>
          </a:xfrm>
          <a:prstGeom prst="rect">
            <a:avLst/>
          </a:prstGeom>
          <a:noFill/>
          <a:ln/>
        </p:spPr>
        <p:txBody>
          <a:bodyPr wrap="square" lIns="0" tIns="0" rIns="0" bIns="0" rtlCol="0" anchor="t"/>
          <a:lstStyle/>
          <a:p>
            <a:pPr indent="0" marL="0">
              <a:buNone/>
            </a:pPr>
            <a:r>
              <a:rPr lang="en-US" sz="1300" dirty="0">
                <a:solidFill>
                  <a:schemeClr val="accent4"/>
                </a:solidFill>
              </a:rPr>
              <a:t>React and TypeScript: Overview, Analyse and Incidents pages, live thresholds, CSV export</a:t>
            </a:r>
            <a:endParaRPr lang="en-US" sz="1300" dirty="0"/>
          </a:p>
        </p:txBody>
      </p:sp>
      <p:sp>
        <p:nvSpPr>
          <p:cNvPr id="22" name="rule"/>
          <p:cNvSpPr/>
          <p:nvPr/>
        </p:nvSpPr>
        <p:spPr>
          <a:xfrm>
            <a:off x="7223760" y="3749040"/>
            <a:ext cx="4419295" cy="0"/>
          </a:xfrm>
          <a:prstGeom prst="line">
            <a:avLst/>
          </a:prstGeom>
          <a:noFill/>
          <a:ln w="9525">
            <a:solidFill>
              <a:schemeClr val="tx1"/>
            </a:solidFill>
            <a:prstDash val="solid"/>
          </a:ln>
        </p:spPr>
      </p:sp>
      <p:sp>
        <p:nvSpPr>
          <p:cNvPr id="23" name="Text 19"/>
          <p:cNvSpPr txBox="1"/>
          <p:nvPr/>
        </p:nvSpPr>
        <p:spPr>
          <a:xfrm>
            <a:off x="7223760" y="3840480"/>
            <a:ext cx="4419295" cy="292608"/>
          </a:xfrm>
          <a:prstGeom prst="rect">
            <a:avLst/>
          </a:prstGeom>
          <a:noFill/>
          <a:ln/>
        </p:spPr>
        <p:txBody>
          <a:bodyPr wrap="square" lIns="0" tIns="0" rIns="0" bIns="0" rtlCol="0" anchor="t"/>
          <a:lstStyle/>
          <a:p>
            <a:pPr indent="0" marL="0">
              <a:buNone/>
            </a:pPr>
            <a:r>
              <a:rPr lang="en-US" sz="1500" b="1" dirty="0">
                <a:solidFill>
                  <a:schemeClr val="tx1"/>
                </a:solidFill>
              </a:rPr>
              <a:t>Deployment</a:t>
            </a:r>
            <a:endParaRPr lang="en-US" sz="1500" dirty="0"/>
          </a:p>
        </p:txBody>
      </p:sp>
      <p:sp>
        <p:nvSpPr>
          <p:cNvPr id="24" name="Text 20"/>
          <p:cNvSpPr txBox="1"/>
          <p:nvPr/>
        </p:nvSpPr>
        <p:spPr>
          <a:xfrm>
            <a:off x="7223760" y="4142232"/>
            <a:ext cx="4419295" cy="658368"/>
          </a:xfrm>
          <a:prstGeom prst="rect">
            <a:avLst/>
          </a:prstGeom>
          <a:noFill/>
          <a:ln/>
        </p:spPr>
        <p:txBody>
          <a:bodyPr wrap="square" lIns="0" tIns="0" rIns="0" bIns="0" rtlCol="0" anchor="t"/>
          <a:lstStyle/>
          <a:p>
            <a:pPr indent="0" marL="0">
              <a:buNone/>
            </a:pPr>
            <a:r>
              <a:rPr lang="en-US" sz="1300" dirty="0">
                <a:solidFill>
                  <a:schemeClr val="accent4"/>
                </a:solidFill>
              </a:rPr>
              <a:t>Extract the notebook's outputs.zip into Backend/output/, then npm run dev</a:t>
            </a:r>
            <a:endParaRPr lang="en-US" sz="1300" dirty="0"/>
          </a:p>
        </p:txBody>
      </p:sp>
      <p:sp>
        <p:nvSpPr>
          <p:cNvPr id="25" name="rule"/>
          <p:cNvSpPr/>
          <p:nvPr/>
        </p:nvSpPr>
        <p:spPr>
          <a:xfrm>
            <a:off x="7223760" y="4846320"/>
            <a:ext cx="4419295" cy="0"/>
          </a:xfrm>
          <a:prstGeom prst="line">
            <a:avLst/>
          </a:prstGeom>
          <a:noFill/>
          <a:ln w="9525">
            <a:solidFill>
              <a:schemeClr val="tx1"/>
            </a:solidFill>
            <a:prstDash val="solid"/>
          </a:ln>
        </p:spPr>
      </p:sp>
      <p:sp>
        <p:nvSpPr>
          <p:cNvPr id="26" name="Text 22"/>
          <p:cNvSpPr txBox="1"/>
          <p:nvPr/>
        </p:nvSpPr>
        <p:spPr>
          <a:xfrm>
            <a:off x="7223760" y="4937760"/>
            <a:ext cx="4419295" cy="292608"/>
          </a:xfrm>
          <a:prstGeom prst="rect">
            <a:avLst/>
          </a:prstGeom>
          <a:noFill/>
          <a:ln/>
        </p:spPr>
        <p:txBody>
          <a:bodyPr wrap="square" lIns="0" tIns="0" rIns="0" bIns="0" rtlCol="0" anchor="t"/>
          <a:lstStyle/>
          <a:p>
            <a:pPr indent="0" marL="0">
              <a:buNone/>
            </a:pPr>
            <a:r>
              <a:rPr lang="en-US" sz="1500" b="1" dirty="0">
                <a:solidFill>
                  <a:schemeClr val="tx1"/>
                </a:solidFill>
              </a:rPr>
              <a:t>Quality</a:t>
            </a:r>
            <a:endParaRPr lang="en-US" sz="1500" dirty="0"/>
          </a:p>
        </p:txBody>
      </p:sp>
      <p:sp>
        <p:nvSpPr>
          <p:cNvPr id="27" name="Text 23"/>
          <p:cNvSpPr txBox="1"/>
          <p:nvPr/>
        </p:nvSpPr>
        <p:spPr>
          <a:xfrm>
            <a:off x="7223760" y="5239512"/>
            <a:ext cx="4419295" cy="658368"/>
          </a:xfrm>
          <a:prstGeom prst="rect">
            <a:avLst/>
          </a:prstGeom>
          <a:noFill/>
          <a:ln/>
        </p:spPr>
        <p:txBody>
          <a:bodyPr wrap="square" lIns="0" tIns="0" rIns="0" bIns="0" rtlCol="0" anchor="t"/>
          <a:lstStyle/>
          <a:p>
            <a:pPr indent="0" marL="0">
              <a:buNone/>
            </a:pPr>
            <a:r>
              <a:rPr lang="en-US" sz="1300" dirty="0">
                <a:solidFill>
                  <a:schemeClr val="accent4"/>
                </a:solidFill>
              </a:rPr>
              <a:t>pytest with a fake detector; npm run check runs every check locally and in CI</a:t>
            </a:r>
            <a:endParaRPr lang="en-US" sz="1300" dirty="0"/>
          </a:p>
        </p:txBody>
      </p:sp>
      <p:sp>
        <p:nvSpPr>
          <p:cNvPr id="28" name="Text 24"/>
          <p:cNvSpPr txBox="1"/>
          <p:nvPr/>
        </p:nvSpPr>
        <p:spPr>
          <a:xfrm>
            <a:off x="548640" y="6053328"/>
            <a:ext cx="11094415" cy="228600"/>
          </a:xfrm>
          <a:prstGeom prst="rect">
            <a:avLst/>
          </a:prstGeom>
          <a:noFill/>
          <a:ln/>
        </p:spPr>
        <p:txBody>
          <a:bodyPr wrap="square" lIns="0" tIns="0" rIns="0" bIns="0" rtlCol="0" anchor="t"/>
          <a:lstStyle/>
          <a:p>
            <a:pPr indent="0" marL="0">
              <a:buNone/>
            </a:pPr>
            <a:r>
              <a:rPr lang="en-US" sz="1000" dirty="0">
                <a:solidFill>
                  <a:schemeClr val="accent4"/>
                </a:solidFill>
              </a:rPr>
              <a:t>Sources: README.md (API endpoints, configuration), ARCHITECTURE.md, docs/screenshots/overview.png (empty state).</a:t>
            </a:r>
            <a:endParaRPr lang="en-US" sz="1000" dirty="0"/>
          </a:p>
        </p:txBody>
      </p:sp>
      <p:sp>
        <p:nvSpPr>
          <p:cNvPr id="25" name="Slide Number Placeholder 0"/>
          <p:cNvSpPr>
            <a:spLocks noGrp="1"/>
          </p:cNvSpPr>
          <p:nvPr>
            <p:ph type="sldNum" sz="quarter" idx="4294967295"/>
          </p:nvPr>
        </p:nvSpPr>
        <p:spPr>
          <a:xfrm>
            <a:off x="11091672" y="640080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84048"/>
            <a:ext cx="11094415" cy="256032"/>
          </a:xfrm>
          <a:prstGeom prst="rect">
            <a:avLst/>
          </a:prstGeom>
          <a:noFill/>
          <a:ln/>
        </p:spPr>
        <p:txBody>
          <a:bodyPr wrap="square" lIns="0" tIns="0" rIns="0" bIns="0" rtlCol="0" anchor="t"/>
          <a:lstStyle/>
          <a:p>
            <a:pPr indent="0" marL="0">
              <a:buNone/>
            </a:pPr>
            <a:r>
              <a:rPr lang="en-US" sz="1100" b="1" spc="150" kern="0" dirty="0">
                <a:solidFill>
                  <a:schemeClr val="accent4"/>
                </a:solidFill>
              </a:rPr>
              <a:t>CONCLUSION</a:t>
            </a:r>
            <a:endParaRPr lang="en-US" sz="1100" dirty="0"/>
          </a:p>
        </p:txBody>
      </p:sp>
      <p:sp>
        <p:nvSpPr>
          <p:cNvPr id="3" name="Text 0"/>
          <p:cNvSpPr/>
          <p:nvPr>
            <p:ph idx="100"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3600" b="1" dirty="0">
                <a:solidFill>
                  <a:schemeClr val="tx1"/>
                </a:solidFill>
              </a:rPr>
              <a:t>Findings, limitations and next steps</a:t>
            </a:r>
            <a:endParaRPr lang="en-US" sz="3600" dirty="0"/>
          </a:p>
        </p:txBody>
      </p:sp>
      <p:sp>
        <p:nvSpPr>
          <p:cNvPr id="5" name="column rule"/>
          <p:cNvSpPr/>
          <p:nvPr/>
        </p:nvSpPr>
        <p:spPr>
          <a:xfrm>
            <a:off x="548640" y="1554480"/>
            <a:ext cx="3423818" cy="0"/>
          </a:xfrm>
          <a:prstGeom prst="line">
            <a:avLst/>
          </a:prstGeom>
          <a:noFill/>
          <a:ln w="31750">
            <a:solidFill>
              <a:schemeClr val="accent3"/>
            </a:solidFill>
            <a:prstDash val="solid"/>
          </a:ln>
        </p:spPr>
      </p:sp>
      <p:sp>
        <p:nvSpPr>
          <p:cNvPr id="6" name="Text 3"/>
          <p:cNvSpPr txBox="1"/>
          <p:nvPr/>
        </p:nvSpPr>
        <p:spPr>
          <a:xfrm>
            <a:off x="548640" y="1691640"/>
            <a:ext cx="3423818" cy="365760"/>
          </a:xfrm>
          <a:prstGeom prst="rect">
            <a:avLst/>
          </a:prstGeom>
          <a:noFill/>
          <a:ln/>
        </p:spPr>
        <p:txBody>
          <a:bodyPr wrap="square" lIns="0" tIns="0" rIns="0" bIns="0" rtlCol="0" anchor="t"/>
          <a:lstStyle/>
          <a:p>
            <a:pPr indent="0" marL="0">
              <a:buNone/>
            </a:pPr>
            <a:r>
              <a:rPr lang="en-US" sz="1800" b="1" dirty="0">
                <a:solidFill>
                  <a:schemeClr val="accent3"/>
                </a:solidFill>
              </a:rPr>
              <a:t>Findings</a:t>
            </a:r>
            <a:endParaRPr lang="en-US" sz="1800" dirty="0"/>
          </a:p>
        </p:txBody>
      </p:sp>
      <p:sp>
        <p:nvSpPr>
          <p:cNvPr id="7" name="Text 4"/>
          <p:cNvSpPr txBox="1"/>
          <p:nvPr/>
        </p:nvSpPr>
        <p:spPr>
          <a:xfrm>
            <a:off x="548640" y="2194560"/>
            <a:ext cx="3423818" cy="2651760"/>
          </a:xfrm>
          <a:prstGeom prst="rect">
            <a:avLst/>
          </a:prstGeom>
          <a:noFill/>
          <a:ln/>
        </p:spPr>
        <p:txBody>
          <a:bodyPr wrap="square" lIns="0" tIns="0" rIns="0" bIns="0" rtlCol="0" anchor="t"/>
          <a:lstStyle/>
          <a:p>
            <a:pPr indent="0" marL="0">
              <a:spcAft>
                <a:spcPts val="1000"/>
              </a:spcAft>
              <a:buNone/>
            </a:pPr>
            <a:r>
              <a:rPr lang="en-US" sz="1400" b="1" dirty="0">
                <a:solidFill>
                  <a:schemeClr val="tx1"/>
                </a:solidFill>
              </a:rPr>
              <a:t>Accurate and fast: </a:t>
            </a:r>
            <a:pPr indent="0" marL="0">
              <a:buNone/>
            </a:pPr>
            <a:r>
              <a:rPr lang="en-US" sz="1400" dirty="0">
                <a:solidFill>
                  <a:schemeClr val="tx1"/>
                </a:solidFill>
              </a:rPr>
              <a:t>test mAP@0.5 0.8659 at 31.3 ms per image</a:t>
            </a:r>
            <a:endParaRPr lang="en-US" sz="1400" dirty="0"/>
          </a:p>
          <a:p>
            <a:pPr indent="0" marL="0">
              <a:spcAft>
                <a:spcPts val="1000"/>
              </a:spcAft>
              <a:buNone/>
            </a:pPr>
            <a:r>
              <a:rPr lang="en-US" sz="1400" b="1" dirty="0">
                <a:solidFill>
                  <a:schemeClr val="tx1"/>
                </a:solidFill>
              </a:rPr>
              <a:t>TTA rejected: </a:t>
            </a:r>
            <a:pPr indent="0" marL="0">
              <a:buNone/>
            </a:pPr>
            <a:r>
              <a:rPr lang="en-US" sz="1400" dirty="0">
                <a:solidFill>
                  <a:schemeClr val="tx1"/>
                </a:solidFill>
              </a:rPr>
              <a:t>2.7× slower with no mAP@0.5 gain</a:t>
            </a:r>
            <a:endParaRPr lang="en-US" sz="1400" dirty="0"/>
          </a:p>
          <a:p>
            <a:pPr indent="0" marL="0">
              <a:spcAft>
                <a:spcPts val="1000"/>
              </a:spcAft>
              <a:buNone/>
            </a:pPr>
            <a:r>
              <a:rPr lang="en-US" sz="1400" b="1" dirty="0">
                <a:solidFill>
                  <a:schemeClr val="tx1"/>
                </a:solidFill>
              </a:rPr>
              <a:t>Errors located: </a:t>
            </a:r>
            <a:pPr indent="0" marL="0">
              <a:buNone/>
            </a:pPr>
            <a:r>
              <a:rPr lang="en-US" sz="1400" dirty="0">
                <a:solidFill>
                  <a:schemeClr val="tx1"/>
                </a:solidFill>
              </a:rPr>
              <a:t>small, thin objects drive misses; NO-Hardhat as Hardhat (9%) is the critical swap</a:t>
            </a:r>
            <a:endParaRPr lang="en-US" sz="1400" dirty="0"/>
          </a:p>
          <a:p>
            <a:pPr indent="0" marL="0">
              <a:spcAft>
                <a:spcPts val="1000"/>
              </a:spcAft>
              <a:buNone/>
            </a:pPr>
            <a:r>
              <a:rPr lang="en-US" sz="1400" b="1" dirty="0">
                <a:solidFill>
                  <a:schemeClr val="tx1"/>
                </a:solidFill>
              </a:rPr>
              <a:t>End to end: </a:t>
            </a:r>
            <a:pPr indent="0" marL="0">
              <a:buNone/>
            </a:pPr>
            <a:r>
              <a:rPr lang="en-US" sz="1400" dirty="0">
                <a:solidFill>
                  <a:schemeClr val="tx1"/>
                </a:solidFill>
              </a:rPr>
              <a:t>rule, 5-frame confirmation and an open-source app [21]</a:t>
            </a:r>
            <a:endParaRPr lang="en-US" sz="1400" dirty="0"/>
          </a:p>
        </p:txBody>
      </p:sp>
      <p:sp>
        <p:nvSpPr>
          <p:cNvPr id="8" name="column rule"/>
          <p:cNvSpPr/>
          <p:nvPr/>
        </p:nvSpPr>
        <p:spPr>
          <a:xfrm>
            <a:off x="4383938" y="1554480"/>
            <a:ext cx="3423818" cy="0"/>
          </a:xfrm>
          <a:prstGeom prst="line">
            <a:avLst/>
          </a:prstGeom>
          <a:noFill/>
          <a:ln w="31750">
            <a:solidFill>
              <a:schemeClr val="accent2"/>
            </a:solidFill>
            <a:prstDash val="solid"/>
          </a:ln>
        </p:spPr>
      </p:sp>
      <p:sp>
        <p:nvSpPr>
          <p:cNvPr id="9" name="Text 6"/>
          <p:cNvSpPr txBox="1"/>
          <p:nvPr/>
        </p:nvSpPr>
        <p:spPr>
          <a:xfrm>
            <a:off x="4383938" y="1691640"/>
            <a:ext cx="3423818" cy="365760"/>
          </a:xfrm>
          <a:prstGeom prst="rect">
            <a:avLst/>
          </a:prstGeom>
          <a:noFill/>
          <a:ln/>
        </p:spPr>
        <p:txBody>
          <a:bodyPr wrap="square" lIns="0" tIns="0" rIns="0" bIns="0" rtlCol="0" anchor="t"/>
          <a:lstStyle/>
          <a:p>
            <a:pPr indent="0" marL="0">
              <a:buNone/>
            </a:pPr>
            <a:r>
              <a:rPr lang="en-US" sz="1800" b="1" dirty="0">
                <a:solidFill>
                  <a:schemeClr val="accent2"/>
                </a:solidFill>
              </a:rPr>
              <a:t>Limitations</a:t>
            </a:r>
            <a:endParaRPr lang="en-US" sz="1800" dirty="0"/>
          </a:p>
        </p:txBody>
      </p:sp>
      <p:sp>
        <p:nvSpPr>
          <p:cNvPr id="10" name="Text 7"/>
          <p:cNvSpPr txBox="1"/>
          <p:nvPr/>
        </p:nvSpPr>
        <p:spPr>
          <a:xfrm>
            <a:off x="4383938" y="2194560"/>
            <a:ext cx="3423818" cy="2651760"/>
          </a:xfrm>
          <a:prstGeom prst="rect">
            <a:avLst/>
          </a:prstGeom>
          <a:noFill/>
          <a:ln/>
        </p:spPr>
        <p:txBody>
          <a:bodyPr wrap="square" lIns="0" tIns="0" rIns="0" bIns="0" rtlCol="0" anchor="t"/>
          <a:lstStyle/>
          <a:p>
            <a:pPr indent="0" marL="0">
              <a:spcAft>
                <a:spcPts val="1000"/>
              </a:spcAft>
              <a:buNone/>
            </a:pPr>
            <a:r>
              <a:rPr lang="en-US" sz="1400" b="1" dirty="0">
                <a:solidFill>
                  <a:schemeClr val="tx1"/>
                </a:solidFill>
              </a:rPr>
              <a:t>One run, one split: </a:t>
            </a:r>
            <a:pPr indent="0" marL="0">
              <a:buNone/>
            </a:pPr>
            <a:r>
              <a:rPr lang="en-US" sz="1400" dirty="0">
                <a:solidFill>
                  <a:schemeClr val="tx1"/>
                </a:solidFill>
              </a:rPr>
              <a:t>no cross-validation or external test set</a:t>
            </a:r>
            <a:endParaRPr lang="en-US" sz="1400" dirty="0"/>
          </a:p>
          <a:p>
            <a:pPr indent="0" marL="0">
              <a:spcAft>
                <a:spcPts val="1000"/>
              </a:spcAft>
              <a:buNone/>
            </a:pPr>
            <a:r>
              <a:rPr lang="en-US" sz="1400" b="1" dirty="0">
                <a:solidFill>
                  <a:schemeClr val="tx1"/>
                </a:solidFill>
              </a:rPr>
              <a:t>Frame-level score: </a:t>
            </a:r>
            <a:pPr indent="0" marL="0">
              <a:buNone/>
            </a:pPr>
            <a:r>
              <a:rPr lang="en-US" sz="1400" dirty="0">
                <a:solidFill>
                  <a:schemeClr val="tx1"/>
                </a:solidFill>
              </a:rPr>
              <a:t>PPE is not linked to individual workers</a:t>
            </a:r>
            <a:endParaRPr lang="en-US" sz="1400" dirty="0"/>
          </a:p>
          <a:p>
            <a:pPr indent="0" marL="0">
              <a:spcAft>
                <a:spcPts val="1000"/>
              </a:spcAft>
              <a:buNone/>
            </a:pPr>
            <a:r>
              <a:rPr lang="en-US" sz="1400" b="1" dirty="0">
                <a:solidFill>
                  <a:schemeClr val="tx1"/>
                </a:solidFill>
              </a:rPr>
              <a:t>Untuned filter: </a:t>
            </a:r>
            <a:pPr indent="0" marL="0">
              <a:buNone/>
            </a:pPr>
            <a:r>
              <a:rPr lang="en-US" sz="1400" dirty="0">
                <a:solidFill>
                  <a:schemeClr val="tx1"/>
                </a:solidFill>
              </a:rPr>
              <a:t>W = 5 and the 2 s cooldown set by design</a:t>
            </a:r>
            <a:endParaRPr lang="en-US" sz="1400" dirty="0"/>
          </a:p>
          <a:p>
            <a:pPr indent="0" marL="0">
              <a:spcAft>
                <a:spcPts val="1000"/>
              </a:spcAft>
              <a:buNone/>
            </a:pPr>
            <a:r>
              <a:rPr lang="en-US" sz="1400" b="1" dirty="0">
                <a:solidFill>
                  <a:schemeClr val="tx1"/>
                </a:solidFill>
              </a:rPr>
              <a:t>Single host: </a:t>
            </a:r>
            <a:pPr indent="0" marL="0">
              <a:buNone/>
            </a:pPr>
            <a:r>
              <a:rPr lang="en-US" sz="1400" dirty="0">
                <a:solidFill>
                  <a:schemeClr val="tx1"/>
                </a:solidFill>
              </a:rPr>
              <a:t>in-memory video jobs share one model lock</a:t>
            </a:r>
            <a:endParaRPr lang="en-US" sz="1400" dirty="0"/>
          </a:p>
        </p:txBody>
      </p:sp>
      <p:sp>
        <p:nvSpPr>
          <p:cNvPr id="11" name="column rule"/>
          <p:cNvSpPr/>
          <p:nvPr/>
        </p:nvSpPr>
        <p:spPr>
          <a:xfrm>
            <a:off x="8219237" y="1554480"/>
            <a:ext cx="3423818" cy="0"/>
          </a:xfrm>
          <a:prstGeom prst="line">
            <a:avLst/>
          </a:prstGeom>
          <a:noFill/>
          <a:ln w="31750">
            <a:solidFill>
              <a:schemeClr val="accent6"/>
            </a:solidFill>
            <a:prstDash val="solid"/>
          </a:ln>
        </p:spPr>
      </p:sp>
      <p:sp>
        <p:nvSpPr>
          <p:cNvPr id="12" name="Text 9"/>
          <p:cNvSpPr txBox="1"/>
          <p:nvPr/>
        </p:nvSpPr>
        <p:spPr>
          <a:xfrm>
            <a:off x="8219237" y="1691640"/>
            <a:ext cx="3423818" cy="365760"/>
          </a:xfrm>
          <a:prstGeom prst="rect">
            <a:avLst/>
          </a:prstGeom>
          <a:noFill/>
          <a:ln/>
        </p:spPr>
        <p:txBody>
          <a:bodyPr wrap="square" lIns="0" tIns="0" rIns="0" bIns="0" rtlCol="0" anchor="t"/>
          <a:lstStyle/>
          <a:p>
            <a:pPr indent="0" marL="0">
              <a:buNone/>
            </a:pPr>
            <a:r>
              <a:rPr lang="en-US" sz="1800" b="1" dirty="0">
                <a:solidFill>
                  <a:schemeClr val="accent6"/>
                </a:solidFill>
              </a:rPr>
              <a:t>Next steps</a:t>
            </a:r>
            <a:endParaRPr lang="en-US" sz="1800" dirty="0"/>
          </a:p>
        </p:txBody>
      </p:sp>
      <p:sp>
        <p:nvSpPr>
          <p:cNvPr id="13" name="Text 10"/>
          <p:cNvSpPr txBox="1"/>
          <p:nvPr/>
        </p:nvSpPr>
        <p:spPr>
          <a:xfrm>
            <a:off x="8219237" y="2194560"/>
            <a:ext cx="3423818" cy="2651760"/>
          </a:xfrm>
          <a:prstGeom prst="rect">
            <a:avLst/>
          </a:prstGeom>
          <a:noFill/>
          <a:ln/>
        </p:spPr>
        <p:txBody>
          <a:bodyPr wrap="square" lIns="0" tIns="0" rIns="0" bIns="0" rtlCol="0" anchor="t"/>
          <a:lstStyle/>
          <a:p>
            <a:pPr indent="0" marL="0">
              <a:spcAft>
                <a:spcPts val="1000"/>
              </a:spcAft>
              <a:buNone/>
            </a:pPr>
            <a:r>
              <a:rPr lang="en-US" sz="1400" b="1" dirty="0">
                <a:solidFill>
                  <a:schemeClr val="tx1"/>
                </a:solidFill>
              </a:rPr>
              <a:t>Per-worker compliance: </a:t>
            </a:r>
            <a:pPr indent="0" marL="0">
              <a:buNone/>
            </a:pPr>
            <a:r>
              <a:rPr lang="en-US" sz="1400" dirty="0">
                <a:solidFill>
                  <a:schemeClr val="tx1"/>
                </a:solidFill>
              </a:rPr>
              <a:t>associate PPE with persons and track them</a:t>
            </a:r>
            <a:endParaRPr lang="en-US" sz="1400" dirty="0"/>
          </a:p>
          <a:p>
            <a:pPr indent="0" marL="0">
              <a:spcAft>
                <a:spcPts val="1000"/>
              </a:spcAft>
              <a:buNone/>
            </a:pPr>
            <a:r>
              <a:rPr lang="en-US" sz="1400" b="1" dirty="0">
                <a:solidFill>
                  <a:schemeClr val="tx1"/>
                </a:solidFill>
              </a:rPr>
              <a:t>Tune on annotated video: </a:t>
            </a:r>
            <a:pPr indent="0" marL="0">
              <a:buNone/>
            </a:pPr>
            <a:r>
              <a:rPr lang="en-US" sz="1400" dirty="0">
                <a:solidFill>
                  <a:schemeClr val="tx1"/>
                </a:solidFill>
              </a:rPr>
              <a:t>measure false-alarm reduction</a:t>
            </a:r>
            <a:endParaRPr lang="en-US" sz="1400" dirty="0"/>
          </a:p>
          <a:p>
            <a:pPr indent="0" marL="0">
              <a:spcAft>
                <a:spcPts val="1000"/>
              </a:spcAft>
              <a:buNone/>
            </a:pPr>
            <a:r>
              <a:rPr lang="en-US" sz="1400" b="1" dirty="0">
                <a:solidFill>
                  <a:schemeClr val="tx1"/>
                </a:solidFill>
              </a:rPr>
              <a:t>Generalise: </a:t>
            </a:r>
            <a:pPr indent="0" marL="0">
              <a:buNone/>
            </a:pPr>
            <a:r>
              <a:rPr lang="en-US" sz="1400" dirty="0">
                <a:solidFill>
                  <a:schemeClr val="tx1"/>
                </a:solidFill>
              </a:rPr>
              <a:t>other sites, weather and lighting; small objects</a:t>
            </a:r>
            <a:endParaRPr lang="en-US" sz="1400" dirty="0"/>
          </a:p>
          <a:p>
            <a:pPr indent="0" marL="0">
              <a:spcAft>
                <a:spcPts val="1000"/>
              </a:spcAft>
              <a:buNone/>
            </a:pPr>
            <a:r>
              <a:rPr lang="en-US" sz="1400" b="1" dirty="0">
                <a:solidFill>
                  <a:schemeClr val="tx1"/>
                </a:solidFill>
              </a:rPr>
              <a:t>Compare: </a:t>
            </a:r>
            <a:pPr indent="0" marL="0">
              <a:buNone/>
            </a:pPr>
            <a:r>
              <a:rPr lang="en-US" sz="1400" dirty="0">
                <a:solidFill>
                  <a:schemeClr val="tx1"/>
                </a:solidFill>
              </a:rPr>
              <a:t>RT-DETR [20] on the same split</a:t>
            </a:r>
            <a:endParaRPr lang="en-US" sz="1400" dirty="0"/>
          </a:p>
        </p:txBody>
      </p:sp>
      <p:sp>
        <p:nvSpPr>
          <p:cNvPr id="14" name="takeaway"/>
          <p:cNvSpPr/>
          <p:nvPr/>
        </p:nvSpPr>
        <p:spPr>
          <a:xfrm>
            <a:off x="548640" y="4892040"/>
            <a:ext cx="11094415" cy="1005840"/>
          </a:xfrm>
          <a:prstGeom prst="rect">
            <a:avLst/>
          </a:prstGeom>
          <a:solidFill>
            <a:schemeClr val="tx1"/>
          </a:solidFill>
          <a:ln w="12700">
            <a:solidFill>
              <a:schemeClr val="tx1"/>
            </a:solidFill>
            <a:prstDash val="solid"/>
          </a:ln>
        </p:spPr>
      </p:sp>
      <p:sp>
        <p:nvSpPr>
          <p:cNvPr id="15" name="Text 12"/>
          <p:cNvSpPr txBox="1"/>
          <p:nvPr/>
        </p:nvSpPr>
        <p:spPr>
          <a:xfrm>
            <a:off x="868680" y="4892040"/>
            <a:ext cx="10454335" cy="100584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bg1"/>
                </a:solidFill>
              </a:rPr>
              <a:t>a 31 ms detector, a compliance rule and five-frame confirmation together turn PPE detections into incidents that safety staff can review. Linking PPE to individual workers is the next step.</a:t>
            </a:r>
            <a:endParaRPr lang="en-US" sz="1600" dirty="0"/>
          </a:p>
        </p:txBody>
      </p:sp>
      <p:sp>
        <p:nvSpPr>
          <p:cNvPr id="25" name="Slide Number Placeholder 0"/>
          <p:cNvSpPr>
            <a:spLocks noGrp="1"/>
          </p:cNvSpPr>
          <p:nvPr>
            <p:ph type="sldNum" sz="quarter" idx="4294967295"/>
          </p:nvPr>
        </p:nvSpPr>
        <p:spPr>
          <a:xfrm>
            <a:off x="11091672" y="640080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84048"/>
            <a:ext cx="11094415" cy="256032"/>
          </a:xfrm>
          <a:prstGeom prst="rect">
            <a:avLst/>
          </a:prstGeom>
          <a:noFill/>
          <a:ln/>
        </p:spPr>
        <p:txBody>
          <a:bodyPr wrap="square" lIns="0" tIns="0" rIns="0" bIns="0" rtlCol="0" anchor="t"/>
          <a:lstStyle/>
          <a:p>
            <a:pPr indent="0" marL="0">
              <a:buNone/>
            </a:pPr>
            <a:r>
              <a:rPr lang="en-US" sz="1100" b="1" spc="150" kern="0" dirty="0">
                <a:solidFill>
                  <a:schemeClr val="accent4"/>
                </a:solidFill>
              </a:rPr>
              <a:t>REFERENCES</a:t>
            </a:r>
            <a:endParaRPr lang="en-US" sz="1100" dirty="0"/>
          </a:p>
        </p:txBody>
      </p:sp>
      <p:sp>
        <p:nvSpPr>
          <p:cNvPr id="3" name="Text 0"/>
          <p:cNvSpPr/>
          <p:nvPr>
            <p:ph idx="100"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3600" b="1" dirty="0">
                <a:solidFill>
                  <a:schemeClr val="tx1"/>
                </a:solidFill>
              </a:rPr>
              <a:t>References</a:t>
            </a:r>
            <a:endParaRPr lang="en-US" sz="3600" dirty="0"/>
          </a:p>
        </p:txBody>
      </p:sp>
      <p:sp>
        <p:nvSpPr>
          <p:cNvPr id="5" name="Text 2"/>
          <p:cNvSpPr txBox="1"/>
          <p:nvPr/>
        </p:nvSpPr>
        <p:spPr>
          <a:xfrm>
            <a:off x="548640" y="1417320"/>
            <a:ext cx="5318608" cy="4754880"/>
          </a:xfrm>
          <a:prstGeom prst="rect">
            <a:avLst/>
          </a:prstGeom>
          <a:noFill/>
          <a:ln/>
        </p:spPr>
        <p:txBody>
          <a:bodyPr wrap="square" lIns="0" tIns="0" rIns="0" bIns="0" rtlCol="0" anchor="t"/>
          <a:lstStyle/>
          <a:p>
            <a:pPr indent="0" marL="0">
              <a:spcAft>
                <a:spcPts val="500"/>
              </a:spcAft>
              <a:buNone/>
            </a:pPr>
            <a:r>
              <a:rPr lang="en-US" sz="1000" b="1" dirty="0">
                <a:solidFill>
                  <a:schemeClr val="accent5"/>
                </a:solidFill>
              </a:rPr>
              <a:t>[1]  </a:t>
            </a:r>
            <a:pPr indent="0" marL="0">
              <a:spcAft>
                <a:spcPts val="500"/>
              </a:spcAft>
              <a:buNone/>
            </a:pPr>
            <a:r>
              <a:rPr lang="en-US" sz="1000" dirty="0">
                <a:solidFill>
                  <a:schemeClr val="tx1"/>
                </a:solidFill>
              </a:rPr>
              <a:t>J. Seo, S. Han, S. Lee, H. Kim. Computer vision techniques for construction safety and health monitoring. Adv. Eng. Inform. 29(2), 2015. doi:10.1016/j.aei.2015.02.001</a:t>
            </a:r>
            <a:endParaRPr lang="en-US" sz="1000" dirty="0"/>
          </a:p>
          <a:p>
            <a:pPr indent="0" marL="0">
              <a:spcAft>
                <a:spcPts val="500"/>
              </a:spcAft>
              <a:buNone/>
            </a:pPr>
            <a:r>
              <a:rPr lang="en-US" sz="1000" b="1" dirty="0">
                <a:solidFill>
                  <a:schemeClr val="accent5"/>
                </a:solidFill>
              </a:rPr>
              <a:t>[2]  </a:t>
            </a:r>
            <a:pPr indent="0" marL="0">
              <a:spcAft>
                <a:spcPts val="500"/>
              </a:spcAft>
              <a:buNone/>
            </a:pPr>
            <a:r>
              <a:rPr lang="en-US" sz="1000" dirty="0">
                <a:solidFill>
                  <a:schemeClr val="tx1"/>
                </a:solidFill>
              </a:rPr>
              <a:t>W. Fang, P. E. D. Love, H. Luo, L. Ding. Computer vision for behaviour-based safety in construction: a review and future directions. Adv. Eng. Inform. 43, 2020. doi:10.1016/j.aei.2019.100980</a:t>
            </a:r>
            <a:endParaRPr lang="en-US" sz="1000" dirty="0"/>
          </a:p>
          <a:p>
            <a:pPr indent="0" marL="0">
              <a:spcAft>
                <a:spcPts val="500"/>
              </a:spcAft>
              <a:buNone/>
            </a:pPr>
            <a:r>
              <a:rPr lang="en-US" sz="1000" b="1" dirty="0">
                <a:solidFill>
                  <a:schemeClr val="accent5"/>
                </a:solidFill>
              </a:rPr>
              <a:t>[3]  </a:t>
            </a:r>
            <a:pPr indent="0" marL="0">
              <a:spcAft>
                <a:spcPts val="500"/>
              </a:spcAft>
              <a:buNone/>
            </a:pPr>
            <a:r>
              <a:rPr lang="en-US" sz="1000" dirty="0">
                <a:solidFill>
                  <a:schemeClr val="tx1"/>
                </a:solidFill>
              </a:rPr>
              <a:t>M.-W. Park, N. Elsafty, Z. Zhu. Hardhat-wearing detection for enhancing on-site safety of construction workers. J. Constr. Eng. Manage. 141(9), 2015. doi:10.1061/(ASCE)CO.1943-7862.0000974</a:t>
            </a:r>
            <a:endParaRPr lang="en-US" sz="1000" dirty="0"/>
          </a:p>
          <a:p>
            <a:pPr indent="0" marL="0">
              <a:spcAft>
                <a:spcPts val="500"/>
              </a:spcAft>
              <a:buNone/>
            </a:pPr>
            <a:r>
              <a:rPr lang="en-US" sz="1000" b="1" dirty="0">
                <a:solidFill>
                  <a:schemeClr val="accent5"/>
                </a:solidFill>
              </a:rPr>
              <a:t>[4]  </a:t>
            </a:r>
            <a:pPr indent="0" marL="0">
              <a:spcAft>
                <a:spcPts val="500"/>
              </a:spcAft>
              <a:buNone/>
            </a:pPr>
            <a:r>
              <a:rPr lang="en-US" sz="1000" dirty="0">
                <a:solidFill>
                  <a:schemeClr val="tx1"/>
                </a:solidFill>
              </a:rPr>
              <a:t>Q. Fang et al. Detecting non-hardhat-use by a deep learning method from far-field surveillance videos. Autom. Constr. 85, 2018. doi:10.1016/j.autcon.2017.09.018</a:t>
            </a:r>
            <a:endParaRPr lang="en-US" sz="1000" dirty="0"/>
          </a:p>
          <a:p>
            <a:pPr indent="0" marL="0">
              <a:spcAft>
                <a:spcPts val="500"/>
              </a:spcAft>
              <a:buNone/>
            </a:pPr>
            <a:r>
              <a:rPr lang="en-US" sz="1000" b="1" dirty="0">
                <a:solidFill>
                  <a:schemeClr val="accent5"/>
                </a:solidFill>
              </a:rPr>
              <a:t>[5]  </a:t>
            </a:r>
            <a:pPr indent="0" marL="0">
              <a:spcAft>
                <a:spcPts val="500"/>
              </a:spcAft>
              <a:buNone/>
            </a:pPr>
            <a:r>
              <a:rPr lang="en-US" sz="1000" dirty="0">
                <a:solidFill>
                  <a:schemeClr val="tx1"/>
                </a:solidFill>
              </a:rPr>
              <a:t>B. E. Mneymneh, M. Abbas, H. Khoury. Vision-based framework for intelligent monitoring of hardhat wearing on construction sites. J. Comput. Civ. Eng. 33(2), 2019. doi:10.1061/(ASCE)CP.1943-5487.0000813</a:t>
            </a:r>
            <a:endParaRPr lang="en-US" sz="1000" dirty="0"/>
          </a:p>
          <a:p>
            <a:pPr indent="0" marL="0">
              <a:spcAft>
                <a:spcPts val="500"/>
              </a:spcAft>
              <a:buNone/>
            </a:pPr>
            <a:r>
              <a:rPr lang="en-US" sz="1000" b="1" dirty="0">
                <a:solidFill>
                  <a:schemeClr val="accent5"/>
                </a:solidFill>
              </a:rPr>
              <a:t>[6]  </a:t>
            </a:r>
            <a:pPr indent="0" marL="0">
              <a:spcAft>
                <a:spcPts val="500"/>
              </a:spcAft>
              <a:buNone/>
            </a:pPr>
            <a:r>
              <a:rPr lang="en-US" sz="1000" dirty="0">
                <a:solidFill>
                  <a:schemeClr val="tx1"/>
                </a:solidFill>
              </a:rPr>
              <a:t>J. Wu et al. Automatic detection of hardhats worn by construction personnel: a deep learning approach and benchmark dataset. Autom. Constr. 106, 2019. doi:10.1016/j.autcon.2019.102894</a:t>
            </a:r>
            <a:endParaRPr lang="en-US" sz="1000" dirty="0"/>
          </a:p>
          <a:p>
            <a:pPr indent="0" marL="0">
              <a:spcAft>
                <a:spcPts val="500"/>
              </a:spcAft>
              <a:buNone/>
            </a:pPr>
            <a:r>
              <a:rPr lang="en-US" sz="1000" b="1" dirty="0">
                <a:solidFill>
                  <a:schemeClr val="accent5"/>
                </a:solidFill>
              </a:rPr>
              <a:t>[7]  </a:t>
            </a:r>
            <a:pPr indent="0" marL="0">
              <a:spcAft>
                <a:spcPts val="500"/>
              </a:spcAft>
              <a:buNone/>
            </a:pPr>
            <a:r>
              <a:rPr lang="en-US" sz="1000" dirty="0">
                <a:solidFill>
                  <a:schemeClr val="tx1"/>
                </a:solidFill>
              </a:rPr>
              <a:t>N. D. Nath, A. H. Behzadan, S. G. Paal. Deep learning for site safety: real-time detection of personal protective equipment. Autom. Constr. 112, 2020. doi:10.1016/j.autcon.2020.103085</a:t>
            </a:r>
            <a:endParaRPr lang="en-US" sz="1000" dirty="0"/>
          </a:p>
          <a:p>
            <a:pPr indent="0" marL="0">
              <a:spcAft>
                <a:spcPts val="500"/>
              </a:spcAft>
              <a:buNone/>
            </a:pPr>
            <a:r>
              <a:rPr lang="en-US" sz="1000" b="1" dirty="0">
                <a:solidFill>
                  <a:schemeClr val="accent5"/>
                </a:solidFill>
              </a:rPr>
              <a:t>[8]  </a:t>
            </a:r>
            <a:pPr indent="0" marL="0">
              <a:spcAft>
                <a:spcPts val="500"/>
              </a:spcAft>
              <a:buNone/>
            </a:pPr>
            <a:r>
              <a:rPr lang="en-US" sz="1000" dirty="0">
                <a:solidFill>
                  <a:schemeClr val="tx1"/>
                </a:solidFill>
              </a:rPr>
              <a:t>V. S. K. Delhi, R. Sankarlal, A. Thomas. Detection of PPE compliance on construction site using computer vision based deep learning techniques. Front. Built Environ. 6, 2020. doi:10.3389/fbuil.2020.00136</a:t>
            </a:r>
            <a:endParaRPr lang="en-US" sz="1000" dirty="0"/>
          </a:p>
          <a:p>
            <a:pPr indent="0" marL="0">
              <a:spcAft>
                <a:spcPts val="500"/>
              </a:spcAft>
              <a:buNone/>
            </a:pPr>
            <a:r>
              <a:rPr lang="en-US" sz="1000" b="1" dirty="0">
                <a:solidFill>
                  <a:schemeClr val="accent5"/>
                </a:solidFill>
              </a:rPr>
              <a:t>[9]  </a:t>
            </a:r>
            <a:pPr indent="0" marL="0">
              <a:spcAft>
                <a:spcPts val="500"/>
              </a:spcAft>
              <a:buNone/>
            </a:pPr>
            <a:r>
              <a:rPr lang="en-US" sz="1000" dirty="0">
                <a:solidFill>
                  <a:schemeClr val="tx1"/>
                </a:solidFill>
              </a:rPr>
              <a:t>Z. Wang et al. Fast personal protective equipment detection for real construction sites using deep learning approaches. Sensors 21(10), 2021. doi:10.3390/s21103478</a:t>
            </a:r>
            <a:endParaRPr lang="en-US" sz="1000" dirty="0"/>
          </a:p>
          <a:p>
            <a:pPr indent="0" marL="0">
              <a:spcAft>
                <a:spcPts val="500"/>
              </a:spcAft>
              <a:buNone/>
            </a:pPr>
            <a:r>
              <a:rPr lang="en-US" sz="1000" b="1" dirty="0">
                <a:solidFill>
                  <a:schemeClr val="accent5"/>
                </a:solidFill>
              </a:rPr>
              <a:t>[10]  </a:t>
            </a:r>
            <a:pPr indent="0" marL="0">
              <a:spcAft>
                <a:spcPts val="500"/>
              </a:spcAft>
              <a:buNone/>
            </a:pPr>
            <a:r>
              <a:rPr lang="en-US" sz="1000" dirty="0">
                <a:solidFill>
                  <a:schemeClr val="tx1"/>
                </a:solidFill>
              </a:rPr>
              <a:t>M. Ferdous, S. M. M. Ahsan. PPE detector: a YOLO-based architecture to detect personal protective equipment for construction sites. PeerJ Comput. Sci. 8, e999, 2022. doi:10.7717/peerj-cs.999 (base paper)</a:t>
            </a:r>
            <a:endParaRPr lang="en-US" sz="1000" dirty="0"/>
          </a:p>
          <a:p>
            <a:pPr indent="0" marL="0">
              <a:spcAft>
                <a:spcPts val="500"/>
              </a:spcAft>
              <a:buNone/>
            </a:pPr>
            <a:r>
              <a:rPr lang="en-US" sz="1000" b="1" dirty="0">
                <a:solidFill>
                  <a:schemeClr val="accent5"/>
                </a:solidFill>
              </a:rPr>
              <a:t>[11]  </a:t>
            </a:r>
            <a:pPr indent="0" marL="0">
              <a:spcAft>
                <a:spcPts val="500"/>
              </a:spcAft>
              <a:buNone/>
            </a:pPr>
            <a:r>
              <a:rPr lang="en-US" sz="1000" dirty="0">
                <a:solidFill>
                  <a:schemeClr val="tx1"/>
                </a:solidFill>
              </a:rPr>
              <a:t>A. Barlybayev et al. Personal protective equipment detection using YOLOv8 architecture on object detection benchmark datasets: a comparative study. Cogent Eng. 11(1), 2024. doi:10.1080/23311916.2024.2333209</a:t>
            </a:r>
            <a:endParaRPr lang="en-US" sz="1000" dirty="0"/>
          </a:p>
        </p:txBody>
      </p:sp>
      <p:sp>
        <p:nvSpPr>
          <p:cNvPr id="6" name="Text 3"/>
          <p:cNvSpPr txBox="1"/>
          <p:nvPr/>
        </p:nvSpPr>
        <p:spPr>
          <a:xfrm>
            <a:off x="6324448" y="1417320"/>
            <a:ext cx="5318608" cy="4754880"/>
          </a:xfrm>
          <a:prstGeom prst="rect">
            <a:avLst/>
          </a:prstGeom>
          <a:noFill/>
          <a:ln/>
        </p:spPr>
        <p:txBody>
          <a:bodyPr wrap="square" lIns="0" tIns="0" rIns="0" bIns="0" rtlCol="0" anchor="t"/>
          <a:lstStyle/>
          <a:p>
            <a:pPr indent="0" marL="0">
              <a:spcAft>
                <a:spcPts val="500"/>
              </a:spcAft>
              <a:buNone/>
            </a:pPr>
            <a:r>
              <a:rPr lang="en-US" sz="1000" b="1" dirty="0">
                <a:solidFill>
                  <a:schemeClr val="accent5"/>
                </a:solidFill>
              </a:rPr>
              <a:t>[12]  </a:t>
            </a:r>
            <a:pPr indent="0" marL="0">
              <a:spcAft>
                <a:spcPts val="500"/>
              </a:spcAft>
              <a:buNone/>
            </a:pPr>
            <a:r>
              <a:rPr lang="en-US" sz="1000" dirty="0">
                <a:solidFill>
                  <a:schemeClr val="tx1"/>
                </a:solidFill>
              </a:rPr>
              <a:t>Ultralytics. Ultralytics YOLO11, software (trained with v8.4.171). github.com/ultralytics/ultralytics</a:t>
            </a:r>
            <a:endParaRPr lang="en-US" sz="1000" dirty="0"/>
          </a:p>
          <a:p>
            <a:pPr indent="0" marL="0">
              <a:spcAft>
                <a:spcPts val="500"/>
              </a:spcAft>
              <a:buNone/>
            </a:pPr>
            <a:r>
              <a:rPr lang="en-US" sz="1000" b="1" dirty="0">
                <a:solidFill>
                  <a:schemeClr val="accent5"/>
                </a:solidFill>
              </a:rPr>
              <a:t>[13]  </a:t>
            </a:r>
            <a:pPr indent="0" marL="0">
              <a:spcAft>
                <a:spcPts val="500"/>
              </a:spcAft>
              <a:buNone/>
            </a:pPr>
            <a:r>
              <a:rPr lang="en-US" sz="1000" dirty="0">
                <a:solidFill>
                  <a:schemeClr val="tx1"/>
                </a:solidFill>
              </a:rPr>
              <a:t>T.-Y. Lin et al. Microsoft COCO: common objects in context. ECCV 2014. doi:10.1007/978-3-319-10602-1_48</a:t>
            </a:r>
            <a:endParaRPr lang="en-US" sz="1000" dirty="0"/>
          </a:p>
          <a:p>
            <a:pPr indent="0" marL="0">
              <a:spcAft>
                <a:spcPts val="500"/>
              </a:spcAft>
              <a:buNone/>
            </a:pPr>
            <a:r>
              <a:rPr lang="en-US" sz="1000" b="1" dirty="0">
                <a:solidFill>
                  <a:schemeClr val="accent5"/>
                </a:solidFill>
              </a:rPr>
              <a:t>[14]  </a:t>
            </a:r>
            <a:pPr indent="0" marL="0">
              <a:spcAft>
                <a:spcPts val="500"/>
              </a:spcAft>
              <a:buNone/>
            </a:pPr>
            <a:r>
              <a:rPr lang="en-US" sz="1000" dirty="0">
                <a:solidFill>
                  <a:schemeClr val="tx1"/>
                </a:solidFill>
              </a:rPr>
              <a:t>K. He, X. Zhang, S. Ren, J. Sun. Spatial pyramid pooling in deep convolutional networks for visual recognition. IEEE TPAMI 37(9), 2015. doi:10.1109/TPAMI.2015.2389824</a:t>
            </a:r>
            <a:endParaRPr lang="en-US" sz="1000" dirty="0"/>
          </a:p>
          <a:p>
            <a:pPr indent="0" marL="0">
              <a:spcAft>
                <a:spcPts val="500"/>
              </a:spcAft>
              <a:buNone/>
            </a:pPr>
            <a:r>
              <a:rPr lang="en-US" sz="1000" b="1" dirty="0">
                <a:solidFill>
                  <a:schemeClr val="accent5"/>
                </a:solidFill>
              </a:rPr>
              <a:t>[15]  </a:t>
            </a:r>
            <a:pPr indent="0" marL="0">
              <a:spcAft>
                <a:spcPts val="500"/>
              </a:spcAft>
              <a:buNone/>
            </a:pPr>
            <a:r>
              <a:rPr lang="en-US" sz="1000" dirty="0">
                <a:solidFill>
                  <a:schemeClr val="tx1"/>
                </a:solidFill>
              </a:rPr>
              <a:t>T.-Y. Lin et al. Feature pyramid networks for object detection. CVPR 2017. doi:10.1109/CVPR.2017.106</a:t>
            </a:r>
            <a:endParaRPr lang="en-US" sz="1000" dirty="0"/>
          </a:p>
          <a:p>
            <a:pPr indent="0" marL="0">
              <a:spcAft>
                <a:spcPts val="500"/>
              </a:spcAft>
              <a:buNone/>
            </a:pPr>
            <a:r>
              <a:rPr lang="en-US" sz="1000" b="1" dirty="0">
                <a:solidFill>
                  <a:schemeClr val="accent5"/>
                </a:solidFill>
              </a:rPr>
              <a:t>[16]  </a:t>
            </a:r>
            <a:pPr indent="0" marL="0">
              <a:spcAft>
                <a:spcPts val="500"/>
              </a:spcAft>
              <a:buNone/>
            </a:pPr>
            <a:r>
              <a:rPr lang="en-US" sz="1000" dirty="0">
                <a:solidFill>
                  <a:schemeClr val="tx1"/>
                </a:solidFill>
              </a:rPr>
              <a:t>S. Liu, L. Qi, H. Qin, J. Shi, J. Jia. Path aggregation network for instance segmentation. CVPR 2018. doi:10.1109/CVPR.2018.00913</a:t>
            </a:r>
            <a:endParaRPr lang="en-US" sz="1000" dirty="0"/>
          </a:p>
          <a:p>
            <a:pPr indent="0" marL="0">
              <a:spcAft>
                <a:spcPts val="500"/>
              </a:spcAft>
              <a:buNone/>
            </a:pPr>
            <a:r>
              <a:rPr lang="en-US" sz="1000" b="1" dirty="0">
                <a:solidFill>
                  <a:schemeClr val="accent5"/>
                </a:solidFill>
              </a:rPr>
              <a:t>[17]  </a:t>
            </a:r>
            <a:pPr indent="0" marL="0">
              <a:spcAft>
                <a:spcPts val="500"/>
              </a:spcAft>
              <a:buNone/>
            </a:pPr>
            <a:r>
              <a:rPr lang="en-US" sz="1000" dirty="0">
                <a:solidFill>
                  <a:schemeClr val="tx1"/>
                </a:solidFill>
              </a:rPr>
              <a:t>S. Sanyal. Construction Site Safety Image Dataset (Roboflow). Kaggle. kaggle.com/datasets/snehilsanyal/construction-site-safety-image-dataset-roboflow</a:t>
            </a:r>
            <a:endParaRPr lang="en-US" sz="1000" dirty="0"/>
          </a:p>
          <a:p>
            <a:pPr indent="0" marL="0">
              <a:spcAft>
                <a:spcPts val="500"/>
              </a:spcAft>
              <a:buNone/>
            </a:pPr>
            <a:r>
              <a:rPr lang="en-US" sz="1000" b="1" dirty="0">
                <a:solidFill>
                  <a:schemeClr val="accent5"/>
                </a:solidFill>
              </a:rPr>
              <a:t>[18]  </a:t>
            </a:r>
            <a:pPr indent="0" marL="0">
              <a:spcAft>
                <a:spcPts val="500"/>
              </a:spcAft>
              <a:buNone/>
            </a:pPr>
            <a:r>
              <a:rPr lang="en-US" sz="1000" dirty="0">
                <a:solidFill>
                  <a:schemeClr val="tx1"/>
                </a:solidFill>
              </a:rPr>
              <a:t>S. Li et al. PyTorch distributed: experiences on accelerating data parallel training. Proc. VLDB Endow. 13(12), 2020. doi:10.14778/3415478.3415530</a:t>
            </a:r>
            <a:endParaRPr lang="en-US" sz="1000" dirty="0"/>
          </a:p>
          <a:p>
            <a:pPr indent="0" marL="0">
              <a:spcAft>
                <a:spcPts val="500"/>
              </a:spcAft>
              <a:buNone/>
            </a:pPr>
            <a:r>
              <a:rPr lang="en-US" sz="1000" b="1" dirty="0">
                <a:solidFill>
                  <a:schemeClr val="accent5"/>
                </a:solidFill>
              </a:rPr>
              <a:t>[19]  </a:t>
            </a:r>
            <a:pPr indent="0" marL="0">
              <a:spcAft>
                <a:spcPts val="500"/>
              </a:spcAft>
              <a:buNone/>
            </a:pPr>
            <a:r>
              <a:rPr lang="en-US" sz="1000" dirty="0">
                <a:solidFill>
                  <a:schemeClr val="tx1"/>
                </a:solidFill>
              </a:rPr>
              <a:t>M. Everingham et al. The Pascal Visual Object Classes (VOC) challenge. IJCV 88(2), 2010. doi:10.1007/s11263-009-0275-4</a:t>
            </a:r>
            <a:endParaRPr lang="en-US" sz="1000" dirty="0"/>
          </a:p>
          <a:p>
            <a:pPr indent="0" marL="0">
              <a:spcAft>
                <a:spcPts val="500"/>
              </a:spcAft>
              <a:buNone/>
            </a:pPr>
            <a:r>
              <a:rPr lang="en-US" sz="1000" b="1" dirty="0">
                <a:solidFill>
                  <a:schemeClr val="accent5"/>
                </a:solidFill>
              </a:rPr>
              <a:t>[20]  </a:t>
            </a:r>
            <a:pPr indent="0" marL="0">
              <a:spcAft>
                <a:spcPts val="500"/>
              </a:spcAft>
              <a:buNone/>
            </a:pPr>
            <a:r>
              <a:rPr lang="en-US" sz="1000" dirty="0">
                <a:solidFill>
                  <a:schemeClr val="tx1"/>
                </a:solidFill>
              </a:rPr>
              <a:t>Y. Zhao et al. DETRs beat YOLOs on real-time object detection. CVPR 2024. doi:10.1109/CVPR52733.2024.01605</a:t>
            </a:r>
            <a:endParaRPr lang="en-US" sz="1000" dirty="0"/>
          </a:p>
          <a:p>
            <a:pPr indent="0" marL="0">
              <a:spcAft>
                <a:spcPts val="500"/>
              </a:spcAft>
              <a:buNone/>
            </a:pPr>
            <a:r>
              <a:rPr lang="en-US" sz="1000" b="1" dirty="0">
                <a:solidFill>
                  <a:schemeClr val="accent5"/>
                </a:solidFill>
              </a:rPr>
              <a:t>[21]  </a:t>
            </a:r>
            <a:pPr indent="0" marL="0">
              <a:spcAft>
                <a:spcPts val="500"/>
              </a:spcAft>
              <a:buNone/>
            </a:pPr>
            <a:r>
              <a:rPr lang="en-US" sz="1000" dirty="0">
                <a:solidFill>
                  <a:schemeClr val="tx1"/>
                </a:solidFill>
              </a:rPr>
              <a:t>P. Mital, J. Patel. PPE Compliance Monitor: source code, notebook, weights and results. github.com/parthmital/PPE-Compliance-Monitor</a:t>
            </a:r>
            <a:endParaRPr lang="en-US" sz="1000" dirty="0"/>
          </a:p>
        </p:txBody>
      </p:sp>
      <p:sp>
        <p:nvSpPr>
          <p:cNvPr id="25" name="Slide Number Placeholder 0"/>
          <p:cNvSpPr>
            <a:spLocks noGrp="1"/>
          </p:cNvSpPr>
          <p:nvPr>
            <p:ph type="sldNum" sz="quarter" idx="4294967295"/>
          </p:nvPr>
        </p:nvSpPr>
        <p:spPr>
          <a:xfrm>
            <a:off x="11091672" y="640080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11094415" cy="1097280"/>
          </a:xfrm>
          <a:prstGeom prst="rect">
            <a:avLst/>
          </a:prstGeom>
          <a:noFill/>
          <a:ln/>
        </p:spPr>
        <p:txBody>
          <a:bodyPr wrap="square" lIns="0" tIns="0" rIns="0" bIns="0" rtlCol="0" anchor="b"/>
          <a:lstStyle/>
          <a:p>
            <a:pPr algn="l" indent="0" marL="0">
              <a:buNone/>
            </a:pPr>
            <a:r>
              <a:rPr lang="en-US" sz="4400" b="1" dirty="0">
                <a:solidFill>
                  <a:schemeClr val="bg1"/>
                </a:solidFill>
              </a:rPr>
              <a:t>Thank you</a:t>
            </a:r>
            <a:endParaRPr lang="en-US" sz="4400" dirty="0"/>
          </a:p>
        </p:txBody>
      </p:sp>
      <p:sp>
        <p:nvSpPr>
          <p:cNvPr id="3" name="Text 1"/>
          <p:cNvSpPr txBox="1"/>
          <p:nvPr/>
        </p:nvSpPr>
        <p:spPr>
          <a:xfrm>
            <a:off x="548640" y="3246120"/>
            <a:ext cx="11094415" cy="457200"/>
          </a:xfrm>
          <a:prstGeom prst="rect">
            <a:avLst/>
          </a:prstGeom>
          <a:noFill/>
          <a:ln/>
        </p:spPr>
        <p:txBody>
          <a:bodyPr wrap="square" lIns="0" tIns="0" rIns="0" bIns="0" rtlCol="0" anchor="t"/>
          <a:lstStyle/>
          <a:p>
            <a:pPr indent="0" marL="0">
              <a:buNone/>
            </a:pPr>
            <a:r>
              <a:rPr lang="en-US" sz="2200" dirty="0">
                <a:solidFill>
                  <a:schemeClr val="accent1"/>
                </a:solidFill>
              </a:rPr>
              <a:t>Questions and discussion</a:t>
            </a:r>
            <a:endParaRPr lang="en-US" sz="2200" dirty="0"/>
          </a:p>
        </p:txBody>
      </p:sp>
      <p:sp>
        <p:nvSpPr>
          <p:cNvPr id="4" name="rule"/>
          <p:cNvSpPr/>
          <p:nvPr/>
        </p:nvSpPr>
        <p:spPr>
          <a:xfrm>
            <a:off x="548640" y="4114800"/>
            <a:ext cx="5669280" cy="0"/>
          </a:xfrm>
          <a:prstGeom prst="line">
            <a:avLst/>
          </a:prstGeom>
          <a:noFill/>
          <a:ln w="9525">
            <a:solidFill>
              <a:srgbClr val="4A4F57"/>
            </a:solidFill>
            <a:prstDash val="solid"/>
          </a:ln>
        </p:spPr>
      </p:sp>
      <p:sp>
        <p:nvSpPr>
          <p:cNvPr id="5" name="Text 3"/>
          <p:cNvSpPr txBox="1"/>
          <p:nvPr/>
        </p:nvSpPr>
        <p:spPr>
          <a:xfrm>
            <a:off x="548640" y="4297680"/>
            <a:ext cx="11094415" cy="731520"/>
          </a:xfrm>
          <a:prstGeom prst="rect">
            <a:avLst/>
          </a:prstGeom>
          <a:noFill/>
          <a:ln/>
        </p:spPr>
        <p:txBody>
          <a:bodyPr wrap="square" lIns="0" tIns="0" rIns="0" bIns="0" rtlCol="0" anchor="t"/>
          <a:lstStyle/>
          <a:p>
            <a:pPr indent="0" marL="0">
              <a:spcAft>
                <a:spcPts val="400"/>
              </a:spcAft>
              <a:buNone/>
            </a:pPr>
            <a:r>
              <a:rPr lang="en-US" sz="1400" b="1" dirty="0">
                <a:solidFill>
                  <a:schemeClr val="bg1"/>
                </a:solidFill>
              </a:rPr>
              <a:t>github.com/parthmital/PPE-Compliance-Monitor</a:t>
            </a:r>
            <a:endParaRPr lang="en-US" sz="1400" dirty="0"/>
          </a:p>
          <a:p>
            <a:pPr indent="0" marL="0">
              <a:spcAft>
                <a:spcPts val="400"/>
              </a:spcAft>
              <a:buNone/>
            </a:pPr>
            <a:r>
              <a:rPr lang="en-US" sz="1400" dirty="0">
                <a:solidFill>
                  <a:schemeClr val="bg1"/>
                </a:solidFill>
              </a:rPr>
              <a:t>Parth Mital  |  Jainish Patel  |  Guide: Dr. Rajesh Kumar N</a:t>
            </a:r>
            <a:endParaRPr lang="en-US" sz="1400" dirty="0"/>
          </a:p>
        </p:txBody>
      </p:sp>
    </p:spTree>
  </p:cSld>
  <p:clrMapOvr>
    <a:masterClrMapping/>
  </p:clrMapOvr>
</p:sld>
</file>

<file path=ppt/theme/theme1.xml><?xml version="1.0" encoding="utf-8"?>
<a:theme xmlns:a="http://schemas.openxmlformats.org/drawingml/2006/main" name="Site Safety">
  <a:themeElements>
    <a:clrScheme name="Site Safety">
      <a:dk1>
        <a:srgbClr val="1B1D21"/>
      </a:dk1>
      <a:lt1>
        <a:srgbClr val="FFFFFF"/>
      </a:lt1>
      <a:dk2>
        <a:srgbClr val="2B2F36"/>
      </a:dk2>
      <a:lt2>
        <a:srgbClr val="F2F3F5"/>
      </a:lt2>
      <a:accent1>
        <a:srgbClr val="F5B400"/>
      </a:accent1>
      <a:accent2>
        <a:srgbClr val="C93A3A"/>
      </a:accent2>
      <a:accent3>
        <a:srgbClr val="2E8B5E"/>
      </a:accent3>
      <a:accent4>
        <a:srgbClr val="5B6573"/>
      </a:accent4>
      <a:accent5>
        <a:srgbClr val="B86A00"/>
      </a:accent5>
      <a:accent6>
        <a:srgbClr val="2F6F99"/>
      </a:accent6>
      <a:hlink>
        <a:srgbClr val="2F6F99"/>
      </a:hlink>
      <a:folHlink>
        <a:srgbClr val="5B6573"/>
      </a:folHlink>
    </a:clrScheme>
    <a:fontScheme name="Site Safety">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Vellore Institute of Technology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Real-time PPE compliance monitoring on construction sites</dc:title>
  <dc:subject>YOLO11m PPE detection with temporal violation confirmation</dc:subject>
  <dc:creator>Parth Mital, Jainish Patel</dc:creator>
  <cp:lastModifiedBy>Parth Mital, Jainish Patel</cp:lastModifiedBy>
  <cp:revision>1</cp:revision>
  <dcterms:created xsi:type="dcterms:W3CDTF">2026-10-20T15:55:37Z</dcterms:created>
  <dcterms:modified xsi:type="dcterms:W3CDTF">2026-10-20T15:55:37Z</dcterms:modified>
</cp:coreProperties>
</file>