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Funnel Sans" panose="020B0604020202020204" charset="0"/>
      <p:regular r:id="rId13"/>
    </p:embeddedFont>
    <p:embeddedFont>
      <p:font typeface="Funnel Sans Bold" panose="020B0604020202020204" charset="0"/>
      <p:regular r:id="rId14"/>
    </p:embeddedFont>
    <p:embeddedFont>
      <p:font typeface="Mona Sans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423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nehilsanyal/construction-site-safety-image-dataset-roboflow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2264"/>
            <a:ext cx="880048" cy="258465"/>
          </a:xfrm>
          <a:prstGeom prst="roundRect">
            <a:avLst>
              <a:gd name="adj" fmla="val 22115"/>
            </a:avLst>
          </a:prstGeom>
          <a:solidFill>
            <a:srgbClr val="E2E4E9"/>
          </a:solidFill>
          <a:ln/>
        </p:spPr>
      </p:sp>
      <p:sp>
        <p:nvSpPr>
          <p:cNvPr id="3" name="Text 1"/>
          <p:cNvSpPr/>
          <p:nvPr/>
        </p:nvSpPr>
        <p:spPr>
          <a:xfrm>
            <a:off x="763469" y="703263"/>
            <a:ext cx="1285644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REVIEW #1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7194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Real-Time PPE Compliance Monitoring System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1564779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Automated Safety Surveillance for Industrial &amp; Construction Sites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61475" y="210254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2586B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393652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Architecture, Model &amp; Data Pipeline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61475" y="2888952"/>
            <a:ext cx="10868745" cy="1637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350"/>
              </a:spcAft>
              <a:buNone/>
            </a:pPr>
            <a:r>
              <a:rPr lang="en-US" sz="13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Objective</a:t>
            </a: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Develop an automated, real-time computer vision system to monitor Personal Protective Equipment (PPE) compliance, mitigate workplace accidents, and maintain strict industrial safety standards.</a:t>
            </a:r>
            <a:endParaRPr lang="en-US" sz="1300" dirty="0"/>
          </a:p>
          <a:p>
            <a:pPr marL="0" indent="0" algn="l">
              <a:lnSpc>
                <a:spcPct val="127000"/>
              </a:lnSpc>
              <a:spcAft>
                <a:spcPts val="1350"/>
              </a:spcAft>
              <a:buNone/>
            </a:pPr>
            <a:r>
              <a:rPr lang="en-US" sz="13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Core Functionality</a:t>
            </a: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Automatic detection of safety gear violations (hard hats, masks, safety vests) alongside machinery and personnel tracking across live camera feeds and recorded videos.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Review Focus Areas</a:t>
            </a: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4698504"/>
            <a:ext cx="10868745" cy="150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Construction Site Safety Dataset &amp; Class Distribution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YOLOv8 Computer Vision Architecture &amp; Training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End-to-End System &amp; API Architecture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Complete Technology Stack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Expected Analytical Outputs &amp; Incident Logging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6045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Project Overview &amp; Problem Statement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88877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Mitigating Industrial Hazards through Computer Vision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39042" y="1984177"/>
            <a:ext cx="5471777" cy="2284016"/>
          </a:xfrm>
          <a:prstGeom prst="roundRect">
            <a:avLst>
              <a:gd name="adj" fmla="val 5363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9099" y="2137271"/>
            <a:ext cx="5131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Industrial Challenge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09099" y="2556073"/>
            <a:ext cx="5131664" cy="1087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Construction and manufacturing zones face high occupational hazards and safety non-compliance.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Manual safety inspection is labour-intensive, error-prone, inconsistent, and cannot provide continuous 24/7 coverage.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659" y="2137271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Proposed Solution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309659" y="2556073"/>
            <a:ext cx="5226911" cy="165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automated visual inspection pipeline using state-of-the-art object detection.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Instantaneous identification of compliant vs. non-compliant personnel.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Automated generation of violation logs with timestamped visual evidence.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4497784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Monitored Classes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61475" y="4993084"/>
            <a:ext cx="3520788" cy="968871"/>
          </a:xfrm>
          <a:prstGeom prst="roundRect">
            <a:avLst>
              <a:gd name="adj" fmla="val 7374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7881" y="5169495"/>
            <a:ext cx="316797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Compliance Classes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37881" y="5526980"/>
            <a:ext cx="316797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Hardhat, Mask, Safety Vest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35354" y="4993084"/>
            <a:ext cx="3520888" cy="968871"/>
          </a:xfrm>
          <a:prstGeom prst="roundRect">
            <a:avLst>
              <a:gd name="adj" fmla="val 7374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1761" y="5169495"/>
            <a:ext cx="316807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Violation Classes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511761" y="5526980"/>
            <a:ext cx="316807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NO-Hardhat, NO-Mask, NO-Safety Vest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9332" y="4993084"/>
            <a:ext cx="3520888" cy="968871"/>
          </a:xfrm>
          <a:prstGeom prst="roundRect">
            <a:avLst>
              <a:gd name="adj" fmla="val 7374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5739" y="5169495"/>
            <a:ext cx="316807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Contextual &amp; Neutral Classes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185739" y="5526980"/>
            <a:ext cx="316807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Person, Machinery, Vehicle, Safety Cone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819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Dataset Characteristics &amp; Class Distribution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227534"/>
            <a:ext cx="10868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Construction Site Safety Dataset (Kaggle)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61475" y="1934468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Dataset Source &amp; Link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61475" y="2385516"/>
            <a:ext cx="5215303" cy="15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Kaggle URL</a:t>
            </a: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</a:t>
            </a:r>
            <a:r>
              <a:rPr lang="en-US" sz="1400" b="1" u="sng" dirty="0">
                <a:solidFill>
                  <a:srgbClr val="373B48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https://www.kaggle.com/datasets/snehilsanyal/construction-site-safety-image-dataset-roboflow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Origin</a:t>
            </a: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Construction Site Safety Image Dataset (Roboflow Universe via Kaggle)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475" y="4110038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Dataset Scale &amp; Partition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61475" y="4561086"/>
            <a:ext cx="5215303" cy="1638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Total Images: 2,801 annotated images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Total Annotations: 38,352 object bounding boxes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Training Split: 2,240 images (30,684 annotations, ~80%)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Validation Split: 280 images (3,554 annotations, ~10%)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Test Split: 281 images (4,114 annotations, ~10%)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1267" y="1934468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Class Annotation Breakdown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321267" y="2385516"/>
            <a:ext cx="5215303" cy="179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Person: 9,872 instances (primary contextual object)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Machinery &amp; Vehicles: 5,346 machinery and 1,628 vehicle instances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Safety Equipment: 4,158 NO-Safety Vest, 3,502 Safety Cone, 3,334 Hardhat, 3,250 NO-Mask, 3,135 Safety Vest, 2,427 NO-Hardhat, 1,700 Mask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21267" y="4355902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Dataset Relevance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321267" y="4806950"/>
            <a:ext cx="521530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 diversity of angles, lighting conditions, occlusions, and multi-worker density typical of live industrial sites.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80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Augmentation &amp; Preprocessing Pipeline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9427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Robustness Engineering for Dynamic Industrial Environments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525350" y="2373015"/>
            <a:ext cx="3210043" cy="3356967"/>
          </a:xfrm>
          <a:prstGeom prst="roundRect">
            <a:avLst>
              <a:gd name="adj" fmla="val 4240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14357" y="2562027"/>
            <a:ext cx="2832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Input Preprocessing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4357" y="3046313"/>
            <a:ext cx="2832029" cy="1578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Spatial Standardisation: 640 x 640 pixel resolution (BCHW tensor format)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Normalisation: Pixel values scaled to [0.0, 1.0] range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066776" y="2562027"/>
            <a:ext cx="74696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Augmentation Strategy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066776" y="3046313"/>
            <a:ext cx="7469695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Photometric Distortions</a:t>
            </a: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HSV colour jittering (Hue: 0.015, Saturation: 0.7, Value/Brightness: 0.4) for varying daylight conditions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Geometric Transformations</a:t>
            </a: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Rotation (+-5.0 degrees), Translation (+-0.1), Scaling (+-50%), Shear (+-2.0 degrees), Horizontal Flip (p = 0.5)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Advanced Composition</a:t>
            </a: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Mosaic Augmentation (scale 1.0) and Mixup (0.1) to boost detection of small and partially occluded safety gear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Regularisation</a:t>
            </a: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Copy-Paste augmentation (0.1) and disabling Mosaic in the final 10 epochs for fine-grained boundary stabilisation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5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Computer Vision Model Architecture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224756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YOLOv8m (Ultralytics) Single-Stage Object Detector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180349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Model Selection: YOLOv8m (Medium)</a:t>
            </a: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Balances high inference accuracy (mAP) with real-time frame rates (&gt;40 FPS).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18544"/>
            <a:ext cx="5339820" cy="17447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2532955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Backbone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2941638"/>
            <a:ext cx="48094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Modified CSPDarknet53 with C2f (Cross-Stage Partial with 2 Convolutions) modules for rich multi-scale feature extraction.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318544"/>
            <a:ext cx="5339919" cy="17447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06305" y="2532955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Neck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506305" y="2941638"/>
            <a:ext cx="48095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Path Aggregation Network (PANet) and Feature Pyramid Network (FPN) for seamless multi-scale contextual semantic fusion.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252317"/>
            <a:ext cx="5339820" cy="20471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7479" y="4466729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Detection Head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977479" y="4875411"/>
            <a:ext cx="48094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Anchor-free, decoupled head separating classification and bounding box regression branches to accelerate convergence.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4252317"/>
            <a:ext cx="5339919" cy="20471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06305" y="4466729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Loss Functions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506305" y="4875411"/>
            <a:ext cx="480950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Complete IoU (CIoU) and Distribution Focal Loss (DFL) for precise bounding box localisation. Binary Cross-Entropy (BCE) with Label Smoothing (0.1) for class classification.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787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Model Training, Hardware &amp; Performance Metrics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97223"/>
            <a:ext cx="10868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Rigorous Training Pipeline &amp; Quantitative Evaluation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61475" y="2304157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Training Infrastructure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61475" y="2755205"/>
            <a:ext cx="5215303" cy="2139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Hardware: Dual NVIDIA Tesla T4 GPUs (16 GB VRAM each)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Framework: PyTorch 2.10.0, CUDA 13.0, Ultralytics 8.4.30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Optimization: SGD (momentum: 0.937, weight decay: 0.0005) with Cosine Annealing Learning Rate Schedule (Initial LR: 0.01, Final LR: 0.0001)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Training Duration: 100 Epochs (Best model achieved at Epoch 88)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91889" y="2133600"/>
            <a:ext cx="5474059" cy="3756422"/>
          </a:xfrm>
          <a:prstGeom prst="roundRect">
            <a:avLst>
              <a:gd name="adj" fmla="val 3442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371371" y="2304157"/>
            <a:ext cx="51150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Quantitative Results (Test Set Evaluation)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371371" y="2755205"/>
            <a:ext cx="5115095" cy="298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Overall Performance</a:t>
            </a:r>
            <a:r>
              <a:rPr lang="en-US" sz="14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mAP@0.5 = 0.8807 (88.07%), mAP@0.5:0.95 = 0.6425</a:t>
            </a:r>
            <a:endParaRPr lang="en-US" sz="1400" dirty="0"/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Precision &amp; Recall</a:t>
            </a:r>
            <a:r>
              <a:rPr lang="en-US" sz="14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Precision = 92.27%, Recall = 80.92%</a:t>
            </a:r>
            <a:endParaRPr lang="en-US" sz="1400" dirty="0"/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Critical Class Accuracies (AP@0.5)</a:t>
            </a:r>
            <a:r>
              <a:rPr lang="en-US" sz="14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Machinery (96.40%), Mask (95.48%), Person (93.38%), Vehicle (90.57%), NO-Safety Vest (89.17%), NO-Hardhat (87.62%), Safety Vest (85.05%), NO-Mask (82.98%), Hardhat (82.76%)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Inference Speed</a:t>
            </a:r>
            <a:r>
              <a:rPr lang="en-US" sz="14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: 23.5 ms per frame (42 FPS), fully supporting real-time streaming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1831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System Architecture &amp; Workflow Pipeline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238448"/>
            <a:ext cx="108687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Client-Server Decoupled Architecture with Asynchronous Inference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1544042"/>
            <a:ext cx="108687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End-to-End Operational Pipeline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61475" y="1999853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1475" y="2253754"/>
            <a:ext cx="5366112" cy="1905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372122"/>
            <a:ext cx="53661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Input Layer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61475" y="2705001"/>
            <a:ext cx="5366112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 uploads live feed, single image, or batch video stream via modern web client.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64108" y="1999853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64108" y="2253754"/>
            <a:ext cx="5366112" cy="1905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1" name="Text 9"/>
          <p:cNvSpPr/>
          <p:nvPr/>
        </p:nvSpPr>
        <p:spPr>
          <a:xfrm>
            <a:off x="6164108" y="2372122"/>
            <a:ext cx="53661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API Gateway (FastAPI)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164108" y="2705001"/>
            <a:ext cx="5366112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Validates media payloads, enforces size limits, and delegates video tasks to an asynchronous background worker pool.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1475" y="3437434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1475" y="3691334"/>
            <a:ext cx="5366112" cy="1905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3809702"/>
            <a:ext cx="53661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Inference Engine (YOLOv8 Core)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61475" y="4142581"/>
            <a:ext cx="5366112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Executes forward pass, applies Non-Maximum Suppression (NMS), and classifies 10 target classes.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64108" y="3437434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64108" y="3691334"/>
            <a:ext cx="5366112" cy="1905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9" name="Text 17"/>
          <p:cNvSpPr/>
          <p:nvPr/>
        </p:nvSpPr>
        <p:spPr>
          <a:xfrm>
            <a:off x="6164108" y="3809702"/>
            <a:ext cx="53661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Temporal Smoothing Filter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164108" y="4142581"/>
            <a:ext cx="5366112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5-frame temporal buffer prevents transient false alarms caused by temporary occlusions.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1475" y="4875014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05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1475" y="5128915"/>
            <a:ext cx="5366112" cy="1905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5247283"/>
            <a:ext cx="53661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Persistence &amp; Analytics Store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61475" y="5580162"/>
            <a:ext cx="5366112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Writes incident frames, bounding box coordinates, and session analytics to local JSON datastore.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64108" y="4875014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06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64108" y="5128915"/>
            <a:ext cx="5366112" cy="1905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27" name="Text 25"/>
          <p:cNvSpPr/>
          <p:nvPr/>
        </p:nvSpPr>
        <p:spPr>
          <a:xfrm>
            <a:off x="6164108" y="5247283"/>
            <a:ext cx="53661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Presentation Layer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164108" y="5580162"/>
            <a:ext cx="5366112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Delivers real-time annotated visual overlays, live safety metrics, and alert triggers.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9264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Tools &amp; Technologies Stack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08609"/>
            <a:ext cx="10868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End-to-End Modern Software &amp; ML Stack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61475" y="1944985"/>
            <a:ext cx="3509180" cy="4133652"/>
          </a:xfrm>
          <a:prstGeom prst="roundRect">
            <a:avLst>
              <a:gd name="adj" fmla="val 2149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307" y="2130822"/>
            <a:ext cx="31375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Machine Learning &amp; Vision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47307" y="2513608"/>
            <a:ext cx="3137516" cy="191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YOLOv8 (Ultralytics)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PyTorch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ONNX Runtime (Opset 17 export for edge acceleration)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OpenCV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NumPy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1208" y="1944985"/>
            <a:ext cx="3509180" cy="4133652"/>
          </a:xfrm>
          <a:prstGeom prst="roundRect">
            <a:avLst>
              <a:gd name="adj" fmla="val 2149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7040" y="2130822"/>
            <a:ext cx="31375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Backend &amp; Service Layer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527040" y="2513608"/>
            <a:ext cx="3137516" cy="2979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FastAPI (Python 3.10+ high-performance asynchronous REST API)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Uvicorn (ASGI server implementation)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Pydantic (data validation and settings management)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BackgroundTasks (non-blocking asynchronous video decoding and processing)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20941" y="1944985"/>
            <a:ext cx="3509180" cy="4133652"/>
          </a:xfrm>
          <a:prstGeom prst="roundRect">
            <a:avLst>
              <a:gd name="adj" fmla="val 2149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6773" y="2130822"/>
            <a:ext cx="31375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Frontend &amp; User Interface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206773" y="2513608"/>
            <a:ext cx="3137516" cy="3379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React 18 with TypeScript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Vite 5 (high-speed build tool and development server)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Tailwind CSS 3.4 (utility-first responsive styling)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Radix UI &amp; shadcn/ui (accessible UI component primitives)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Framer Motion (interactive micro-animations and dashboard transitions)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Lucide React (vector iconography)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828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Expected Outputs &amp; Application Deliverables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227634"/>
            <a:ext cx="10868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Comprehensive Safety Monitoring &amp; Incident Analytics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64010"/>
            <a:ext cx="5349047" cy="21625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6356" y="2498626"/>
            <a:ext cx="49392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Visual Detections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6356" y="2881412"/>
            <a:ext cx="4939283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bounding box annotations with distinct colour-coding (Green for Compliance, Red for Violations, Cyan for Site Context).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1074" y="1764010"/>
            <a:ext cx="5349146" cy="21625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85956" y="2498626"/>
            <a:ext cx="4939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Interactive Safety Dashboard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385956" y="2881412"/>
            <a:ext cx="4939383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Site Safety Compliance Score (percentage of compliant vs total workers). Detection Metrics: Live mAP indicator, active alert frequency, and processed frame rates.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97139"/>
            <a:ext cx="5349047" cy="21625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6356" y="4831755"/>
            <a:ext cx="49392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Automated Incident Logging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866356" y="5214541"/>
            <a:ext cx="4939283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Immediate snapshot capture of violation events. Timestamped tabular log with worker identifier, violation category, and confidence score.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1074" y="4097139"/>
            <a:ext cx="5349146" cy="21625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85956" y="4831755"/>
            <a:ext cx="4939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Operational Control &amp; Customisation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6385956" y="5214541"/>
            <a:ext cx="4939383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Dynamic confidence threshold (0.1 to 0.95) and NMS IoU adjustment from the UI. Model weight hot-reloading capability for rapid updates without server restarts.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80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Summary, Progress Status &amp; Future Roadmap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9427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Review #1 Milestones &amp; Next Phase Execution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525350" y="2373015"/>
            <a:ext cx="5476043" cy="3356967"/>
          </a:xfrm>
          <a:prstGeom prst="roundRect">
            <a:avLst>
              <a:gd name="adj" fmla="val 4054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14357" y="2562027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Milestones Completed (Review #1)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4357" y="3046313"/>
            <a:ext cx="5098029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Curation and preprocessing of 2,801 construction safety images across 10 classes.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Full training and evaluation of YOLOv8m model achieving 88.07% mAP@0.5.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Implementation of FastAPI asynchronous backend and React TypeScript UI dashboard.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End-to-end integration of single image and multi-frame video inference pipelines.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56202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Next Steps (Review #2 &amp; Beyond)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3046313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Integration of real-time RTSP camera streaming protocols.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Multi-camera zone management and automated alert notifications (SMS/Email/WebSockets).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Model quantisation (INT8 / TensorRT) for deployment on edge devices like NVIDIA Jetson.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73B4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1331</Words>
  <Application>Microsoft Office PowerPoint</Application>
  <PresentationFormat>Widescreen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Funnel Sans Bold</vt:lpstr>
      <vt:lpstr>Mona Sans Light</vt:lpstr>
      <vt:lpstr>Arial</vt:lpstr>
      <vt:lpstr>Funnel Sans</vt:lpstr>
      <vt:lpstr>Mona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Parth</cp:lastModifiedBy>
  <cp:revision>2</cp:revision>
  <dcterms:created xsi:type="dcterms:W3CDTF">2026-09-15T17:13:07Z</dcterms:created>
  <dcterms:modified xsi:type="dcterms:W3CDTF">2026-09-15T17:17:48Z</dcterms:modified>
</cp:coreProperties>
</file>